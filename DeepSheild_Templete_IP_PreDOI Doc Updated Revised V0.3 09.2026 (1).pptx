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0" r:id="rId1"/>
    <p:sldMasterId id="2147483845" r:id="rId2"/>
  </p:sldMasterIdLst>
  <p:notesMasterIdLst>
    <p:notesMasterId r:id="rId25"/>
  </p:notesMasterIdLst>
  <p:handoutMasterIdLst>
    <p:handoutMasterId r:id="rId26"/>
  </p:handoutMasterIdLst>
  <p:sldIdLst>
    <p:sldId id="329" r:id="rId3"/>
    <p:sldId id="408" r:id="rId4"/>
    <p:sldId id="395" r:id="rId5"/>
    <p:sldId id="349" r:id="rId6"/>
    <p:sldId id="399" r:id="rId7"/>
    <p:sldId id="400" r:id="rId8"/>
    <p:sldId id="401" r:id="rId9"/>
    <p:sldId id="384" r:id="rId10"/>
    <p:sldId id="404" r:id="rId11"/>
    <p:sldId id="402" r:id="rId12"/>
    <p:sldId id="378" r:id="rId13"/>
    <p:sldId id="405" r:id="rId14"/>
    <p:sldId id="390" r:id="rId15"/>
    <p:sldId id="403" r:id="rId16"/>
    <p:sldId id="406" r:id="rId17"/>
    <p:sldId id="382" r:id="rId18"/>
    <p:sldId id="397" r:id="rId19"/>
    <p:sldId id="412" r:id="rId20"/>
    <p:sldId id="411" r:id="rId21"/>
    <p:sldId id="410" r:id="rId22"/>
    <p:sldId id="398" r:id="rId23"/>
    <p:sldId id="407" r:id="rId24"/>
  </p:sldIdLst>
  <p:sldSz cx="12192000" cy="6858000"/>
  <p:notesSz cx="6797675" cy="9926638"/>
  <p:defaultTextStyle>
    <a:defPPr>
      <a:defRPr lang="ko-KR"/>
    </a:defPPr>
    <a:lvl1pPr algn="ctr" rtl="0" fontAlgn="base" latinLnBrk="1">
      <a:spcBef>
        <a:spcPct val="0"/>
      </a:spcBef>
      <a:spcAft>
        <a:spcPct val="0"/>
      </a:spcAft>
      <a:defRPr kumimoji="1" kern="1200">
        <a:solidFill>
          <a:schemeClr val="tx1"/>
        </a:solidFill>
        <a:latin typeface="굴림" charset="-127"/>
        <a:ea typeface="굴림" charset="-127"/>
        <a:cs typeface="+mn-cs"/>
      </a:defRPr>
    </a:lvl1pPr>
    <a:lvl2pPr marL="457200" algn="ctr" rtl="0" fontAlgn="base" latinLnBrk="1">
      <a:spcBef>
        <a:spcPct val="0"/>
      </a:spcBef>
      <a:spcAft>
        <a:spcPct val="0"/>
      </a:spcAft>
      <a:defRPr kumimoji="1" kern="1200">
        <a:solidFill>
          <a:schemeClr val="tx1"/>
        </a:solidFill>
        <a:latin typeface="굴림" charset="-127"/>
        <a:ea typeface="굴림" charset="-127"/>
        <a:cs typeface="+mn-cs"/>
      </a:defRPr>
    </a:lvl2pPr>
    <a:lvl3pPr marL="914400" algn="ctr" rtl="0" fontAlgn="base" latinLnBrk="1">
      <a:spcBef>
        <a:spcPct val="0"/>
      </a:spcBef>
      <a:spcAft>
        <a:spcPct val="0"/>
      </a:spcAft>
      <a:defRPr kumimoji="1" kern="1200">
        <a:solidFill>
          <a:schemeClr val="tx1"/>
        </a:solidFill>
        <a:latin typeface="굴림" charset="-127"/>
        <a:ea typeface="굴림" charset="-127"/>
        <a:cs typeface="+mn-cs"/>
      </a:defRPr>
    </a:lvl3pPr>
    <a:lvl4pPr marL="1371600" algn="ctr" rtl="0" fontAlgn="base" latinLnBrk="1">
      <a:spcBef>
        <a:spcPct val="0"/>
      </a:spcBef>
      <a:spcAft>
        <a:spcPct val="0"/>
      </a:spcAft>
      <a:defRPr kumimoji="1" kern="1200">
        <a:solidFill>
          <a:schemeClr val="tx1"/>
        </a:solidFill>
        <a:latin typeface="굴림" charset="-127"/>
        <a:ea typeface="굴림" charset="-127"/>
        <a:cs typeface="+mn-cs"/>
      </a:defRPr>
    </a:lvl4pPr>
    <a:lvl5pPr marL="1828800" algn="ctr"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p:defaultTextStyle>
  <p:extLst>
    <p:ext uri="{EFAFB233-063F-42B5-8137-9DF3F51BA10A}">
      <p15:sldGuideLst xmlns:p15="http://schemas.microsoft.com/office/powerpoint/2012/main">
        <p15:guide id="1" orient="horz" pos="431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F3F"/>
    <a:srgbClr val="FF9900"/>
    <a:srgbClr val="FF9933"/>
    <a:srgbClr val="E66CDD"/>
    <a:srgbClr val="B2B2B2"/>
    <a:srgbClr val="0066FF"/>
    <a:srgbClr val="FF5050"/>
    <a:srgbClr val="000099"/>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84652" autoAdjust="0"/>
  </p:normalViewPr>
  <p:slideViewPr>
    <p:cSldViewPr showGuides="1">
      <p:cViewPr varScale="1">
        <p:scale>
          <a:sx n="48" d="100"/>
          <a:sy n="48" d="100"/>
        </p:scale>
        <p:origin x="53" y="523"/>
      </p:cViewPr>
      <p:guideLst>
        <p:guide orient="horz" pos="4319"/>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bwMode="auto">
          <a:xfrm>
            <a:off x="0" y="0"/>
            <a:ext cx="2938463" cy="525463"/>
          </a:xfrm>
          <a:prstGeom prst="rect">
            <a:avLst/>
          </a:prstGeom>
          <a:noFill/>
          <a:ln w="9525">
            <a:noFill/>
            <a:miter lim="800000"/>
            <a:headEnd/>
            <a:tailEnd/>
          </a:ln>
          <a:effectLst/>
        </p:spPr>
        <p:txBody>
          <a:bodyPr vert="horz" wrap="square" lIns="90275" tIns="45137" rIns="90275" bIns="45137" numCol="1" anchor="t" anchorCtr="0" compatLnSpc="1">
            <a:prstTxWarp prst="textNoShape">
              <a:avLst/>
            </a:prstTxWarp>
          </a:bodyPr>
          <a:lstStyle>
            <a:lvl1pPr algn="l" defTabSz="902421">
              <a:defRPr sz="1200">
                <a:latin typeface="굴림" pitchFamily="50" charset="-127"/>
                <a:ea typeface="굴림" pitchFamily="50" charset="-127"/>
              </a:defRPr>
            </a:lvl1pPr>
          </a:lstStyle>
          <a:p>
            <a:pPr>
              <a:defRPr/>
            </a:pPr>
            <a:endParaRPr lang="en-US" altLang="ko-KR"/>
          </a:p>
        </p:txBody>
      </p:sp>
      <p:sp>
        <p:nvSpPr>
          <p:cNvPr id="114691" name="Rectangle 3"/>
          <p:cNvSpPr>
            <a:spLocks noGrp="1" noChangeArrowheads="1"/>
          </p:cNvSpPr>
          <p:nvPr>
            <p:ph type="dt" sz="quarter" idx="1"/>
          </p:nvPr>
        </p:nvSpPr>
        <p:spPr bwMode="auto">
          <a:xfrm>
            <a:off x="3843338" y="0"/>
            <a:ext cx="2938462" cy="525463"/>
          </a:xfrm>
          <a:prstGeom prst="rect">
            <a:avLst/>
          </a:prstGeom>
          <a:noFill/>
          <a:ln w="9525">
            <a:noFill/>
            <a:miter lim="800000"/>
            <a:headEnd/>
            <a:tailEnd/>
          </a:ln>
          <a:effectLst/>
        </p:spPr>
        <p:txBody>
          <a:bodyPr vert="horz" wrap="square" lIns="90275" tIns="45137" rIns="90275" bIns="45137" numCol="1" anchor="t" anchorCtr="0" compatLnSpc="1">
            <a:prstTxWarp prst="textNoShape">
              <a:avLst/>
            </a:prstTxWarp>
          </a:bodyPr>
          <a:lstStyle>
            <a:lvl1pPr algn="r" defTabSz="902421">
              <a:defRPr sz="1200">
                <a:latin typeface="굴림" pitchFamily="50" charset="-127"/>
                <a:ea typeface="굴림" pitchFamily="50" charset="-127"/>
              </a:defRPr>
            </a:lvl1pPr>
          </a:lstStyle>
          <a:p>
            <a:pPr>
              <a:defRPr/>
            </a:pPr>
            <a:endParaRPr lang="en-US" altLang="ko-KR"/>
          </a:p>
        </p:txBody>
      </p:sp>
      <p:sp>
        <p:nvSpPr>
          <p:cNvPr id="114692" name="Rectangle 4"/>
          <p:cNvSpPr>
            <a:spLocks noGrp="1" noChangeArrowheads="1"/>
          </p:cNvSpPr>
          <p:nvPr>
            <p:ph type="ftr" sz="quarter" idx="2"/>
          </p:nvPr>
        </p:nvSpPr>
        <p:spPr bwMode="auto">
          <a:xfrm>
            <a:off x="0" y="9396413"/>
            <a:ext cx="2938463" cy="525462"/>
          </a:xfrm>
          <a:prstGeom prst="rect">
            <a:avLst/>
          </a:prstGeom>
          <a:noFill/>
          <a:ln w="9525">
            <a:noFill/>
            <a:miter lim="800000"/>
            <a:headEnd/>
            <a:tailEnd/>
          </a:ln>
          <a:effectLst/>
        </p:spPr>
        <p:txBody>
          <a:bodyPr vert="horz" wrap="square" lIns="90275" tIns="45137" rIns="90275" bIns="45137" numCol="1" anchor="b" anchorCtr="0" compatLnSpc="1">
            <a:prstTxWarp prst="textNoShape">
              <a:avLst/>
            </a:prstTxWarp>
          </a:bodyPr>
          <a:lstStyle>
            <a:lvl1pPr algn="l" defTabSz="902421">
              <a:defRPr sz="1200">
                <a:latin typeface="굴림" pitchFamily="50" charset="-127"/>
                <a:ea typeface="굴림" pitchFamily="50" charset="-127"/>
              </a:defRPr>
            </a:lvl1pPr>
          </a:lstStyle>
          <a:p>
            <a:pPr>
              <a:defRPr/>
            </a:pPr>
            <a:endParaRPr lang="en-US" altLang="ko-KR"/>
          </a:p>
        </p:txBody>
      </p:sp>
      <p:sp>
        <p:nvSpPr>
          <p:cNvPr id="114693" name="Rectangle 5"/>
          <p:cNvSpPr>
            <a:spLocks noGrp="1" noChangeArrowheads="1"/>
          </p:cNvSpPr>
          <p:nvPr>
            <p:ph type="sldNum" sz="quarter" idx="3"/>
          </p:nvPr>
        </p:nvSpPr>
        <p:spPr bwMode="auto">
          <a:xfrm>
            <a:off x="3843338" y="9396413"/>
            <a:ext cx="2938462" cy="525462"/>
          </a:xfrm>
          <a:prstGeom prst="rect">
            <a:avLst/>
          </a:prstGeom>
          <a:noFill/>
          <a:ln w="9525">
            <a:noFill/>
            <a:miter lim="800000"/>
            <a:headEnd/>
            <a:tailEnd/>
          </a:ln>
          <a:effectLst/>
        </p:spPr>
        <p:txBody>
          <a:bodyPr vert="horz" wrap="square" lIns="90275" tIns="45137" rIns="90275" bIns="45137" numCol="1" anchor="b" anchorCtr="0" compatLnSpc="1">
            <a:prstTxWarp prst="textNoShape">
              <a:avLst/>
            </a:prstTxWarp>
          </a:bodyPr>
          <a:lstStyle>
            <a:lvl1pPr algn="r" defTabSz="902421">
              <a:defRPr sz="1200">
                <a:latin typeface="굴림" pitchFamily="50" charset="-127"/>
                <a:ea typeface="굴림" pitchFamily="50" charset="-127"/>
              </a:defRPr>
            </a:lvl1pPr>
          </a:lstStyle>
          <a:p>
            <a:pPr>
              <a:defRPr/>
            </a:pPr>
            <a:fld id="{F2D5D30C-F21F-4E25-8EF8-902B1B2EAB83}" type="slidenum">
              <a:rPr lang="en-US" altLang="ko-KR"/>
              <a:pPr>
                <a:defRPr/>
              </a:pPr>
              <a:t>‹#›</a:t>
            </a:fld>
            <a:endParaRPr lang="en-US" altLang="ko-KR"/>
          </a:p>
        </p:txBody>
      </p:sp>
    </p:spTree>
    <p:extLst>
      <p:ext uri="{BB962C8B-B14F-4D97-AF65-F5344CB8AC3E}">
        <p14:creationId xmlns:p14="http://schemas.microsoft.com/office/powerpoint/2010/main" val="126102557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lvl1pPr algn="l" defTabSz="954851">
              <a:defRPr sz="1300">
                <a:latin typeface="굴림" pitchFamily="50" charset="-127"/>
                <a:ea typeface="굴림" pitchFamily="50" charset="-127"/>
              </a:defRPr>
            </a:lvl1pPr>
          </a:lstStyle>
          <a:p>
            <a:pPr>
              <a:defRPr/>
            </a:pPr>
            <a:endParaRPr lang="en-US" altLang="ko-KR"/>
          </a:p>
        </p:txBody>
      </p:sp>
      <p:sp>
        <p:nvSpPr>
          <p:cNvPr id="13315" name="Rectangle 3"/>
          <p:cNvSpPr>
            <a:spLocks noGrp="1" noChangeArrowheads="1"/>
          </p:cNvSpPr>
          <p:nvPr>
            <p:ph type="dt" idx="1"/>
          </p:nvPr>
        </p:nvSpPr>
        <p:spPr bwMode="auto">
          <a:xfrm>
            <a:off x="3851275" y="0"/>
            <a:ext cx="2944813" cy="496888"/>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lvl1pPr algn="r" defTabSz="954851">
              <a:defRPr sz="1300">
                <a:latin typeface="굴림" pitchFamily="50" charset="-127"/>
                <a:ea typeface="굴림" pitchFamily="50" charset="-127"/>
              </a:defRPr>
            </a:lvl1pPr>
          </a:lstStyle>
          <a:p>
            <a:pPr>
              <a:defRPr/>
            </a:pPr>
            <a:endParaRPr lang="en-US" altLang="ko-KR"/>
          </a:p>
        </p:txBody>
      </p:sp>
      <p:sp>
        <p:nvSpPr>
          <p:cNvPr id="16388" name="Rectangle 4"/>
          <p:cNvSpPr>
            <a:spLocks noGrp="1" noRot="1" noChangeAspect="1" noChangeArrowheads="1" noTextEdit="1"/>
          </p:cNvSpPr>
          <p:nvPr>
            <p:ph type="sldImg" idx="2"/>
          </p:nvPr>
        </p:nvSpPr>
        <p:spPr bwMode="auto">
          <a:xfrm>
            <a:off x="88900" y="744538"/>
            <a:ext cx="6618288" cy="3724275"/>
          </a:xfrm>
          <a:prstGeom prst="rect">
            <a:avLst/>
          </a:prstGeom>
          <a:noFill/>
          <a:ln w="9525">
            <a:solidFill>
              <a:srgbClr val="000000"/>
            </a:solidFill>
            <a:miter lim="800000"/>
            <a:headEnd/>
            <a:tailEnd/>
          </a:ln>
        </p:spPr>
      </p:sp>
      <p:sp>
        <p:nvSpPr>
          <p:cNvPr id="13317" name="Rectangle 5"/>
          <p:cNvSpPr>
            <a:spLocks noGrp="1" noChangeArrowheads="1"/>
          </p:cNvSpPr>
          <p:nvPr>
            <p:ph type="body" sz="quarter" idx="3"/>
          </p:nvPr>
        </p:nvSpPr>
        <p:spPr bwMode="auto">
          <a:xfrm>
            <a:off x="681038" y="4716463"/>
            <a:ext cx="5435600" cy="4465637"/>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13318" name="Rectangle 6"/>
          <p:cNvSpPr>
            <a:spLocks noGrp="1" noChangeArrowheads="1"/>
          </p:cNvSpPr>
          <p:nvPr>
            <p:ph type="ftr" sz="quarter" idx="4"/>
          </p:nvPr>
        </p:nvSpPr>
        <p:spPr bwMode="auto">
          <a:xfrm>
            <a:off x="0" y="9428163"/>
            <a:ext cx="2944813" cy="496887"/>
          </a:xfrm>
          <a:prstGeom prst="rect">
            <a:avLst/>
          </a:prstGeom>
          <a:noFill/>
          <a:ln w="9525">
            <a:noFill/>
            <a:miter lim="800000"/>
            <a:headEnd/>
            <a:tailEnd/>
          </a:ln>
          <a:effectLst/>
        </p:spPr>
        <p:txBody>
          <a:bodyPr vert="horz" wrap="square" lIns="95547" tIns="47773" rIns="95547" bIns="47773" numCol="1" anchor="b" anchorCtr="0" compatLnSpc="1">
            <a:prstTxWarp prst="textNoShape">
              <a:avLst/>
            </a:prstTxWarp>
          </a:bodyPr>
          <a:lstStyle>
            <a:lvl1pPr algn="l" defTabSz="954851">
              <a:defRPr sz="1300">
                <a:latin typeface="굴림" pitchFamily="50" charset="-127"/>
                <a:ea typeface="굴림" pitchFamily="50" charset="-127"/>
              </a:defRPr>
            </a:lvl1pPr>
          </a:lstStyle>
          <a:p>
            <a:pPr>
              <a:defRPr/>
            </a:pPr>
            <a:endParaRPr lang="en-US" altLang="ko-KR"/>
          </a:p>
        </p:txBody>
      </p:sp>
      <p:sp>
        <p:nvSpPr>
          <p:cNvPr id="13319" name="Rectangle 7"/>
          <p:cNvSpPr>
            <a:spLocks noGrp="1" noChangeArrowheads="1"/>
          </p:cNvSpPr>
          <p:nvPr>
            <p:ph type="sldNum" sz="quarter" idx="5"/>
          </p:nvPr>
        </p:nvSpPr>
        <p:spPr bwMode="auto">
          <a:xfrm>
            <a:off x="3851275" y="9428163"/>
            <a:ext cx="2944813" cy="496887"/>
          </a:xfrm>
          <a:prstGeom prst="rect">
            <a:avLst/>
          </a:prstGeom>
          <a:noFill/>
          <a:ln w="9525">
            <a:noFill/>
            <a:miter lim="800000"/>
            <a:headEnd/>
            <a:tailEnd/>
          </a:ln>
          <a:effectLst/>
        </p:spPr>
        <p:txBody>
          <a:bodyPr vert="horz" wrap="square" lIns="95547" tIns="47773" rIns="95547" bIns="47773" numCol="1" anchor="b" anchorCtr="0" compatLnSpc="1">
            <a:prstTxWarp prst="textNoShape">
              <a:avLst/>
            </a:prstTxWarp>
          </a:bodyPr>
          <a:lstStyle>
            <a:lvl1pPr algn="r" defTabSz="954851">
              <a:defRPr sz="1300">
                <a:latin typeface="굴림" pitchFamily="50" charset="-127"/>
                <a:ea typeface="굴림" pitchFamily="50" charset="-127"/>
              </a:defRPr>
            </a:lvl1pPr>
          </a:lstStyle>
          <a:p>
            <a:pPr>
              <a:defRPr/>
            </a:pPr>
            <a:fld id="{31BFA778-A78B-435E-B76D-A41405564B0B}" type="slidenum">
              <a:rPr lang="en-US" altLang="ko-KR"/>
              <a:pPr>
                <a:defRPr/>
              </a:pPr>
              <a:t>‹#›</a:t>
            </a:fld>
            <a:endParaRPr lang="en-US" altLang="ko-KR"/>
          </a:p>
        </p:txBody>
      </p:sp>
    </p:spTree>
    <p:extLst>
      <p:ext uri="{BB962C8B-B14F-4D97-AF65-F5344CB8AC3E}">
        <p14:creationId xmlns:p14="http://schemas.microsoft.com/office/powerpoint/2010/main" val="4169779091"/>
      </p:ext>
    </p:extLst>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xfrm>
            <a:off x="88900" y="744538"/>
            <a:ext cx="6618288" cy="3724275"/>
          </a:xfrm>
          <a:ln/>
        </p:spPr>
      </p:sp>
      <p:sp>
        <p:nvSpPr>
          <p:cNvPr id="17412" name="Rectangle 3"/>
          <p:cNvSpPr>
            <a:spLocks noGrp="1" noChangeArrowheads="1"/>
          </p:cNvSpPr>
          <p:nvPr>
            <p:ph type="body" idx="1"/>
          </p:nvPr>
        </p:nvSpPr>
        <p:spPr>
          <a:noFill/>
          <a:ln/>
        </p:spPr>
        <p:txBody>
          <a:bodyPr/>
          <a:lstStyle/>
          <a:p>
            <a:pPr eaLnBrk="1" hangingPunct="1"/>
            <a:endParaRPr lang="ko-KR" altLang="ko-KR" dirty="0">
              <a:latin typeface="굴림" charset="-127"/>
              <a:ea typeface="굴림"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xfrm>
            <a:off x="88900" y="744538"/>
            <a:ext cx="6618288" cy="3724275"/>
          </a:xfrm>
          <a:ln/>
        </p:spPr>
      </p:sp>
      <p:sp>
        <p:nvSpPr>
          <p:cNvPr id="17412" name="Rectangle 3"/>
          <p:cNvSpPr>
            <a:spLocks noGrp="1" noChangeArrowheads="1"/>
          </p:cNvSpPr>
          <p:nvPr>
            <p:ph type="body" idx="1"/>
          </p:nvPr>
        </p:nvSpPr>
        <p:spPr>
          <a:noFill/>
          <a:ln/>
        </p:spPr>
        <p:txBody>
          <a:bodyPr/>
          <a:lstStyle/>
          <a:p>
            <a:pPr eaLnBrk="1" hangingPunct="1"/>
            <a:endParaRPr lang="ko-KR" altLang="ko-KR" dirty="0">
              <a:latin typeface="굴림" charset="-127"/>
              <a:ea typeface="굴림" charset="-127"/>
            </a:endParaRPr>
          </a:p>
        </p:txBody>
      </p:sp>
    </p:spTree>
    <p:extLst>
      <p:ext uri="{BB962C8B-B14F-4D97-AF65-F5344CB8AC3E}">
        <p14:creationId xmlns:p14="http://schemas.microsoft.com/office/powerpoint/2010/main" val="2241307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xfrm>
            <a:off x="88900" y="744538"/>
            <a:ext cx="6618288" cy="3724275"/>
          </a:xfrm>
          <a:ln/>
        </p:spPr>
      </p:sp>
      <p:sp>
        <p:nvSpPr>
          <p:cNvPr id="17412" name="Rectangle 3"/>
          <p:cNvSpPr>
            <a:spLocks noGrp="1" noChangeArrowheads="1"/>
          </p:cNvSpPr>
          <p:nvPr>
            <p:ph type="body" idx="1"/>
          </p:nvPr>
        </p:nvSpPr>
        <p:spPr>
          <a:noFill/>
          <a:ln/>
        </p:spPr>
        <p:txBody>
          <a:bodyPr/>
          <a:lstStyle/>
          <a:p>
            <a:pPr eaLnBrk="1" hangingPunct="1"/>
            <a:endParaRPr lang="ko-KR" altLang="ko-KR" dirty="0">
              <a:latin typeface="굴림" charset="-127"/>
              <a:ea typeface="굴림" charset="-127"/>
            </a:endParaRPr>
          </a:p>
        </p:txBody>
      </p:sp>
    </p:spTree>
    <p:extLst>
      <p:ext uri="{BB962C8B-B14F-4D97-AF65-F5344CB8AC3E}">
        <p14:creationId xmlns:p14="http://schemas.microsoft.com/office/powerpoint/2010/main" val="2236069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p:cNvSpPr>
            <a:spLocks noGrp="1" noRot="1" noChangeAspect="1" noTextEdit="1"/>
          </p:cNvSpPr>
          <p:nvPr>
            <p:ph type="sldImg"/>
          </p:nvPr>
        </p:nvSpPr>
        <p:spPr>
          <a:xfrm>
            <a:off x="88900" y="744538"/>
            <a:ext cx="6618288" cy="3724275"/>
          </a:xfrm>
          <a:ln/>
        </p:spPr>
      </p:sp>
      <p:sp>
        <p:nvSpPr>
          <p:cNvPr id="18435"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p:cNvSpPr>
            <a:spLocks noGrp="1" noRot="1" noChangeAspect="1" noTextEdit="1"/>
          </p:cNvSpPr>
          <p:nvPr>
            <p:ph type="sldImg"/>
          </p:nvPr>
        </p:nvSpPr>
        <p:spPr>
          <a:xfrm>
            <a:off x="88900" y="744538"/>
            <a:ext cx="6618288" cy="3724275"/>
          </a:xfrm>
          <a:ln/>
        </p:spPr>
      </p:sp>
      <p:sp>
        <p:nvSpPr>
          <p:cNvPr id="18435"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51186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p:cNvSpPr>
            <a:spLocks noGrp="1" noRot="1" noChangeAspect="1" noTextEdit="1"/>
          </p:cNvSpPr>
          <p:nvPr>
            <p:ph type="sldImg"/>
          </p:nvPr>
        </p:nvSpPr>
        <p:spPr>
          <a:xfrm>
            <a:off x="88900" y="744538"/>
            <a:ext cx="6618288" cy="3724275"/>
          </a:xfrm>
          <a:ln/>
        </p:spPr>
      </p:sp>
      <p:sp>
        <p:nvSpPr>
          <p:cNvPr id="18435"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4258018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슬라이드 이미지 개체 틀 1"/>
          <p:cNvSpPr>
            <a:spLocks noGrp="1" noRot="1" noChangeAspect="1" noTextEdit="1"/>
          </p:cNvSpPr>
          <p:nvPr>
            <p:ph type="sldImg"/>
          </p:nvPr>
        </p:nvSpPr>
        <p:spPr>
          <a:xfrm>
            <a:off x="88900" y="744538"/>
            <a:ext cx="6618288" cy="3724275"/>
          </a:xfrm>
          <a:ln/>
        </p:spPr>
      </p:sp>
      <p:sp>
        <p:nvSpPr>
          <p:cNvPr id="18435"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3337631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88900" y="744538"/>
            <a:ext cx="6618288" cy="3724275"/>
          </a:xfrm>
          <a:ln/>
        </p:spPr>
      </p:sp>
      <p:sp>
        <p:nvSpPr>
          <p:cNvPr id="19459"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88900" y="744538"/>
            <a:ext cx="6618288" cy="3724275"/>
          </a:xfrm>
          <a:ln/>
        </p:spPr>
      </p:sp>
      <p:sp>
        <p:nvSpPr>
          <p:cNvPr id="19459"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2266375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88900" y="744538"/>
            <a:ext cx="6618288" cy="3724275"/>
          </a:xfrm>
          <a:ln/>
        </p:spPr>
      </p:sp>
      <p:sp>
        <p:nvSpPr>
          <p:cNvPr id="19459"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2186404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88900" y="744538"/>
            <a:ext cx="6618288" cy="3724275"/>
          </a:xfrm>
          <a:ln/>
        </p:spPr>
      </p:sp>
      <p:sp>
        <p:nvSpPr>
          <p:cNvPr id="19459"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88900" y="744538"/>
            <a:ext cx="6618288" cy="3724275"/>
          </a:xfrm>
          <a:ln/>
        </p:spPr>
      </p:sp>
      <p:sp>
        <p:nvSpPr>
          <p:cNvPr id="19459"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3125170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88900" y="744538"/>
            <a:ext cx="6618288" cy="3724275"/>
          </a:xfrm>
          <a:ln/>
        </p:spPr>
      </p:sp>
      <p:sp>
        <p:nvSpPr>
          <p:cNvPr id="19459"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422863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88900" y="744538"/>
            <a:ext cx="6618288" cy="3724275"/>
          </a:xfrm>
          <a:ln/>
        </p:spPr>
      </p:sp>
      <p:sp>
        <p:nvSpPr>
          <p:cNvPr id="19459"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357726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88900" y="744538"/>
            <a:ext cx="6618288" cy="3724275"/>
          </a:xfrm>
          <a:ln/>
        </p:spPr>
      </p:sp>
      <p:sp>
        <p:nvSpPr>
          <p:cNvPr id="19459" name="슬라이드 노트 개체 틀 2"/>
          <p:cNvSpPr>
            <a:spLocks noGrp="1"/>
          </p:cNvSpPr>
          <p:nvPr>
            <p:ph type="body" idx="1"/>
          </p:nvPr>
        </p:nvSpPr>
        <p:spPr>
          <a:noFill/>
          <a:ln/>
        </p:spPr>
        <p:txBody>
          <a:bodyPr/>
          <a:lstStyle/>
          <a:p>
            <a:endParaRPr lang="ko-KR" altLang="en-US" dirty="0">
              <a:latin typeface="굴림" charset="-127"/>
              <a:ea typeface="굴림" charset="-127"/>
            </a:endParaRPr>
          </a:p>
        </p:txBody>
      </p:sp>
    </p:spTree>
    <p:extLst>
      <p:ext uri="{BB962C8B-B14F-4D97-AF65-F5344CB8AC3E}">
        <p14:creationId xmlns:p14="http://schemas.microsoft.com/office/powerpoint/2010/main" val="1455507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이미지 개체 틀 1"/>
          <p:cNvSpPr>
            <a:spLocks noGrp="1" noRot="1" noChangeAspect="1" noTextEdit="1"/>
          </p:cNvSpPr>
          <p:nvPr>
            <p:ph type="sldImg"/>
          </p:nvPr>
        </p:nvSpPr>
        <p:spPr>
          <a:xfrm>
            <a:off x="88900" y="744538"/>
            <a:ext cx="6618288" cy="3724275"/>
          </a:xfrm>
          <a:ln/>
        </p:spPr>
      </p:sp>
      <p:sp>
        <p:nvSpPr>
          <p:cNvPr id="27651" name="슬라이드 노트 개체 틀 2"/>
          <p:cNvSpPr>
            <a:spLocks noGrp="1"/>
          </p:cNvSpPr>
          <p:nvPr>
            <p:ph type="body" idx="1"/>
          </p:nvPr>
        </p:nvSpPr>
        <p:spPr>
          <a:noFill/>
          <a:ln/>
        </p:spPr>
        <p:txBody>
          <a:bodyPr/>
          <a:lstStyle/>
          <a:p>
            <a:endParaRPr lang="ko-KR" altLang="en-US">
              <a:latin typeface="굴림" charset="-127"/>
              <a:ea typeface="굴림" charset="-127"/>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이미지 개체 틀 1"/>
          <p:cNvSpPr>
            <a:spLocks noGrp="1" noRot="1" noChangeAspect="1" noTextEdit="1"/>
          </p:cNvSpPr>
          <p:nvPr>
            <p:ph type="sldImg"/>
          </p:nvPr>
        </p:nvSpPr>
        <p:spPr>
          <a:xfrm>
            <a:off x="88900" y="744538"/>
            <a:ext cx="6618288" cy="3724275"/>
          </a:xfrm>
          <a:ln/>
        </p:spPr>
      </p:sp>
      <p:sp>
        <p:nvSpPr>
          <p:cNvPr id="27651" name="슬라이드 노트 개체 틀 2"/>
          <p:cNvSpPr>
            <a:spLocks noGrp="1"/>
          </p:cNvSpPr>
          <p:nvPr>
            <p:ph type="body" idx="1"/>
          </p:nvPr>
        </p:nvSpPr>
        <p:spPr>
          <a:noFill/>
          <a:ln/>
        </p:spPr>
        <p:txBody>
          <a:bodyPr/>
          <a:lstStyle/>
          <a:p>
            <a:endParaRPr lang="ko-KR" altLang="en-US">
              <a:latin typeface="굴림" charset="-127"/>
              <a:ea typeface="굴림" charset="-127"/>
            </a:endParaRPr>
          </a:p>
        </p:txBody>
      </p:sp>
    </p:spTree>
    <p:extLst>
      <p:ext uri="{BB962C8B-B14F-4D97-AF65-F5344CB8AC3E}">
        <p14:creationId xmlns:p14="http://schemas.microsoft.com/office/powerpoint/2010/main" val="37739232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55933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408B3-D2DE-8269-5372-CD5142B5EAF5}"/>
            </a:ext>
          </a:extLst>
        </p:cNvPr>
        <p:cNvGrpSpPr/>
        <p:nvPr/>
      </p:nvGrpSpPr>
      <p:grpSpPr>
        <a:xfrm>
          <a:off x="0" y="0"/>
          <a:ext cx="0" cy="0"/>
          <a:chOff x="0" y="0"/>
          <a:chExt cx="0" cy="0"/>
        </a:xfrm>
      </p:grpSpPr>
      <p:sp>
        <p:nvSpPr>
          <p:cNvPr id="27650" name="슬라이드 이미지 개체 틀 1">
            <a:extLst>
              <a:ext uri="{FF2B5EF4-FFF2-40B4-BE49-F238E27FC236}">
                <a16:creationId xmlns:a16="http://schemas.microsoft.com/office/drawing/2014/main" id="{0248DF2E-E03F-2F6E-92CC-B73A876C3427}"/>
              </a:ext>
            </a:extLst>
          </p:cNvPr>
          <p:cNvSpPr>
            <a:spLocks noGrp="1" noRot="1" noChangeAspect="1" noTextEdit="1"/>
          </p:cNvSpPr>
          <p:nvPr>
            <p:ph type="sldImg"/>
          </p:nvPr>
        </p:nvSpPr>
        <p:spPr>
          <a:xfrm>
            <a:off x="88900" y="744538"/>
            <a:ext cx="6618288" cy="3724275"/>
          </a:xfrm>
          <a:ln/>
        </p:spPr>
      </p:sp>
      <p:sp>
        <p:nvSpPr>
          <p:cNvPr id="27651" name="슬라이드 노트 개체 틀 2">
            <a:extLst>
              <a:ext uri="{FF2B5EF4-FFF2-40B4-BE49-F238E27FC236}">
                <a16:creationId xmlns:a16="http://schemas.microsoft.com/office/drawing/2014/main" id="{788C728D-B0BB-4725-354B-083E0AD76431}"/>
              </a:ext>
            </a:extLst>
          </p:cNvPr>
          <p:cNvSpPr>
            <a:spLocks noGrp="1"/>
          </p:cNvSpPr>
          <p:nvPr>
            <p:ph type="body" idx="1"/>
          </p:nvPr>
        </p:nvSpPr>
        <p:spPr>
          <a:noFill/>
          <a:ln/>
        </p:spPr>
        <p:txBody>
          <a:bodyPr/>
          <a:lstStyle/>
          <a:p>
            <a:endParaRPr lang="ko-KR" altLang="en-US">
              <a:latin typeface="굴림" charset="-127"/>
              <a:ea typeface="굴림" charset="-127"/>
            </a:endParaRPr>
          </a:p>
        </p:txBody>
      </p:sp>
    </p:spTree>
    <p:extLst>
      <p:ext uri="{BB962C8B-B14F-4D97-AF65-F5344CB8AC3E}">
        <p14:creationId xmlns:p14="http://schemas.microsoft.com/office/powerpoint/2010/main" val="2472305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이미지 개체 틀 1"/>
          <p:cNvSpPr>
            <a:spLocks noGrp="1" noRot="1" noChangeAspect="1" noTextEdit="1"/>
          </p:cNvSpPr>
          <p:nvPr>
            <p:ph type="sldImg"/>
          </p:nvPr>
        </p:nvSpPr>
        <p:spPr>
          <a:xfrm>
            <a:off x="88900" y="744538"/>
            <a:ext cx="6618288" cy="3724275"/>
          </a:xfrm>
          <a:ln/>
        </p:spPr>
      </p:sp>
      <p:sp>
        <p:nvSpPr>
          <p:cNvPr id="27651" name="슬라이드 노트 개체 틀 2"/>
          <p:cNvSpPr>
            <a:spLocks noGrp="1"/>
          </p:cNvSpPr>
          <p:nvPr>
            <p:ph type="body" idx="1"/>
          </p:nvPr>
        </p:nvSpPr>
        <p:spPr>
          <a:noFill/>
          <a:ln/>
        </p:spPr>
        <p:txBody>
          <a:bodyPr/>
          <a:lstStyle/>
          <a:p>
            <a:endParaRPr lang="ko-KR" altLang="en-US">
              <a:latin typeface="굴림" charset="-127"/>
              <a:ea typeface="굴림" charset="-127"/>
            </a:endParaRPr>
          </a:p>
        </p:txBody>
      </p:sp>
    </p:spTree>
    <p:extLst>
      <p:ext uri="{BB962C8B-B14F-4D97-AF65-F5344CB8AC3E}">
        <p14:creationId xmlns:p14="http://schemas.microsoft.com/office/powerpoint/2010/main" val="2576286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이미지 개체 틀 1"/>
          <p:cNvSpPr>
            <a:spLocks noGrp="1" noRot="1" noChangeAspect="1" noTextEdit="1"/>
          </p:cNvSpPr>
          <p:nvPr>
            <p:ph type="sldImg"/>
          </p:nvPr>
        </p:nvSpPr>
        <p:spPr>
          <a:xfrm>
            <a:off x="88900" y="744538"/>
            <a:ext cx="6618288" cy="3724275"/>
          </a:xfrm>
          <a:ln/>
        </p:spPr>
      </p:sp>
      <p:sp>
        <p:nvSpPr>
          <p:cNvPr id="27651" name="슬라이드 노트 개체 틀 2"/>
          <p:cNvSpPr>
            <a:spLocks noGrp="1"/>
          </p:cNvSpPr>
          <p:nvPr>
            <p:ph type="body" idx="1"/>
          </p:nvPr>
        </p:nvSpPr>
        <p:spPr>
          <a:noFill/>
          <a:ln/>
        </p:spPr>
        <p:txBody>
          <a:bodyPr/>
          <a:lstStyle/>
          <a:p>
            <a:endParaRPr lang="ko-KR" altLang="en-US">
              <a:latin typeface="굴림" charset="-127"/>
              <a:ea typeface="굴림" charset="-127"/>
            </a:endParaRPr>
          </a:p>
        </p:txBody>
      </p:sp>
    </p:spTree>
    <p:extLst>
      <p:ext uri="{BB962C8B-B14F-4D97-AF65-F5344CB8AC3E}">
        <p14:creationId xmlns:p14="http://schemas.microsoft.com/office/powerpoint/2010/main" val="3778779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슬라이드">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제목, 텍스트 및 내용">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92"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 id="2147484178" r:id="rId10"/>
    <p:sldLayoutId id="2147484179" r:id="rId11"/>
    <p:sldLayoutId id="2147484180" r:id="rId12"/>
  </p:sldLayoutIdLst>
  <p:hf hdr="0" ftr="0" dt="0"/>
  <p:txStyles>
    <p:titleStyle>
      <a:lvl1pPr algn="ctr" rtl="0" eaLnBrk="0" fontAlgn="base" latinLnBrk="1" hangingPunct="0">
        <a:spcBef>
          <a:spcPct val="0"/>
        </a:spcBef>
        <a:spcAft>
          <a:spcPct val="0"/>
        </a:spcAft>
        <a:defRPr kumimoji="1" sz="4431" b="1">
          <a:solidFill>
            <a:schemeClr val="bg1"/>
          </a:solidFill>
          <a:latin typeface="+mj-lt"/>
          <a:ea typeface="+mj-ea"/>
          <a:cs typeface="+mj-cs"/>
        </a:defRPr>
      </a:lvl1pPr>
      <a:lvl2pPr algn="ctr" rtl="0" eaLnBrk="0" fontAlgn="base" latinLnBrk="1" hangingPunct="0">
        <a:spcBef>
          <a:spcPct val="0"/>
        </a:spcBef>
        <a:spcAft>
          <a:spcPct val="0"/>
        </a:spcAft>
        <a:defRPr kumimoji="1" sz="4431" b="1">
          <a:solidFill>
            <a:schemeClr val="bg1"/>
          </a:solidFill>
          <a:latin typeface="Arial" charset="0"/>
          <a:ea typeface="굴림" pitchFamily="50" charset="-127"/>
        </a:defRPr>
      </a:lvl2pPr>
      <a:lvl3pPr algn="ctr" rtl="0" eaLnBrk="0" fontAlgn="base" latinLnBrk="1" hangingPunct="0">
        <a:spcBef>
          <a:spcPct val="0"/>
        </a:spcBef>
        <a:spcAft>
          <a:spcPct val="0"/>
        </a:spcAft>
        <a:defRPr kumimoji="1" sz="4431" b="1">
          <a:solidFill>
            <a:schemeClr val="bg1"/>
          </a:solidFill>
          <a:latin typeface="Arial" charset="0"/>
          <a:ea typeface="굴림" pitchFamily="50" charset="-127"/>
        </a:defRPr>
      </a:lvl3pPr>
      <a:lvl4pPr algn="ctr" rtl="0" eaLnBrk="0" fontAlgn="base" latinLnBrk="1" hangingPunct="0">
        <a:spcBef>
          <a:spcPct val="0"/>
        </a:spcBef>
        <a:spcAft>
          <a:spcPct val="0"/>
        </a:spcAft>
        <a:defRPr kumimoji="1" sz="4431" b="1">
          <a:solidFill>
            <a:schemeClr val="bg1"/>
          </a:solidFill>
          <a:latin typeface="Arial" charset="0"/>
          <a:ea typeface="굴림" pitchFamily="50" charset="-127"/>
        </a:defRPr>
      </a:lvl4pPr>
      <a:lvl5pPr algn="ctr" rtl="0" eaLnBrk="0" fontAlgn="base" latinLnBrk="1" hangingPunct="0">
        <a:spcBef>
          <a:spcPct val="0"/>
        </a:spcBef>
        <a:spcAft>
          <a:spcPct val="0"/>
        </a:spcAft>
        <a:defRPr kumimoji="1" sz="4431" b="1">
          <a:solidFill>
            <a:schemeClr val="bg1"/>
          </a:solidFill>
          <a:latin typeface="Arial" charset="0"/>
          <a:ea typeface="굴림" pitchFamily="50" charset="-127"/>
        </a:defRPr>
      </a:lvl5pPr>
      <a:lvl6pPr marL="562722" algn="ctr" rtl="0" fontAlgn="base" latinLnBrk="1">
        <a:spcBef>
          <a:spcPct val="0"/>
        </a:spcBef>
        <a:spcAft>
          <a:spcPct val="0"/>
        </a:spcAft>
        <a:defRPr kumimoji="1" sz="4431" b="1">
          <a:solidFill>
            <a:schemeClr val="bg1"/>
          </a:solidFill>
          <a:latin typeface="Arial" charset="0"/>
          <a:ea typeface="굴림" pitchFamily="50" charset="-127"/>
        </a:defRPr>
      </a:lvl6pPr>
      <a:lvl7pPr marL="1125444" algn="ctr" rtl="0" fontAlgn="base" latinLnBrk="1">
        <a:spcBef>
          <a:spcPct val="0"/>
        </a:spcBef>
        <a:spcAft>
          <a:spcPct val="0"/>
        </a:spcAft>
        <a:defRPr kumimoji="1" sz="4431" b="1">
          <a:solidFill>
            <a:schemeClr val="bg1"/>
          </a:solidFill>
          <a:latin typeface="Arial" charset="0"/>
          <a:ea typeface="굴림" pitchFamily="50" charset="-127"/>
        </a:defRPr>
      </a:lvl7pPr>
      <a:lvl8pPr marL="1688165" algn="ctr" rtl="0" fontAlgn="base" latinLnBrk="1">
        <a:spcBef>
          <a:spcPct val="0"/>
        </a:spcBef>
        <a:spcAft>
          <a:spcPct val="0"/>
        </a:spcAft>
        <a:defRPr kumimoji="1" sz="4431" b="1">
          <a:solidFill>
            <a:schemeClr val="bg1"/>
          </a:solidFill>
          <a:latin typeface="Arial" charset="0"/>
          <a:ea typeface="굴림" pitchFamily="50" charset="-127"/>
        </a:defRPr>
      </a:lvl8pPr>
      <a:lvl9pPr marL="2250887" algn="ctr" rtl="0" fontAlgn="base" latinLnBrk="1">
        <a:spcBef>
          <a:spcPct val="0"/>
        </a:spcBef>
        <a:spcAft>
          <a:spcPct val="0"/>
        </a:spcAft>
        <a:defRPr kumimoji="1" sz="4431" b="1">
          <a:solidFill>
            <a:schemeClr val="bg1"/>
          </a:solidFill>
          <a:latin typeface="Arial" charset="0"/>
          <a:ea typeface="굴림" pitchFamily="50" charset="-127"/>
        </a:defRPr>
      </a:lvl9pPr>
    </p:titleStyle>
    <p:bodyStyle>
      <a:lvl1pPr marL="228606" indent="-228606" algn="l" rtl="0" eaLnBrk="0" fontAlgn="base" latinLnBrk="1" hangingPunct="0">
        <a:spcBef>
          <a:spcPct val="20000"/>
        </a:spcBef>
        <a:spcAft>
          <a:spcPct val="0"/>
        </a:spcAft>
        <a:buClr>
          <a:srgbClr val="FF9900"/>
        </a:buClr>
        <a:buSzPct val="80000"/>
        <a:buFont typeface="Wingdings" pitchFamily="2" charset="2"/>
        <a:buChar char="n"/>
        <a:defRPr kumimoji="1" sz="2708" b="1">
          <a:solidFill>
            <a:schemeClr val="tx1"/>
          </a:solidFill>
          <a:latin typeface="+mn-lt"/>
          <a:ea typeface="+mn-ea"/>
          <a:cs typeface="+mn-cs"/>
        </a:defRPr>
      </a:lvl1pPr>
      <a:lvl2pPr marL="668232" indent="-218836" algn="l" rtl="0" eaLnBrk="0" fontAlgn="base" latinLnBrk="1" hangingPunct="0">
        <a:spcBef>
          <a:spcPct val="20000"/>
        </a:spcBef>
        <a:spcAft>
          <a:spcPct val="0"/>
        </a:spcAft>
        <a:buClr>
          <a:srgbClr val="FF9900"/>
        </a:buClr>
        <a:buSzPct val="80000"/>
        <a:buFont typeface="Wingdings" pitchFamily="2" charset="2"/>
        <a:buChar char="l"/>
        <a:defRPr kumimoji="1" sz="2462">
          <a:solidFill>
            <a:schemeClr val="tx1"/>
          </a:solidFill>
          <a:latin typeface="+mn-lt"/>
          <a:ea typeface="+mn-ea"/>
        </a:defRPr>
      </a:lvl2pPr>
      <a:lvl3pPr marL="1109812" indent="-220791" algn="l" rtl="0" eaLnBrk="0" fontAlgn="base" latinLnBrk="1" hangingPunct="0">
        <a:spcBef>
          <a:spcPct val="20000"/>
        </a:spcBef>
        <a:spcAft>
          <a:spcPct val="0"/>
        </a:spcAft>
        <a:buClr>
          <a:srgbClr val="FF9900"/>
        </a:buClr>
        <a:buSzPct val="60000"/>
        <a:buFont typeface="Wingdings" pitchFamily="2" charset="2"/>
        <a:buChar char="u"/>
        <a:defRPr kumimoji="1">
          <a:solidFill>
            <a:schemeClr val="tx1"/>
          </a:solidFill>
          <a:latin typeface="+mn-lt"/>
          <a:ea typeface="+mn-ea"/>
        </a:defRPr>
      </a:lvl3pPr>
      <a:lvl4pPr marL="1549439" indent="-218836" algn="l" rtl="0" eaLnBrk="0" fontAlgn="base" latinLnBrk="1" hangingPunct="0">
        <a:spcBef>
          <a:spcPct val="20000"/>
        </a:spcBef>
        <a:spcAft>
          <a:spcPct val="0"/>
        </a:spcAft>
        <a:buClr>
          <a:srgbClr val="FF9900"/>
        </a:buClr>
        <a:buSzPct val="80000"/>
        <a:buFont typeface="Wingdings" pitchFamily="2" charset="2"/>
        <a:buChar char="ü"/>
        <a:defRPr kumimoji="1" sz="1969">
          <a:solidFill>
            <a:schemeClr val="tx1"/>
          </a:solidFill>
          <a:latin typeface="+mn-lt"/>
          <a:ea typeface="+mn-ea"/>
        </a:defRPr>
      </a:lvl4pPr>
      <a:lvl5pPr marL="1989065" indent="-218836" algn="l" rtl="0" eaLnBrk="0" fontAlgn="base" latinLnBrk="1" hangingPunct="0">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5pPr>
      <a:lvl6pPr marL="2551787"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6pPr>
      <a:lvl7pPr marL="3114509"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7pPr>
      <a:lvl8pPr marL="3677230"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8pPr>
      <a:lvl9pPr marL="4239952"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9pPr>
    </p:bodyStyle>
    <p:otherStyle>
      <a:defPPr>
        <a:defRPr lang="ko-KR"/>
      </a:defPPr>
      <a:lvl1pPr marL="0" algn="l" defTabSz="1125444" rtl="0" eaLnBrk="1" latinLnBrk="1" hangingPunct="1">
        <a:defRPr sz="2215" kern="1200">
          <a:solidFill>
            <a:schemeClr val="tx1"/>
          </a:solidFill>
          <a:latin typeface="+mn-lt"/>
          <a:ea typeface="+mn-ea"/>
          <a:cs typeface="+mn-cs"/>
        </a:defRPr>
      </a:lvl1pPr>
      <a:lvl2pPr marL="562722" algn="l" defTabSz="1125444" rtl="0" eaLnBrk="1" latinLnBrk="1" hangingPunct="1">
        <a:defRPr sz="2215" kern="1200">
          <a:solidFill>
            <a:schemeClr val="tx1"/>
          </a:solidFill>
          <a:latin typeface="+mn-lt"/>
          <a:ea typeface="+mn-ea"/>
          <a:cs typeface="+mn-cs"/>
        </a:defRPr>
      </a:lvl2pPr>
      <a:lvl3pPr marL="1125444" algn="l" defTabSz="1125444" rtl="0" eaLnBrk="1" latinLnBrk="1" hangingPunct="1">
        <a:defRPr sz="2215" kern="1200">
          <a:solidFill>
            <a:schemeClr val="tx1"/>
          </a:solidFill>
          <a:latin typeface="+mn-lt"/>
          <a:ea typeface="+mn-ea"/>
          <a:cs typeface="+mn-cs"/>
        </a:defRPr>
      </a:lvl3pPr>
      <a:lvl4pPr marL="1688165" algn="l" defTabSz="1125444" rtl="0" eaLnBrk="1" latinLnBrk="1" hangingPunct="1">
        <a:defRPr sz="2215" kern="1200">
          <a:solidFill>
            <a:schemeClr val="tx1"/>
          </a:solidFill>
          <a:latin typeface="+mn-lt"/>
          <a:ea typeface="+mn-ea"/>
          <a:cs typeface="+mn-cs"/>
        </a:defRPr>
      </a:lvl4pPr>
      <a:lvl5pPr marL="2250887" algn="l" defTabSz="1125444" rtl="0" eaLnBrk="1" latinLnBrk="1" hangingPunct="1">
        <a:defRPr sz="2215" kern="1200">
          <a:solidFill>
            <a:schemeClr val="tx1"/>
          </a:solidFill>
          <a:latin typeface="+mn-lt"/>
          <a:ea typeface="+mn-ea"/>
          <a:cs typeface="+mn-cs"/>
        </a:defRPr>
      </a:lvl5pPr>
      <a:lvl6pPr marL="2813609" algn="l" defTabSz="1125444" rtl="0" eaLnBrk="1" latinLnBrk="1" hangingPunct="1">
        <a:defRPr sz="2215" kern="1200">
          <a:solidFill>
            <a:schemeClr val="tx1"/>
          </a:solidFill>
          <a:latin typeface="+mn-lt"/>
          <a:ea typeface="+mn-ea"/>
          <a:cs typeface="+mn-cs"/>
        </a:defRPr>
      </a:lvl6pPr>
      <a:lvl7pPr marL="3376331" algn="l" defTabSz="1125444" rtl="0" eaLnBrk="1" latinLnBrk="1" hangingPunct="1">
        <a:defRPr sz="2215" kern="1200">
          <a:solidFill>
            <a:schemeClr val="tx1"/>
          </a:solidFill>
          <a:latin typeface="+mn-lt"/>
          <a:ea typeface="+mn-ea"/>
          <a:cs typeface="+mn-cs"/>
        </a:defRPr>
      </a:lvl7pPr>
      <a:lvl8pPr marL="3939052" algn="l" defTabSz="1125444" rtl="0" eaLnBrk="1" latinLnBrk="1" hangingPunct="1">
        <a:defRPr sz="2215" kern="1200">
          <a:solidFill>
            <a:schemeClr val="tx1"/>
          </a:solidFill>
          <a:latin typeface="+mn-lt"/>
          <a:ea typeface="+mn-ea"/>
          <a:cs typeface="+mn-cs"/>
        </a:defRPr>
      </a:lvl8pPr>
      <a:lvl9pPr marL="4501774" algn="l" defTabSz="1125444" rtl="0" eaLnBrk="1" latinLnBrk="1" hangingPunct="1">
        <a:defRPr sz="2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Lst>
  <p:hf hdr="0" ftr="0" dt="0"/>
  <p:txStyles>
    <p:titleStyle>
      <a:lvl1pPr algn="ctr" rtl="0" eaLnBrk="0" fontAlgn="base" latinLnBrk="1" hangingPunct="0">
        <a:spcBef>
          <a:spcPct val="0"/>
        </a:spcBef>
        <a:spcAft>
          <a:spcPct val="0"/>
        </a:spcAft>
        <a:defRPr sz="5416" kern="1200">
          <a:solidFill>
            <a:schemeClr val="tx1"/>
          </a:solidFill>
          <a:latin typeface="+mj-lt"/>
          <a:ea typeface="+mj-ea"/>
          <a:cs typeface="+mj-cs"/>
        </a:defRPr>
      </a:lvl1pPr>
      <a:lvl2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5pPr>
      <a:lvl6pPr marL="562722" algn="ctr" rtl="0" fontAlgn="base" latinLnBrk="1">
        <a:spcBef>
          <a:spcPct val="0"/>
        </a:spcBef>
        <a:spcAft>
          <a:spcPct val="0"/>
        </a:spcAft>
        <a:defRPr sz="5416">
          <a:solidFill>
            <a:schemeClr val="tx1"/>
          </a:solidFill>
          <a:latin typeface="맑은 고딕" pitchFamily="50" charset="-127"/>
          <a:ea typeface="맑은 고딕" pitchFamily="50" charset="-127"/>
        </a:defRPr>
      </a:lvl6pPr>
      <a:lvl7pPr marL="1125444" algn="ctr" rtl="0" fontAlgn="base" latinLnBrk="1">
        <a:spcBef>
          <a:spcPct val="0"/>
        </a:spcBef>
        <a:spcAft>
          <a:spcPct val="0"/>
        </a:spcAft>
        <a:defRPr sz="5416">
          <a:solidFill>
            <a:schemeClr val="tx1"/>
          </a:solidFill>
          <a:latin typeface="맑은 고딕" pitchFamily="50" charset="-127"/>
          <a:ea typeface="맑은 고딕" pitchFamily="50" charset="-127"/>
        </a:defRPr>
      </a:lvl7pPr>
      <a:lvl8pPr marL="1688165" algn="ctr" rtl="0" fontAlgn="base" latinLnBrk="1">
        <a:spcBef>
          <a:spcPct val="0"/>
        </a:spcBef>
        <a:spcAft>
          <a:spcPct val="0"/>
        </a:spcAft>
        <a:defRPr sz="5416">
          <a:solidFill>
            <a:schemeClr val="tx1"/>
          </a:solidFill>
          <a:latin typeface="맑은 고딕" pitchFamily="50" charset="-127"/>
          <a:ea typeface="맑은 고딕" pitchFamily="50" charset="-127"/>
        </a:defRPr>
      </a:lvl8pPr>
      <a:lvl9pPr marL="2250887" algn="ctr" rtl="0" fontAlgn="base" latinLnBrk="1">
        <a:spcBef>
          <a:spcPct val="0"/>
        </a:spcBef>
        <a:spcAft>
          <a:spcPct val="0"/>
        </a:spcAft>
        <a:defRPr sz="5416">
          <a:solidFill>
            <a:schemeClr val="tx1"/>
          </a:solidFill>
          <a:latin typeface="맑은 고딕" pitchFamily="50" charset="-127"/>
          <a:ea typeface="맑은 고딕" pitchFamily="50" charset="-127"/>
        </a:defRPr>
      </a:lvl9pPr>
    </p:titleStyle>
    <p:bodyStyle>
      <a:lvl1pPr marL="422041" indent="-422041" algn="l" rtl="0" eaLnBrk="0" fontAlgn="base" latinLnBrk="1" hangingPunct="0">
        <a:spcBef>
          <a:spcPct val="20000"/>
        </a:spcBef>
        <a:spcAft>
          <a:spcPct val="0"/>
        </a:spcAft>
        <a:buFont typeface="Arial" charset="0"/>
        <a:buChar char="•"/>
        <a:defRPr sz="3939" kern="1200">
          <a:solidFill>
            <a:schemeClr val="tx1"/>
          </a:solidFill>
          <a:latin typeface="+mn-lt"/>
          <a:ea typeface="+mn-ea"/>
          <a:cs typeface="+mn-cs"/>
        </a:defRPr>
      </a:lvl1pPr>
      <a:lvl2pPr marL="914423" indent="-351701" algn="l" rtl="0" eaLnBrk="0" fontAlgn="base" latinLnBrk="1" hangingPunct="0">
        <a:spcBef>
          <a:spcPct val="20000"/>
        </a:spcBef>
        <a:spcAft>
          <a:spcPct val="0"/>
        </a:spcAft>
        <a:buFont typeface="Arial" charset="0"/>
        <a:buChar char="–"/>
        <a:defRPr sz="3446" kern="1200">
          <a:solidFill>
            <a:schemeClr val="tx1"/>
          </a:solidFill>
          <a:latin typeface="+mn-lt"/>
          <a:ea typeface="+mn-ea"/>
          <a:cs typeface="+mn-cs"/>
        </a:defRPr>
      </a:lvl2pPr>
      <a:lvl3pPr marL="1406804" indent="-281361" algn="l" rtl="0" eaLnBrk="0" fontAlgn="base" latinLnBrk="1" hangingPunct="0">
        <a:spcBef>
          <a:spcPct val="20000"/>
        </a:spcBef>
        <a:spcAft>
          <a:spcPct val="0"/>
        </a:spcAft>
        <a:buFont typeface="Arial" charset="0"/>
        <a:buChar char="•"/>
        <a:defRPr sz="2954" kern="1200">
          <a:solidFill>
            <a:schemeClr val="tx1"/>
          </a:solidFill>
          <a:latin typeface="+mn-lt"/>
          <a:ea typeface="+mn-ea"/>
          <a:cs typeface="+mn-cs"/>
        </a:defRPr>
      </a:lvl3pPr>
      <a:lvl4pPr marL="1969526" indent="-281361" algn="l" rtl="0" eaLnBrk="0" fontAlgn="base" latinLnBrk="1" hangingPunct="0">
        <a:spcBef>
          <a:spcPct val="20000"/>
        </a:spcBef>
        <a:spcAft>
          <a:spcPct val="0"/>
        </a:spcAft>
        <a:buFont typeface="Arial" charset="0"/>
        <a:buChar char="–"/>
        <a:defRPr sz="2462" kern="1200">
          <a:solidFill>
            <a:schemeClr val="tx1"/>
          </a:solidFill>
          <a:latin typeface="+mn-lt"/>
          <a:ea typeface="+mn-ea"/>
          <a:cs typeface="+mn-cs"/>
        </a:defRPr>
      </a:lvl4pPr>
      <a:lvl5pPr marL="2532248" indent="-281361" algn="l" rtl="0" eaLnBrk="0" fontAlgn="base" latinLnBrk="1" hangingPunct="0">
        <a:spcBef>
          <a:spcPct val="20000"/>
        </a:spcBef>
        <a:spcAft>
          <a:spcPct val="0"/>
        </a:spcAft>
        <a:buFont typeface="Arial" charset="0"/>
        <a:buChar char="»"/>
        <a:defRPr sz="2462" kern="1200">
          <a:solidFill>
            <a:schemeClr val="tx1"/>
          </a:solidFill>
          <a:latin typeface="+mn-lt"/>
          <a:ea typeface="+mn-ea"/>
          <a:cs typeface="+mn-cs"/>
        </a:defRPr>
      </a:lvl5pPr>
      <a:lvl6pPr marL="3094970"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6pPr>
      <a:lvl7pPr marL="3657691"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9pPr>
    </p:bodyStyle>
    <p:otherStyle>
      <a:defPPr>
        <a:defRPr lang="ko-KR"/>
      </a:defPPr>
      <a:lvl1pPr marL="0" algn="l" defTabSz="1125444" rtl="0" eaLnBrk="1" latinLnBrk="1" hangingPunct="1">
        <a:defRPr sz="2215" kern="1200">
          <a:solidFill>
            <a:schemeClr val="tx1"/>
          </a:solidFill>
          <a:latin typeface="+mn-lt"/>
          <a:ea typeface="+mn-ea"/>
          <a:cs typeface="+mn-cs"/>
        </a:defRPr>
      </a:lvl1pPr>
      <a:lvl2pPr marL="562722" algn="l" defTabSz="1125444" rtl="0" eaLnBrk="1" latinLnBrk="1" hangingPunct="1">
        <a:defRPr sz="2215" kern="1200">
          <a:solidFill>
            <a:schemeClr val="tx1"/>
          </a:solidFill>
          <a:latin typeface="+mn-lt"/>
          <a:ea typeface="+mn-ea"/>
          <a:cs typeface="+mn-cs"/>
        </a:defRPr>
      </a:lvl2pPr>
      <a:lvl3pPr marL="1125444" algn="l" defTabSz="1125444" rtl="0" eaLnBrk="1" latinLnBrk="1" hangingPunct="1">
        <a:defRPr sz="2215" kern="1200">
          <a:solidFill>
            <a:schemeClr val="tx1"/>
          </a:solidFill>
          <a:latin typeface="+mn-lt"/>
          <a:ea typeface="+mn-ea"/>
          <a:cs typeface="+mn-cs"/>
        </a:defRPr>
      </a:lvl3pPr>
      <a:lvl4pPr marL="1688165" algn="l" defTabSz="1125444" rtl="0" eaLnBrk="1" latinLnBrk="1" hangingPunct="1">
        <a:defRPr sz="2215" kern="1200">
          <a:solidFill>
            <a:schemeClr val="tx1"/>
          </a:solidFill>
          <a:latin typeface="+mn-lt"/>
          <a:ea typeface="+mn-ea"/>
          <a:cs typeface="+mn-cs"/>
        </a:defRPr>
      </a:lvl4pPr>
      <a:lvl5pPr marL="2250887" algn="l" defTabSz="1125444" rtl="0" eaLnBrk="1" latinLnBrk="1" hangingPunct="1">
        <a:defRPr sz="2215" kern="1200">
          <a:solidFill>
            <a:schemeClr val="tx1"/>
          </a:solidFill>
          <a:latin typeface="+mn-lt"/>
          <a:ea typeface="+mn-ea"/>
          <a:cs typeface="+mn-cs"/>
        </a:defRPr>
      </a:lvl5pPr>
      <a:lvl6pPr marL="2813609" algn="l" defTabSz="1125444" rtl="0" eaLnBrk="1" latinLnBrk="1" hangingPunct="1">
        <a:defRPr sz="2215" kern="1200">
          <a:solidFill>
            <a:schemeClr val="tx1"/>
          </a:solidFill>
          <a:latin typeface="+mn-lt"/>
          <a:ea typeface="+mn-ea"/>
          <a:cs typeface="+mn-cs"/>
        </a:defRPr>
      </a:lvl6pPr>
      <a:lvl7pPr marL="3376331" algn="l" defTabSz="1125444" rtl="0" eaLnBrk="1" latinLnBrk="1" hangingPunct="1">
        <a:defRPr sz="2215" kern="1200">
          <a:solidFill>
            <a:schemeClr val="tx1"/>
          </a:solidFill>
          <a:latin typeface="+mn-lt"/>
          <a:ea typeface="+mn-ea"/>
          <a:cs typeface="+mn-cs"/>
        </a:defRPr>
      </a:lvl7pPr>
      <a:lvl8pPr marL="3939052" algn="l" defTabSz="1125444" rtl="0" eaLnBrk="1" latinLnBrk="1" hangingPunct="1">
        <a:defRPr sz="2215" kern="1200">
          <a:solidFill>
            <a:schemeClr val="tx1"/>
          </a:solidFill>
          <a:latin typeface="+mn-lt"/>
          <a:ea typeface="+mn-ea"/>
          <a:cs typeface="+mn-cs"/>
        </a:defRPr>
      </a:lvl8pPr>
      <a:lvl9pPr marL="4501774" algn="l" defTabSz="1125444" rtl="0" eaLnBrk="1" latinLnBrk="1" hangingPunct="1">
        <a:defRPr sz="2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6.xml"/><Relationship Id="rId4" Type="http://schemas.openxmlformats.org/officeDocument/2006/relationships/slide" Target="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292814" y="2103178"/>
            <a:ext cx="11519877" cy="797169"/>
          </a:xfrm>
          <a:prstGeom prst="rect">
            <a:avLst/>
          </a:prstGeom>
        </p:spPr>
        <p:txBody>
          <a:bodyPr/>
          <a:lstStyle/>
          <a:p>
            <a:pPr algn="l" eaLnBrk="1" hangingPunct="1"/>
            <a:r>
              <a:rPr lang="en-IN" altLang="ko-KR" sz="3200" dirty="0">
                <a:solidFill>
                  <a:schemeClr val="tx1"/>
                </a:solidFill>
                <a:latin typeface="Cambria" panose="02040503050406030204" pitchFamily="18" charset="0"/>
              </a:rPr>
              <a:t>DeepShield: A Multi-Head, Explainable Audio Deepfake Detection and Risk-Aware Trust Gateway System</a:t>
            </a:r>
            <a:endParaRPr lang="ko-KR" altLang="en-US" sz="3200" dirty="0">
              <a:solidFill>
                <a:schemeClr val="tx1"/>
              </a:solidFill>
              <a:latin typeface="Cambria" panose="02040503050406030204" pitchFamily="18" charset="0"/>
            </a:endParaRPr>
          </a:p>
        </p:txBody>
      </p:sp>
      <p:sp>
        <p:nvSpPr>
          <p:cNvPr id="6147" name="Rectangle 5"/>
          <p:cNvSpPr>
            <a:spLocks noChangeArrowheads="1"/>
          </p:cNvSpPr>
          <p:nvPr/>
        </p:nvSpPr>
        <p:spPr bwMode="auto">
          <a:xfrm>
            <a:off x="1828800" y="4365104"/>
            <a:ext cx="8534400" cy="2157046"/>
          </a:xfrm>
          <a:prstGeom prst="rect">
            <a:avLst/>
          </a:prstGeom>
          <a:noFill/>
          <a:ln w="9525">
            <a:noFill/>
            <a:miter lim="800000"/>
            <a:headEnd/>
            <a:tailEnd/>
          </a:ln>
        </p:spPr>
        <p:txBody>
          <a:bodyPr/>
          <a:lstStyle/>
          <a:p>
            <a:pPr marL="228606" indent="-228606">
              <a:spcBef>
                <a:spcPct val="20000"/>
              </a:spcBef>
              <a:buClr>
                <a:srgbClr val="FF9900"/>
              </a:buClr>
              <a:buSzPct val="80000"/>
            </a:pPr>
            <a:r>
              <a:rPr lang="en-US" altLang="ko-KR" sz="2000" dirty="0">
                <a:latin typeface="Cambria" panose="02040503050406030204" pitchFamily="18" charset="0"/>
                <a:ea typeface="Cambria" panose="02040503050406030204" pitchFamily="18" charset="0"/>
              </a:rPr>
              <a:t>Name of Inventor(s) </a:t>
            </a:r>
          </a:p>
          <a:p>
            <a:pPr marL="228606" indent="-228606">
              <a:spcBef>
                <a:spcPct val="20000"/>
              </a:spcBef>
              <a:buClr>
                <a:srgbClr val="FF9900"/>
              </a:buClr>
              <a:buSzPct val="80000"/>
            </a:pPr>
            <a:r>
              <a:rPr sz="2000">
                <a:latin typeface="Cambria"/>
              </a:rPr>
              <a:t>Laksh Baweja</a:t>
            </a:r>
            <a:endParaRPr lang="ko-KR" altLang="en-US" sz="2708" dirty="0">
              <a:latin typeface="Cambria" panose="02040503050406030204" pitchFamily="18" charset="0"/>
            </a:endParaRPr>
          </a:p>
          <a:p>
            <a:pPr marL="228606" indent="-228606">
              <a:spcBef>
                <a:spcPct val="20000"/>
              </a:spcBef>
              <a:buClr>
                <a:srgbClr val="FF9900"/>
              </a:buClr>
              <a:buSzPct val="80000"/>
            </a:pPr>
            <a:r>
              <a:rPr sz="2000">
                <a:latin typeface="Cambria"/>
              </a:rPr>
              <a:t>Hamsini Goel</a:t>
            </a:r>
          </a:p>
          <a:p>
            <a:pPr marL="228606" indent="-228606">
              <a:spcBef>
                <a:spcPct val="20000"/>
              </a:spcBef>
              <a:buClr>
                <a:srgbClr val="FF9900"/>
              </a:buClr>
              <a:buSzPct val="80000"/>
            </a:pPr>
            <a:r>
              <a:rPr sz="2000">
                <a:latin typeface="Cambria"/>
              </a:rPr>
              <a:t>Mohith</a:t>
            </a:r>
          </a:p>
          <a:p>
            <a:pPr marL="228606" indent="-228606">
              <a:spcBef>
                <a:spcPct val="20000"/>
              </a:spcBef>
              <a:buClr>
                <a:srgbClr val="FF9900"/>
              </a:buClr>
              <a:buSzPct val="80000"/>
            </a:pPr>
            <a:r>
              <a:rPr sz="2000">
                <a:latin typeface="Cambria"/>
              </a:rPr>
              <a:t>Dinesh Kumar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E033B962-FAC8-46D2-A129-898ACA75B2D0}"/>
              </a:ext>
            </a:extLst>
          </p:cNvPr>
          <p:cNvGraphicFramePr>
            <a:graphicFrameLocks noGrp="1"/>
          </p:cNvGraphicFramePr>
          <p:nvPr>
            <p:extLst>
              <p:ext uri="{D42A27DB-BD31-4B8C-83A1-F6EECF244321}">
                <p14:modId xmlns:p14="http://schemas.microsoft.com/office/powerpoint/2010/main" val="3804127781"/>
              </p:ext>
            </p:extLst>
          </p:nvPr>
        </p:nvGraphicFramePr>
        <p:xfrm>
          <a:off x="407368" y="719666"/>
          <a:ext cx="11377264" cy="2966720"/>
        </p:xfrm>
        <a:graphic>
          <a:graphicData uri="http://schemas.openxmlformats.org/drawingml/2006/table">
            <a:tbl>
              <a:tblPr firstRow="1" bandRow="1">
                <a:tableStyleId>{5C22544A-7EE6-4342-B048-85BDC9FD1C3A}</a:tableStyleId>
              </a:tblPr>
              <a:tblGrid>
                <a:gridCol w="1656184">
                  <a:extLst>
                    <a:ext uri="{9D8B030D-6E8A-4147-A177-3AD203B41FA5}">
                      <a16:colId xmlns:a16="http://schemas.microsoft.com/office/drawing/2014/main" val="4216631956"/>
                    </a:ext>
                  </a:extLst>
                </a:gridCol>
                <a:gridCol w="1728192">
                  <a:extLst>
                    <a:ext uri="{9D8B030D-6E8A-4147-A177-3AD203B41FA5}">
                      <a16:colId xmlns:a16="http://schemas.microsoft.com/office/drawing/2014/main" val="3896819769"/>
                    </a:ext>
                  </a:extLst>
                </a:gridCol>
                <a:gridCol w="2016224">
                  <a:extLst>
                    <a:ext uri="{9D8B030D-6E8A-4147-A177-3AD203B41FA5}">
                      <a16:colId xmlns:a16="http://schemas.microsoft.com/office/drawing/2014/main" val="1576352955"/>
                    </a:ext>
                  </a:extLst>
                </a:gridCol>
                <a:gridCol w="2160240">
                  <a:extLst>
                    <a:ext uri="{9D8B030D-6E8A-4147-A177-3AD203B41FA5}">
                      <a16:colId xmlns:a16="http://schemas.microsoft.com/office/drawing/2014/main" val="1445708547"/>
                    </a:ext>
                  </a:extLst>
                </a:gridCol>
                <a:gridCol w="3816424">
                  <a:extLst>
                    <a:ext uri="{9D8B030D-6E8A-4147-A177-3AD203B41FA5}">
                      <a16:colId xmlns:a16="http://schemas.microsoft.com/office/drawing/2014/main" val="451034467"/>
                    </a:ext>
                  </a:extLst>
                </a:gridCol>
              </a:tblGrid>
              <a:tr h="370840">
                <a:tc gridSpan="2">
                  <a:txBody>
                    <a:bodyPr/>
                    <a:lstStyle/>
                    <a:p>
                      <a:pPr algn="ctr"/>
                      <a:r>
                        <a:rPr lang="en-IN" sz="1200" dirty="0">
                          <a:solidFill>
                            <a:schemeClr val="tx1"/>
                          </a:solidFill>
                          <a:latin typeface="Cambria" panose="02040503050406030204" pitchFamily="18" charset="0"/>
                          <a:ea typeface="Cambria" panose="02040503050406030204" pitchFamily="18" charset="0"/>
                        </a:rPr>
                        <a:t>Inventor Name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Email ID</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Mobile Number</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College Address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854033"/>
                  </a:ext>
                </a:extLst>
              </a:tr>
              <a:tr h="370840">
                <a:tc>
                  <a:txBody>
                    <a:bodyPr/>
                    <a:lstStyle/>
                    <a:p>
                      <a:r>
                        <a:rPr lang="en-IN" sz="1200" dirty="0">
                          <a:solidFill>
                            <a:schemeClr val="tx1"/>
                          </a:solidFill>
                          <a:latin typeface="Cambria" panose="02040503050406030204" pitchFamily="18" charset="0"/>
                          <a:ea typeface="Cambria" panose="02040503050406030204" pitchFamily="18" charset="0"/>
                        </a:rPr>
                        <a:t>First Name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Second Name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43178324"/>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Laksh </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Baweja</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lb4397@srmist.edu.in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8700390109</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6">
                  <a:txBody>
                    <a:bodyPr/>
                    <a:lstStyle/>
                    <a:p>
                      <a:r>
                        <a:rPr lang="en-US" sz="1200" dirty="0">
                          <a:solidFill>
                            <a:schemeClr val="tx1"/>
                          </a:solidFill>
                          <a:latin typeface="Cambria" panose="02040503050406030204" pitchFamily="18" charset="0"/>
                          <a:ea typeface="Cambria" panose="02040503050406030204" pitchFamily="18" charset="0"/>
                        </a:rPr>
                        <a:t>SRM Institute of Science and Engineering, KTR</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2247117"/>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Hamsini</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Goel</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hg7964@srmist.edu.in</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9599752976</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70619628"/>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Mohith</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mb5231@srmist.edu.in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8328293949</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6152153"/>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Dinesh</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Kumar</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dk4672@srmist.edu.in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6369181238</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65581811"/>
                  </a:ext>
                </a:extLst>
              </a:tr>
              <a:tr h="370840">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25352481"/>
                  </a:ext>
                </a:extLst>
              </a:tr>
              <a:tr h="370840">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60072376"/>
                  </a:ext>
                </a:extLst>
              </a:tr>
            </a:tbl>
          </a:graphicData>
        </a:graphic>
      </p:graphicFrame>
    </p:spTree>
    <p:extLst>
      <p:ext uri="{BB962C8B-B14F-4D97-AF65-F5344CB8AC3E}">
        <p14:creationId xmlns:p14="http://schemas.microsoft.com/office/powerpoint/2010/main" val="1377209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D82A558-E84C-4CA9-843B-C5A60F777042}"/>
              </a:ext>
            </a:extLst>
          </p:cNvPr>
          <p:cNvSpPr txBox="1">
            <a:spLocks/>
          </p:cNvSpPr>
          <p:nvPr/>
        </p:nvSpPr>
        <p:spPr bwMode="auto">
          <a:xfrm>
            <a:off x="492361" y="303896"/>
            <a:ext cx="6827775" cy="33334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latinLnBrk="1" hangingPunct="0">
              <a:spcBef>
                <a:spcPct val="0"/>
              </a:spcBef>
              <a:spcAft>
                <a:spcPct val="0"/>
              </a:spcAft>
              <a:defRPr kumimoji="1" sz="4431" b="1">
                <a:solidFill>
                  <a:schemeClr val="bg1"/>
                </a:solidFill>
                <a:latin typeface="+mj-lt"/>
                <a:ea typeface="+mj-ea"/>
                <a:cs typeface="+mj-cs"/>
              </a:defRPr>
            </a:lvl1pPr>
            <a:lvl2pPr algn="ctr" rtl="0" eaLnBrk="0" fontAlgn="base" latinLnBrk="1" hangingPunct="0">
              <a:spcBef>
                <a:spcPct val="0"/>
              </a:spcBef>
              <a:spcAft>
                <a:spcPct val="0"/>
              </a:spcAft>
              <a:defRPr kumimoji="1" sz="4431" b="1">
                <a:solidFill>
                  <a:schemeClr val="bg1"/>
                </a:solidFill>
                <a:latin typeface="Arial" charset="0"/>
                <a:ea typeface="굴림" pitchFamily="50" charset="-127"/>
              </a:defRPr>
            </a:lvl2pPr>
            <a:lvl3pPr algn="ctr" rtl="0" eaLnBrk="0" fontAlgn="base" latinLnBrk="1" hangingPunct="0">
              <a:spcBef>
                <a:spcPct val="0"/>
              </a:spcBef>
              <a:spcAft>
                <a:spcPct val="0"/>
              </a:spcAft>
              <a:defRPr kumimoji="1" sz="4431" b="1">
                <a:solidFill>
                  <a:schemeClr val="bg1"/>
                </a:solidFill>
                <a:latin typeface="Arial" charset="0"/>
                <a:ea typeface="굴림" pitchFamily="50" charset="-127"/>
              </a:defRPr>
            </a:lvl3pPr>
            <a:lvl4pPr algn="ctr" rtl="0" eaLnBrk="0" fontAlgn="base" latinLnBrk="1" hangingPunct="0">
              <a:spcBef>
                <a:spcPct val="0"/>
              </a:spcBef>
              <a:spcAft>
                <a:spcPct val="0"/>
              </a:spcAft>
              <a:defRPr kumimoji="1" sz="4431" b="1">
                <a:solidFill>
                  <a:schemeClr val="bg1"/>
                </a:solidFill>
                <a:latin typeface="Arial" charset="0"/>
                <a:ea typeface="굴림" pitchFamily="50" charset="-127"/>
              </a:defRPr>
            </a:lvl4pPr>
            <a:lvl5pPr algn="ctr" rtl="0" eaLnBrk="0" fontAlgn="base" latinLnBrk="1" hangingPunct="0">
              <a:spcBef>
                <a:spcPct val="0"/>
              </a:spcBef>
              <a:spcAft>
                <a:spcPct val="0"/>
              </a:spcAft>
              <a:defRPr kumimoji="1" sz="4431" b="1">
                <a:solidFill>
                  <a:schemeClr val="bg1"/>
                </a:solidFill>
                <a:latin typeface="Arial" charset="0"/>
                <a:ea typeface="굴림" pitchFamily="50" charset="-127"/>
              </a:defRPr>
            </a:lvl5pPr>
            <a:lvl6pPr marL="562722" algn="ctr" rtl="0" fontAlgn="base" latinLnBrk="1">
              <a:spcBef>
                <a:spcPct val="0"/>
              </a:spcBef>
              <a:spcAft>
                <a:spcPct val="0"/>
              </a:spcAft>
              <a:defRPr kumimoji="1" sz="4431" b="1">
                <a:solidFill>
                  <a:schemeClr val="bg1"/>
                </a:solidFill>
                <a:latin typeface="Arial" charset="0"/>
                <a:ea typeface="굴림" pitchFamily="50" charset="-127"/>
              </a:defRPr>
            </a:lvl6pPr>
            <a:lvl7pPr marL="1125444" algn="ctr" rtl="0" fontAlgn="base" latinLnBrk="1">
              <a:spcBef>
                <a:spcPct val="0"/>
              </a:spcBef>
              <a:spcAft>
                <a:spcPct val="0"/>
              </a:spcAft>
              <a:defRPr kumimoji="1" sz="4431" b="1">
                <a:solidFill>
                  <a:schemeClr val="bg1"/>
                </a:solidFill>
                <a:latin typeface="Arial" charset="0"/>
                <a:ea typeface="굴림" pitchFamily="50" charset="-127"/>
              </a:defRPr>
            </a:lvl7pPr>
            <a:lvl8pPr marL="1688165" algn="ctr" rtl="0" fontAlgn="base" latinLnBrk="1">
              <a:spcBef>
                <a:spcPct val="0"/>
              </a:spcBef>
              <a:spcAft>
                <a:spcPct val="0"/>
              </a:spcAft>
              <a:defRPr kumimoji="1" sz="4431" b="1">
                <a:solidFill>
                  <a:schemeClr val="bg1"/>
                </a:solidFill>
                <a:latin typeface="Arial" charset="0"/>
                <a:ea typeface="굴림" pitchFamily="50" charset="-127"/>
              </a:defRPr>
            </a:lvl8pPr>
            <a:lvl9pPr marL="2250887" algn="ctr" rtl="0" fontAlgn="base" latinLnBrk="1">
              <a:spcBef>
                <a:spcPct val="0"/>
              </a:spcBef>
              <a:spcAft>
                <a:spcPct val="0"/>
              </a:spcAft>
              <a:defRPr kumimoji="1" sz="4431" b="1">
                <a:solidFill>
                  <a:schemeClr val="bg1"/>
                </a:solidFill>
                <a:latin typeface="Arial" charset="0"/>
                <a:ea typeface="굴림" pitchFamily="50" charset="-127"/>
              </a:defRPr>
            </a:lvl9pPr>
          </a:lstStyle>
          <a:p>
            <a:r>
              <a:rPr lang="en-IN" sz="3200" kern="0" dirty="0">
                <a:solidFill>
                  <a:schemeClr val="tx1"/>
                </a:solidFill>
              </a:rPr>
              <a:t>Table of Content</a:t>
            </a:r>
          </a:p>
        </p:txBody>
      </p:sp>
      <p:graphicFrame>
        <p:nvGraphicFramePr>
          <p:cNvPr id="7" name="Table 6">
            <a:extLst>
              <a:ext uri="{FF2B5EF4-FFF2-40B4-BE49-F238E27FC236}">
                <a16:creationId xmlns:a16="http://schemas.microsoft.com/office/drawing/2014/main" id="{FBF93F52-839D-41FB-B9FD-39FC67BBED3D}"/>
              </a:ext>
            </a:extLst>
          </p:cNvPr>
          <p:cNvGraphicFramePr>
            <a:graphicFrameLocks noGrp="1"/>
          </p:cNvGraphicFramePr>
          <p:nvPr>
            <p:extLst>
              <p:ext uri="{D42A27DB-BD31-4B8C-83A1-F6EECF244321}">
                <p14:modId xmlns:p14="http://schemas.microsoft.com/office/powerpoint/2010/main" val="320839905"/>
              </p:ext>
            </p:extLst>
          </p:nvPr>
        </p:nvGraphicFramePr>
        <p:xfrm>
          <a:off x="477905" y="1340769"/>
          <a:ext cx="10801200" cy="4838355"/>
        </p:xfrm>
        <a:graphic>
          <a:graphicData uri="http://schemas.openxmlformats.org/drawingml/2006/table">
            <a:tbl>
              <a:tblPr firstRow="1" bandRow="1">
                <a:tableStyleId>{5940675A-B579-460E-94D1-54222C63F5DA}</a:tableStyleId>
              </a:tblPr>
              <a:tblGrid>
                <a:gridCol w="7116329">
                  <a:extLst>
                    <a:ext uri="{9D8B030D-6E8A-4147-A177-3AD203B41FA5}">
                      <a16:colId xmlns:a16="http://schemas.microsoft.com/office/drawing/2014/main" val="1202572931"/>
                    </a:ext>
                  </a:extLst>
                </a:gridCol>
                <a:gridCol w="3684871">
                  <a:extLst>
                    <a:ext uri="{9D8B030D-6E8A-4147-A177-3AD203B41FA5}">
                      <a16:colId xmlns:a16="http://schemas.microsoft.com/office/drawing/2014/main" val="1950821114"/>
                    </a:ext>
                  </a:extLst>
                </a:gridCol>
              </a:tblGrid>
              <a:tr h="346031">
                <a:tc>
                  <a:txBody>
                    <a:bodyPr/>
                    <a:lstStyle/>
                    <a:p>
                      <a:pPr marL="0" marR="0" lvl="0" indent="0" algn="ctr" defTabSz="1463040" rtl="0" eaLnBrk="1" fontAlgn="auto" latinLnBrk="1" hangingPunct="1">
                        <a:lnSpc>
                          <a:spcPct val="100000"/>
                        </a:lnSpc>
                        <a:spcBef>
                          <a:spcPts val="0"/>
                        </a:spcBef>
                        <a:spcAft>
                          <a:spcPts val="0"/>
                        </a:spcAft>
                        <a:buClrTx/>
                        <a:buSzTx/>
                        <a:buFontTx/>
                        <a:buNone/>
                        <a:tabLst/>
                        <a:defRPr/>
                      </a:pPr>
                      <a:r>
                        <a:rPr lang="en-IN" sz="1800" b="1" dirty="0">
                          <a:latin typeface="Segoe UI" panose="020B0502040204020203" pitchFamily="34" charset="0"/>
                          <a:cs typeface="Segoe UI" panose="020B0502040204020203" pitchFamily="34" charset="0"/>
                        </a:rPr>
                        <a:t>Title</a:t>
                      </a:r>
                    </a:p>
                  </a:txBody>
                  <a:tcPr anchor="ctr"/>
                </a:tc>
                <a:tc>
                  <a:txBody>
                    <a:bodyPr/>
                    <a:lstStyle/>
                    <a:p>
                      <a:pPr algn="ctr"/>
                      <a:r>
                        <a:rPr lang="en-IN" sz="1800" b="1" dirty="0">
                          <a:latin typeface="Segoe UI" panose="020B0502040204020203" pitchFamily="34" charset="0"/>
                          <a:cs typeface="Segoe UI" panose="020B0502040204020203" pitchFamily="34" charset="0"/>
                        </a:rPr>
                        <a:t>Slide</a:t>
                      </a:r>
                      <a:r>
                        <a:rPr lang="en-IN" sz="1800" b="1" baseline="0" dirty="0">
                          <a:latin typeface="Segoe UI" panose="020B0502040204020203" pitchFamily="34" charset="0"/>
                          <a:cs typeface="Segoe UI" panose="020B0502040204020203" pitchFamily="34" charset="0"/>
                        </a:rPr>
                        <a:t> Nos.</a:t>
                      </a:r>
                      <a:endParaRPr lang="en-IN" sz="1800" b="1" dirty="0">
                        <a:latin typeface="Segoe UI" panose="020B0502040204020203" pitchFamily="34" charset="0"/>
                        <a:cs typeface="Segoe UI" panose="020B0502040204020203" pitchFamily="34" charset="0"/>
                      </a:endParaRPr>
                    </a:p>
                  </a:txBody>
                  <a:tcPr anchor="ctr"/>
                </a:tc>
                <a:extLst>
                  <a:ext uri="{0D108BD9-81ED-4DB2-BD59-A6C34878D82A}">
                    <a16:rowId xmlns:a16="http://schemas.microsoft.com/office/drawing/2014/main" val="943427425"/>
                  </a:ext>
                </a:extLst>
              </a:tr>
              <a:tr h="346031">
                <a:tc>
                  <a:txBody>
                    <a:bodyPr/>
                    <a:lstStyle/>
                    <a:p>
                      <a:pPr marL="0" marR="0" lvl="0" indent="0" algn="l" defTabSz="1463040"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Calibri" panose="020F0502020204030204" pitchFamily="34" charset="0"/>
                        </a:rPr>
                        <a:t>Recommendation Summary</a:t>
                      </a:r>
                    </a:p>
                  </a:txBody>
                  <a:tcPr anchor="ctr"/>
                </a:tc>
                <a:tc>
                  <a:txBody>
                    <a:bodyPr/>
                    <a:lstStyle/>
                    <a:p>
                      <a:pPr algn="ctr"/>
                      <a:r>
                        <a:rPr lang="en-US" sz="1800" dirty="0">
                          <a:latin typeface="Cambria" panose="02040503050406030204" pitchFamily="18" charset="0"/>
                          <a:ea typeface="Cambria" panose="02040503050406030204" pitchFamily="18" charset="0"/>
                          <a:cs typeface="Segoe UI" panose="020B0502040204020203" pitchFamily="34" charset="0"/>
                        </a:rPr>
                        <a:t>Slide 4</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1548466815"/>
                  </a:ext>
                </a:extLst>
              </a:tr>
              <a:tr h="346031">
                <a:tc>
                  <a:txBody>
                    <a:bodyPr/>
                    <a:lstStyle/>
                    <a:p>
                      <a:pPr marL="0" marR="0" lvl="0" indent="0" algn="l" defTabSz="1463040"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Times New Roman" panose="02020603050405020304" pitchFamily="18" charset="0"/>
                        </a:rPr>
                        <a:t>Seriousness of Pain Point (or) Problem Statement</a:t>
                      </a:r>
                    </a:p>
                  </a:txBody>
                  <a:tcPr anchor="ctr"/>
                </a:tc>
                <a:tc>
                  <a:txBody>
                    <a:bodyPr/>
                    <a:lstStyle/>
                    <a:p>
                      <a:pPr algn="ctr"/>
                      <a:r>
                        <a:rPr lang="en-IN" sz="1800" dirty="0">
                          <a:latin typeface="Cambria" panose="02040503050406030204" pitchFamily="18" charset="0"/>
                          <a:ea typeface="Cambria" panose="02040503050406030204" pitchFamily="18" charset="0"/>
                          <a:cs typeface="Segoe UI" panose="020B0502040204020203" pitchFamily="34" charset="0"/>
                        </a:rPr>
                        <a:t>Slide 7</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4062231590"/>
                  </a:ext>
                </a:extLst>
              </a:tr>
              <a:tr h="346031">
                <a:tc>
                  <a:txBody>
                    <a:bodyPr/>
                    <a:lstStyle/>
                    <a:p>
                      <a:pPr marL="0" marR="0" lvl="0" indent="0" algn="l" defTabSz="1125444"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Calibri" panose="020F0502020204030204" pitchFamily="34" charset="0"/>
                        </a:rPr>
                        <a:t>Opportunity Review</a:t>
                      </a:r>
                    </a:p>
                  </a:txBody>
                  <a:tcPr anchor="ctr"/>
                </a:tc>
                <a:tc>
                  <a:txBody>
                    <a:bodyPr/>
                    <a:lstStyle/>
                    <a:p>
                      <a:pPr marL="0" marR="0" lvl="0" indent="0" algn="ctr" defTabSz="1463040"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Segoe UI" panose="020B0502040204020203" pitchFamily="34" charset="0"/>
                        </a:rPr>
                        <a:t>Slide 5</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2262316610"/>
                  </a:ext>
                </a:extLst>
              </a:tr>
              <a:tr h="346031">
                <a:tc>
                  <a:txBody>
                    <a:bodyPr/>
                    <a:lstStyle/>
                    <a:p>
                      <a:pPr marL="0" marR="0" lvl="0" indent="0" algn="l" defTabSz="1125444"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Calibri" panose="020F0502020204030204" pitchFamily="34" charset="0"/>
                        </a:rPr>
                        <a:t>Independent</a:t>
                      </a:r>
                      <a:r>
                        <a:rPr lang="en-IN" sz="1800" baseline="0" dirty="0">
                          <a:latin typeface="Cambria" panose="02040503050406030204" pitchFamily="18" charset="0"/>
                          <a:ea typeface="Cambria" panose="02040503050406030204" pitchFamily="18" charset="0"/>
                          <a:cs typeface="Calibri" panose="020F0502020204030204" pitchFamily="34" charset="0"/>
                        </a:rPr>
                        <a:t> Claim</a:t>
                      </a:r>
                      <a:endParaRPr lang="en-IN" sz="1800" dirty="0">
                        <a:latin typeface="Cambria" panose="02040503050406030204" pitchFamily="18" charset="0"/>
                        <a:ea typeface="Cambria" panose="02040503050406030204" pitchFamily="18" charset="0"/>
                        <a:cs typeface="Calibri" panose="020F0502020204030204" pitchFamily="34" charset="0"/>
                      </a:endParaRPr>
                    </a:p>
                  </a:txBody>
                  <a:tcPr anchor="ctr"/>
                </a:tc>
                <a:tc>
                  <a:txBody>
                    <a:bodyPr/>
                    <a:lstStyle/>
                    <a:p>
                      <a:pPr algn="ctr"/>
                      <a:r>
                        <a:rPr lang="en-IN" sz="1800" dirty="0">
                          <a:latin typeface="Cambria" panose="02040503050406030204" pitchFamily="18" charset="0"/>
                          <a:ea typeface="Cambria" panose="02040503050406030204" pitchFamily="18" charset="0"/>
                          <a:cs typeface="Segoe UI" panose="020B0502040204020203" pitchFamily="34" charset="0"/>
                        </a:rPr>
                        <a:t>Slide 11</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4113346478"/>
                  </a:ext>
                </a:extLst>
              </a:tr>
              <a:tr h="346031">
                <a:tc>
                  <a:txBody>
                    <a:bodyPr/>
                    <a:lstStyle/>
                    <a:p>
                      <a:r>
                        <a:rPr lang="en-IN" sz="1800" dirty="0">
                          <a:latin typeface="Cambria" panose="02040503050406030204" pitchFamily="18" charset="0"/>
                          <a:ea typeface="Cambria" panose="02040503050406030204" pitchFamily="18" charset="0"/>
                          <a:cs typeface="Times New Roman" panose="02020603050405020304" pitchFamily="18" charset="0"/>
                        </a:rPr>
                        <a:t>Main Patentable</a:t>
                      </a:r>
                      <a:r>
                        <a:rPr lang="en-IN" sz="1800" baseline="0" dirty="0">
                          <a:latin typeface="Cambria" panose="02040503050406030204" pitchFamily="18" charset="0"/>
                          <a:ea typeface="Cambria" panose="02040503050406030204" pitchFamily="18" charset="0"/>
                          <a:cs typeface="Times New Roman" panose="02020603050405020304" pitchFamily="18" charset="0"/>
                        </a:rPr>
                        <a:t> Points</a:t>
                      </a:r>
                      <a:endParaRPr lang="en-IN" sz="1800" dirty="0">
                        <a:latin typeface="Cambria" panose="02040503050406030204" pitchFamily="18" charset="0"/>
                        <a:ea typeface="Cambria" panose="02040503050406030204" pitchFamily="18" charset="0"/>
                        <a:cs typeface="Times New Roman" panose="02020603050405020304" pitchFamily="18" charset="0"/>
                      </a:endParaRPr>
                    </a:p>
                  </a:txBody>
                  <a:tcPr anchor="ctr"/>
                </a:tc>
                <a:tc>
                  <a:txBody>
                    <a:bodyPr/>
                    <a:lstStyle/>
                    <a:p>
                      <a:pPr algn="ctr"/>
                      <a:r>
                        <a:rPr lang="en-IN" sz="1800" dirty="0">
                          <a:latin typeface="Cambria" panose="02040503050406030204" pitchFamily="18" charset="0"/>
                          <a:ea typeface="Cambria" panose="02040503050406030204" pitchFamily="18" charset="0"/>
                          <a:cs typeface="Segoe UI" panose="020B0502040204020203" pitchFamily="34" charset="0"/>
                          <a:hlinkClick r:id="rId3" action="ppaction://hlinksldjump"/>
                        </a:rPr>
                        <a:t>Slide 13</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9462283"/>
                  </a:ext>
                </a:extLst>
              </a:tr>
              <a:tr h="346031">
                <a:tc>
                  <a:txBody>
                    <a:bodyPr/>
                    <a:lstStyle/>
                    <a:p>
                      <a:pPr marL="0" marR="0" lvl="0" indent="0" algn="l" defTabSz="1463040"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Segoe UI" panose="020B0502040204020203" pitchFamily="34" charset="0"/>
                        </a:rPr>
                        <a:t>Dependent</a:t>
                      </a:r>
                      <a:r>
                        <a:rPr lang="en-IN" sz="1800" baseline="0" dirty="0">
                          <a:latin typeface="Cambria" panose="02040503050406030204" pitchFamily="18" charset="0"/>
                          <a:ea typeface="Cambria" panose="02040503050406030204" pitchFamily="18" charset="0"/>
                          <a:cs typeface="Segoe UI" panose="020B0502040204020203" pitchFamily="34" charset="0"/>
                        </a:rPr>
                        <a:t> Claim</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tc>
                  <a:txBody>
                    <a:bodyPr/>
                    <a:lstStyle/>
                    <a:p>
                      <a:pPr algn="ctr"/>
                      <a:r>
                        <a:rPr lang="en-IN" sz="1800" dirty="0">
                          <a:latin typeface="Cambria" panose="02040503050406030204" pitchFamily="18" charset="0"/>
                          <a:ea typeface="Cambria" panose="02040503050406030204" pitchFamily="18" charset="0"/>
                          <a:cs typeface="Segoe UI" panose="020B0502040204020203" pitchFamily="34" charset="0"/>
                          <a:hlinkClick r:id="rId4" action="ppaction://hlinksldjump"/>
                        </a:rPr>
                        <a:t>Slide 12</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2237387132"/>
                  </a:ext>
                </a:extLst>
              </a:tr>
              <a:tr h="346031">
                <a:tc>
                  <a:txBody>
                    <a:bodyPr/>
                    <a:lstStyle/>
                    <a:p>
                      <a:pPr marL="0" marR="0" lvl="0" indent="0" algn="l" defTabSz="1463040"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Times New Roman" panose="02020603050405020304" pitchFamily="18" charset="0"/>
                        </a:rPr>
                        <a:t>Prior Art Comparison</a:t>
                      </a:r>
                    </a:p>
                  </a:txBody>
                  <a:tcPr anchor="ctr"/>
                </a:tc>
                <a:tc>
                  <a:txBody>
                    <a:bodyPr/>
                    <a:lstStyle/>
                    <a:p>
                      <a:pPr marL="0" marR="0" lvl="0" indent="0" algn="ctr" defTabSz="1463040"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Segoe UI" panose="020B0502040204020203" pitchFamily="34" charset="0"/>
                          <a:hlinkClick r:id="rId3" action="ppaction://hlinksldjump"/>
                        </a:rPr>
                        <a:t>Slide 14</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998231699"/>
                  </a:ext>
                </a:extLst>
              </a:tr>
              <a:tr h="637425">
                <a:tc>
                  <a:txBody>
                    <a:bodyPr/>
                    <a:lstStyle/>
                    <a:p>
                      <a:pPr marL="0" marR="0" lvl="0" indent="0" algn="l" defTabSz="1125444"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Calibri" panose="020F0502020204030204" pitchFamily="34" charset="0"/>
                        </a:rPr>
                        <a:t>Prior Art Search Results</a:t>
                      </a:r>
                    </a:p>
                  </a:txBody>
                  <a:tcPr anchor="ctr"/>
                </a:tc>
                <a:tc>
                  <a:txBody>
                    <a:bodyPr/>
                    <a:lstStyle/>
                    <a:p>
                      <a:pPr algn="ctr"/>
                      <a:r>
                        <a:rPr lang="en-IN" sz="1800" dirty="0">
                          <a:latin typeface="Cambria" panose="02040503050406030204" pitchFamily="18" charset="0"/>
                          <a:ea typeface="Cambria" panose="02040503050406030204" pitchFamily="18" charset="0"/>
                          <a:cs typeface="Segoe UI" panose="020B0502040204020203" pitchFamily="34" charset="0"/>
                        </a:rPr>
                        <a:t>Slide 15</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3639866447"/>
                  </a:ext>
                </a:extLst>
              </a:tr>
              <a:tr h="637425">
                <a:tc>
                  <a:txBody>
                    <a:bodyPr/>
                    <a:lstStyle/>
                    <a:p>
                      <a:pPr marL="0" marR="0" lvl="0" indent="0" algn="l" defTabSz="1125444" rtl="0" eaLnBrk="1" fontAlgn="auto" latinLnBrk="1" hangingPunct="1">
                        <a:lnSpc>
                          <a:spcPct val="100000"/>
                        </a:lnSpc>
                        <a:spcBef>
                          <a:spcPts val="0"/>
                        </a:spcBef>
                        <a:spcAft>
                          <a:spcPts val="0"/>
                        </a:spcAft>
                        <a:buClrTx/>
                        <a:buSzTx/>
                        <a:buFontTx/>
                        <a:buNone/>
                        <a:tabLst/>
                        <a:defRPr/>
                      </a:pPr>
                      <a:r>
                        <a:rPr lang="en-IN" sz="1800" dirty="0">
                          <a:latin typeface="Cambria" panose="02040503050406030204" pitchFamily="18" charset="0"/>
                          <a:ea typeface="Cambria" panose="02040503050406030204" pitchFamily="18" charset="0"/>
                          <a:cs typeface="Times New Roman" panose="02020603050405020304" pitchFamily="18" charset="0"/>
                        </a:rPr>
                        <a:t>Detailed Explanation of the Invention with Use Results</a:t>
                      </a:r>
                    </a:p>
                  </a:txBody>
                  <a:tcPr anchor="ctr"/>
                </a:tc>
                <a:tc>
                  <a:txBody>
                    <a:bodyPr/>
                    <a:lstStyle/>
                    <a:p>
                      <a:pPr algn="ctr"/>
                      <a:r>
                        <a:rPr lang="en-IN" sz="1800" dirty="0">
                          <a:latin typeface="Cambria" panose="02040503050406030204" pitchFamily="18" charset="0"/>
                          <a:ea typeface="Cambria" panose="02040503050406030204" pitchFamily="18" charset="0"/>
                          <a:cs typeface="Segoe UI" panose="020B0502040204020203" pitchFamily="34" charset="0"/>
                        </a:rPr>
                        <a:t>Slide 16</a:t>
                      </a:r>
                      <a:endParaRPr lang="en-IN" sz="1800" dirty="0">
                        <a:latin typeface="Cambria" panose="02040503050406030204" pitchFamily="18" charset="0"/>
                        <a:ea typeface="Cambria" panose="02040503050406030204" pitchFamily="18" charset="0"/>
                        <a:cs typeface="Segoe UI" panose="020B0502040204020203" pitchFamily="34" charset="0"/>
                      </a:endParaRPr>
                    </a:p>
                  </a:txBody>
                  <a:tcPr anchor="ctr"/>
                </a:tc>
                <a:extLst>
                  <a:ext uri="{0D108BD9-81ED-4DB2-BD59-A6C34878D82A}">
                    <a16:rowId xmlns:a16="http://schemas.microsoft.com/office/drawing/2014/main" val="2900970890"/>
                  </a:ext>
                </a:extLst>
              </a:tr>
              <a:tr h="637425">
                <a:tc>
                  <a:txBody>
                    <a:bodyPr/>
                    <a:lstStyle/>
                    <a:p>
                      <a:pPr marL="0" marR="0" lvl="0" indent="0" algn="l" defTabSz="1125444" rtl="0" eaLnBrk="1" fontAlgn="auto" latinLnBrk="1" hangingPunct="1">
                        <a:lnSpc>
                          <a:spcPct val="100000"/>
                        </a:lnSpc>
                        <a:spcBef>
                          <a:spcPts val="0"/>
                        </a:spcBef>
                        <a:spcAft>
                          <a:spcPts val="0"/>
                        </a:spcAft>
                        <a:buClrTx/>
                        <a:buSzTx/>
                        <a:buFontTx/>
                        <a:buNone/>
                        <a:tabLst/>
                        <a:defRPr/>
                      </a:pPr>
                      <a:endParaRPr lang="en-IN" sz="1800" dirty="0">
                        <a:latin typeface="+mn-lt"/>
                        <a:cs typeface="Calibri" panose="020F0502020204030204" pitchFamily="34" charset="0"/>
                      </a:endParaRPr>
                    </a:p>
                  </a:txBody>
                  <a:tcPr anchor="ctr"/>
                </a:tc>
                <a:tc>
                  <a:txBody>
                    <a:bodyPr/>
                    <a:lstStyle/>
                    <a:p>
                      <a:pPr algn="ctr"/>
                      <a:endParaRPr lang="en-IN" sz="1800" dirty="0">
                        <a:latin typeface="Segoe UI" panose="020B0502040204020203" pitchFamily="34" charset="0"/>
                        <a:cs typeface="Segoe UI" panose="020B0502040204020203" pitchFamily="34" charset="0"/>
                      </a:endParaRPr>
                    </a:p>
                  </a:txBody>
                  <a:tcPr anchor="ctr"/>
                </a:tc>
                <a:extLst>
                  <a:ext uri="{0D108BD9-81ED-4DB2-BD59-A6C34878D82A}">
                    <a16:rowId xmlns:a16="http://schemas.microsoft.com/office/drawing/2014/main" val="2066070201"/>
                  </a:ext>
                </a:extLst>
              </a:tr>
            </a:tbl>
          </a:graphicData>
        </a:graphic>
      </p:graphicFrame>
    </p:spTree>
    <p:extLst>
      <p:ext uri="{BB962C8B-B14F-4D97-AF65-F5344CB8AC3E}">
        <p14:creationId xmlns:p14="http://schemas.microsoft.com/office/powerpoint/2010/main" val="620227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91344" y="40"/>
            <a:ext cx="11519877" cy="797169"/>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Recommendation Summary</a:t>
            </a:r>
            <a:endParaRPr lang="en-US" altLang="ko-KR" sz="1100" dirty="0">
              <a:solidFill>
                <a:schemeClr val="tx1"/>
              </a:solidFill>
              <a:latin typeface="Cambria" panose="02040503050406030204" pitchFamily="18" charset="0"/>
              <a:ea typeface="Cambria" panose="02040503050406030204" pitchFamily="18" charset="0"/>
            </a:endParaRPr>
          </a:p>
        </p:txBody>
      </p:sp>
      <p:graphicFrame>
        <p:nvGraphicFramePr>
          <p:cNvPr id="3" name="Table 2">
            <a:extLst>
              <a:ext uri="{FF2B5EF4-FFF2-40B4-BE49-F238E27FC236}">
                <a16:creationId xmlns:a16="http://schemas.microsoft.com/office/drawing/2014/main" id="{06929DBD-6514-46B2-831A-8F566CA544E1}"/>
              </a:ext>
            </a:extLst>
          </p:cNvPr>
          <p:cNvGraphicFramePr>
            <a:graphicFrameLocks noGrp="1"/>
          </p:cNvGraphicFramePr>
          <p:nvPr>
            <p:extLst>
              <p:ext uri="{D42A27DB-BD31-4B8C-83A1-F6EECF244321}">
                <p14:modId xmlns:p14="http://schemas.microsoft.com/office/powerpoint/2010/main" val="1925456546"/>
              </p:ext>
            </p:extLst>
          </p:nvPr>
        </p:nvGraphicFramePr>
        <p:xfrm>
          <a:off x="206515" y="776182"/>
          <a:ext cx="11519878" cy="5677154"/>
        </p:xfrm>
        <a:graphic>
          <a:graphicData uri="http://schemas.openxmlformats.org/drawingml/2006/table">
            <a:tbl>
              <a:tblPr firstRow="1" bandRow="1">
                <a:tableStyleId>{5940675A-B579-460E-94D1-54222C63F5DA}</a:tableStyleId>
              </a:tblPr>
              <a:tblGrid>
                <a:gridCol w="2553198">
                  <a:extLst>
                    <a:ext uri="{9D8B030D-6E8A-4147-A177-3AD203B41FA5}">
                      <a16:colId xmlns:a16="http://schemas.microsoft.com/office/drawing/2014/main" val="3701800262"/>
                    </a:ext>
                  </a:extLst>
                </a:gridCol>
                <a:gridCol w="5344569">
                  <a:extLst>
                    <a:ext uri="{9D8B030D-6E8A-4147-A177-3AD203B41FA5}">
                      <a16:colId xmlns:a16="http://schemas.microsoft.com/office/drawing/2014/main" val="1134087154"/>
                    </a:ext>
                  </a:extLst>
                </a:gridCol>
                <a:gridCol w="3622111">
                  <a:extLst>
                    <a:ext uri="{9D8B030D-6E8A-4147-A177-3AD203B41FA5}">
                      <a16:colId xmlns:a16="http://schemas.microsoft.com/office/drawing/2014/main" val="207707994"/>
                    </a:ext>
                  </a:extLst>
                </a:gridCol>
              </a:tblGrid>
              <a:tr h="391528">
                <a:tc>
                  <a:txBody>
                    <a:bodyPr/>
                    <a:lstStyle/>
                    <a:p>
                      <a:pPr algn="ctr" eaLnBrk="0" latinLnBrk="0" hangingPunct="0"/>
                      <a:r>
                        <a:rPr lang="en-US" sz="1400" b="1" dirty="0">
                          <a:latin typeface="Cambria" panose="02040503050406030204" pitchFamily="18" charset="0"/>
                          <a:ea typeface="Cambria" panose="02040503050406030204" pitchFamily="18" charset="0"/>
                        </a:rPr>
                        <a:t>Summary of the Invention</a:t>
                      </a:r>
                    </a:p>
                  </a:txBody>
                  <a:tcPr/>
                </a:tc>
                <a:tc>
                  <a:txBody>
                    <a:bodyPr/>
                    <a:lstStyle/>
                    <a:p>
                      <a:pPr algn="ctr" eaLnBrk="0" latinLnBrk="0" hangingPunct="0"/>
                      <a:r>
                        <a:rPr lang="en-US" sz="1400" b="1" dirty="0">
                          <a:latin typeface="Cambria" panose="02040503050406030204" pitchFamily="18" charset="0"/>
                          <a:ea typeface="Cambria" panose="02040503050406030204" pitchFamily="18" charset="0"/>
                        </a:rPr>
                        <a:t>Representative Drawing</a:t>
                      </a:r>
                    </a:p>
                  </a:txBody>
                  <a:tcPr/>
                </a:tc>
                <a:tc>
                  <a:txBody>
                    <a:bodyPr/>
                    <a:lstStyle/>
                    <a:p>
                      <a:pPr algn="ctr" eaLnBrk="0" latinLnBrk="0" hangingPunct="0"/>
                      <a:r>
                        <a:rPr lang="en-US" sz="1400" b="1" dirty="0">
                          <a:latin typeface="Cambria" panose="02040503050406030204" pitchFamily="18" charset="0"/>
                          <a:ea typeface="Cambria" panose="02040503050406030204" pitchFamily="18" charset="0"/>
                        </a:rPr>
                        <a:t>Evaluation Opinion</a:t>
                      </a:r>
                    </a:p>
                  </a:txBody>
                  <a:tcPr/>
                </a:tc>
                <a:extLst>
                  <a:ext uri="{0D108BD9-81ED-4DB2-BD59-A6C34878D82A}">
                    <a16:rowId xmlns:a16="http://schemas.microsoft.com/office/drawing/2014/main" val="1723195344"/>
                  </a:ext>
                </a:extLst>
              </a:tr>
              <a:tr h="5285626">
                <a:tc>
                  <a:txBody>
                    <a:bodyPr/>
                    <a:lstStyle/>
                    <a:p>
                      <a:pPr algn="just" rtl="0"/>
                      <a:r>
                        <a:rPr lang="en-IN" sz="1200" dirty="0">
                          <a:latin typeface="Cambria" panose="02040503050406030204" pitchFamily="18" charset="0"/>
                          <a:ea typeface="Cambria" panose="02040503050406030204" pitchFamily="18" charset="0"/>
                        </a:rPr>
                        <a:t>The invention introduces an audio  deepfake detection system that goes beyond a binary real/fake call. A      dual-channel (Mel-spectrogram +   MFCC) feature grid goes through a   residual CNN with       Squeeze-and-Excitation attention to produce one shared 128-d embedding. Four heads read that embedding in parallel:</a:t>
                      </a:r>
                    </a:p>
                    <a:p>
                      <a:pPr marL="171450" lvl="0" indent="-171450" algn="just" rtl="0">
                        <a:buFont typeface="Arial" panose="020B0604020202020204" pitchFamily="34" charset="0"/>
                        <a:buChar char="•"/>
                      </a:pPr>
                      <a:r>
                        <a:rPr lang="en-IN" sz="1200" dirty="0">
                          <a:latin typeface="Cambria" panose="02040503050406030204" pitchFamily="18" charset="0"/>
                          <a:ea typeface="Cambria" panose="02040503050406030204" pitchFamily="18" charset="0"/>
                        </a:rPr>
                        <a:t>spoof score</a:t>
                      </a:r>
                    </a:p>
                    <a:p>
                      <a:pPr marL="171450" lvl="0" indent="-171450" algn="just" rtl="0">
                        <a:buFont typeface="Arial" panose="020B0604020202020204" pitchFamily="34" charset="0"/>
                        <a:buChar char="•"/>
                      </a:pPr>
                      <a:r>
                        <a:rPr lang="en-IN" sz="1200" dirty="0">
                          <a:latin typeface="Cambria" panose="02040503050406030204" pitchFamily="18" charset="0"/>
                          <a:ea typeface="Cambria" panose="02040503050406030204" pitchFamily="18" charset="0"/>
                        </a:rPr>
                        <a:t>attack-type attribution</a:t>
                      </a:r>
                    </a:p>
                    <a:p>
                      <a:pPr marL="171450" lvl="0" indent="-171450" algn="just" rtl="0">
                        <a:buFont typeface="Arial" panose="020B0604020202020204" pitchFamily="34" charset="0"/>
                        <a:buChar char="•"/>
                      </a:pPr>
                      <a:r>
                        <a:rPr lang="en-IN" sz="1200" dirty="0">
                          <a:latin typeface="Cambria" panose="02040503050406030204" pitchFamily="18" charset="0"/>
                          <a:ea typeface="Cambria" panose="02040503050406030204" pitchFamily="18" charset="0"/>
                        </a:rPr>
                        <a:t>open-set novelty</a:t>
                      </a:r>
                    </a:p>
                    <a:p>
                      <a:pPr marL="171450" lvl="0" indent="-171450" algn="just" rtl="0">
                        <a:buFont typeface="Arial" panose="020B0604020202020204" pitchFamily="34" charset="0"/>
                        <a:buChar char="•"/>
                      </a:pPr>
                      <a:r>
                        <a:rPr lang="en-IN" sz="1200" dirty="0">
                          <a:latin typeface="Cambria" panose="02040503050406030204" pitchFamily="18" charset="0"/>
                          <a:ea typeface="Cambria" panose="02040503050406030204" pitchFamily="18" charset="0"/>
                        </a:rPr>
                        <a:t>predictive uncertainty</a:t>
                      </a:r>
                    </a:p>
                    <a:p>
                      <a:pPr algn="just" rtl="0"/>
                      <a:r>
                        <a:rPr lang="en-IN" sz="1200" dirty="0">
                          <a:latin typeface="Cambria" panose="02040503050406030204" pitchFamily="18" charset="0"/>
                          <a:ea typeface="Cambria" panose="02040503050406030204" pitchFamily="18" charset="0"/>
                        </a:rPr>
                        <a:t>A risk-aware gateway uses all four   signals together to route each input to Pass, Review, Block, or Unknown Pattern. An explainability layer gives a human-readable reason for every decision, and a continual-learning    loop updates the model as new         voice generators appear.</a:t>
                      </a:r>
                    </a:p>
                    <a:p>
                      <a:pPr marL="0" marR="0" lvl="0" indent="0" algn="just" defTabSz="1463040" rtl="0" eaLnBrk="0" fontAlgn="auto" latinLnBrk="0" hangingPunct="0">
                        <a:lnSpc>
                          <a:spcPct val="100000"/>
                        </a:lnSpc>
                        <a:spcBef>
                          <a:spcPts val="0"/>
                        </a:spcBef>
                        <a:spcAft>
                          <a:spcPts val="0"/>
                        </a:spcAft>
                        <a:buClrTx/>
                        <a:buSzTx/>
                        <a:buFont typeface="Arial" panose="020B0604020202020204" pitchFamily="34" charset="0"/>
                        <a:buNone/>
                        <a:tabLst/>
                        <a:defRPr/>
                      </a:pPr>
                      <a:endParaRPr lang="en-IN" sz="1200" b="0" dirty="0">
                        <a:solidFill>
                          <a:srgbClr val="1F2328"/>
                        </a:solidFill>
                        <a:effectLst/>
                        <a:latin typeface="Cambria" panose="02040503050406030204" pitchFamily="18" charset="0"/>
                        <a:ea typeface="Cambria" panose="02040503050406030204" pitchFamily="18" charset="0"/>
                      </a:endParaRPr>
                    </a:p>
                  </a:txBody>
                  <a:tcPr/>
                </a:tc>
                <a:tc>
                  <a:txBody>
                    <a:bodyPr/>
                    <a:lstStyle/>
                    <a:p>
                      <a:pPr eaLnBrk="0" latinLnBrk="0" hangingPunct="0"/>
                      <a:endParaRPr lang="en-US" sz="1200" dirty="0">
                        <a:latin typeface="Cambria" panose="02040503050406030204" pitchFamily="18" charset="0"/>
                        <a:ea typeface="Cambria" panose="02040503050406030204" pitchFamily="18" charset="0"/>
                      </a:endParaRPr>
                    </a:p>
                  </a:txBody>
                  <a:tcPr/>
                </a:tc>
                <a:tc>
                  <a:txBody>
                    <a:bodyPr/>
                    <a:lstStyle/>
                    <a:p>
                      <a:pPr marL="0" marR="0" lvl="0" indent="0" algn="just" defTabSz="1463040" rtl="0" eaLnBrk="0" fontAlgn="auto" latinLnBrk="0" hangingPunct="0">
                        <a:lnSpc>
                          <a:spcPct val="100000"/>
                        </a:lnSpc>
                        <a:spcBef>
                          <a:spcPts val="0"/>
                        </a:spcBef>
                        <a:spcAft>
                          <a:spcPts val="0"/>
                        </a:spcAft>
                        <a:buClrTx/>
                        <a:buSzTx/>
                        <a:buFontTx/>
                        <a:buNone/>
                        <a:tabLst/>
                        <a:defRPr/>
                      </a:pPr>
                      <a:r>
                        <a:rPr lang="en-US" sz="1200" b="1" i="1" u="sng" dirty="0">
                          <a:latin typeface="Cambria" panose="02040503050406030204" pitchFamily="18" charset="0"/>
                          <a:ea typeface="Cambria" panose="02040503050406030204" pitchFamily="18" charset="0"/>
                        </a:rPr>
                        <a:t>Prior art Result Opinion:</a:t>
                      </a:r>
                      <a:r>
                        <a:rPr lang="en-US" sz="1200" b="0" i="0" u="none" dirty="0">
                          <a:latin typeface="Cambria" panose="02040503050406030204" pitchFamily="18" charset="0"/>
                          <a:ea typeface="Cambria" panose="02040503050406030204" pitchFamily="18" charset="0"/>
                        </a:rPr>
                        <a:t> </a:t>
                      </a:r>
                      <a:r>
                        <a:rPr lang="en-IN" sz="1200" dirty="0">
                          <a:latin typeface="Cambria" panose="02040503050406030204" pitchFamily="18" charset="0"/>
                          <a:ea typeface="Cambria" panose="02040503050406030204" pitchFamily="18" charset="0"/>
                        </a:rPr>
                        <a:t>The individual components (Mel/MFCC fusion, SE attention, </a:t>
                      </a:r>
                      <a:r>
                        <a:rPr lang="en-IN" sz="1200" dirty="0" err="1">
                          <a:latin typeface="Cambria" panose="02040503050406030204" pitchFamily="18" charset="0"/>
                          <a:ea typeface="Cambria" panose="02040503050406030204" pitchFamily="18" charset="0"/>
                        </a:rPr>
                        <a:t>ResNet</a:t>
                      </a:r>
                      <a:r>
                        <a:rPr lang="en-IN" sz="1200" dirty="0">
                          <a:latin typeface="Cambria" panose="02040503050406030204" pitchFamily="18" charset="0"/>
                          <a:ea typeface="Cambria" panose="02040503050406030204" pitchFamily="18" charset="0"/>
                        </a:rPr>
                        <a:t>) are established. Most published work is binary real/fake classification. </a:t>
                      </a:r>
                      <a:endParaRPr lang="en-IN" sz="1200" b="0" i="0" kern="1200" dirty="0">
                        <a:solidFill>
                          <a:schemeClr val="tx1"/>
                        </a:solidFill>
                        <a:effectLst/>
                        <a:latin typeface="Cambria" panose="02040503050406030204" pitchFamily="18" charset="0"/>
                        <a:ea typeface="Cambria" panose="02040503050406030204" pitchFamily="18" charset="0"/>
                        <a:cs typeface="+mn-cs"/>
                      </a:endParaRPr>
                    </a:p>
                    <a:p>
                      <a:pPr marL="0" marR="0" lvl="0" indent="0" algn="just" defTabSz="1463040" rtl="0" eaLnBrk="0" fontAlgn="auto" latinLnBrk="0" hangingPunct="0">
                        <a:lnSpc>
                          <a:spcPct val="100000"/>
                        </a:lnSpc>
                        <a:spcBef>
                          <a:spcPts val="0"/>
                        </a:spcBef>
                        <a:spcAft>
                          <a:spcPts val="0"/>
                        </a:spcAft>
                        <a:buClrTx/>
                        <a:buSzTx/>
                        <a:buFontTx/>
                        <a:buNone/>
                        <a:tabLst/>
                        <a:defRPr/>
                      </a:pPr>
                      <a:endParaRPr lang="en-IN" sz="1200" b="0" i="0" kern="1200" dirty="0">
                        <a:solidFill>
                          <a:schemeClr val="tx1"/>
                        </a:solidFill>
                        <a:effectLst/>
                        <a:latin typeface="Cambria" panose="02040503050406030204" pitchFamily="18" charset="0"/>
                        <a:ea typeface="Cambria" panose="02040503050406030204" pitchFamily="18" charset="0"/>
                        <a:cs typeface="+mn-cs"/>
                      </a:endParaRPr>
                    </a:p>
                    <a:p>
                      <a:pPr marL="0" marR="0" lvl="0" indent="0" algn="just" defTabSz="1463040" rtl="0" eaLnBrk="0" fontAlgn="auto" latinLnBrk="0" hangingPunct="0">
                        <a:lnSpc>
                          <a:spcPct val="100000"/>
                        </a:lnSpc>
                        <a:spcBef>
                          <a:spcPts val="0"/>
                        </a:spcBef>
                        <a:spcAft>
                          <a:spcPts val="0"/>
                        </a:spcAft>
                        <a:buClrTx/>
                        <a:buSzTx/>
                        <a:buFontTx/>
                        <a:buNone/>
                        <a:tabLst/>
                        <a:defRPr/>
                      </a:pPr>
                      <a:r>
                        <a:rPr lang="en-IN" sz="1200" b="1" i="1" u="sng" dirty="0">
                          <a:latin typeface="Cambria" panose="02040503050406030204" pitchFamily="18" charset="0"/>
                          <a:ea typeface="Cambria" panose="02040503050406030204" pitchFamily="18" charset="0"/>
                        </a:rPr>
                        <a:t>What is not covered in prior art: </a:t>
                      </a:r>
                    </a:p>
                    <a:p>
                      <a:pPr marL="0" marR="0" lvl="0" indent="0" algn="just" defTabSz="1463040" rtl="0" eaLnBrk="0" fontAlgn="auto" latinLnBrk="0" hangingPunct="0">
                        <a:lnSpc>
                          <a:spcPct val="100000"/>
                        </a:lnSpc>
                        <a:spcBef>
                          <a:spcPts val="0"/>
                        </a:spcBef>
                        <a:spcAft>
                          <a:spcPts val="0"/>
                        </a:spcAft>
                        <a:buClrTx/>
                        <a:buSzTx/>
                        <a:buFontTx/>
                        <a:buNone/>
                        <a:tabLst/>
                        <a:defRPr/>
                      </a:pPr>
                      <a:r>
                        <a:rPr lang="en-IN" sz="1200" dirty="0">
                          <a:latin typeface="Cambria" panose="02040503050406030204" pitchFamily="18" charset="0"/>
                          <a:ea typeface="Cambria" panose="02040503050406030204" pitchFamily="18" charset="0"/>
                        </a:rPr>
                        <a:t>The invention’s claim is that no reviewed work combines detection, attribution, novelty, uncertainty, explainability and continual learning as one jointly-routed system.</a:t>
                      </a:r>
                      <a:endParaRPr lang="en-IN" sz="1200" b="0" i="0" u="none" dirty="0">
                        <a:latin typeface="Cambria" panose="02040503050406030204" pitchFamily="18" charset="0"/>
                        <a:ea typeface="Cambria" panose="02040503050406030204" pitchFamily="18" charset="0"/>
                      </a:endParaRPr>
                    </a:p>
                    <a:p>
                      <a:pPr marL="0" marR="0" lvl="0" indent="0" algn="just" defTabSz="1463040" rtl="0" eaLnBrk="0" fontAlgn="auto" latinLnBrk="0" hangingPunct="0">
                        <a:lnSpc>
                          <a:spcPct val="100000"/>
                        </a:lnSpc>
                        <a:spcBef>
                          <a:spcPts val="0"/>
                        </a:spcBef>
                        <a:spcAft>
                          <a:spcPts val="0"/>
                        </a:spcAft>
                        <a:buClrTx/>
                        <a:buSzTx/>
                        <a:buFontTx/>
                        <a:buNone/>
                        <a:tabLst/>
                        <a:defRPr/>
                      </a:pPr>
                      <a:endParaRPr lang="en-IN" sz="1200" b="0" i="0" u="none" dirty="0">
                        <a:latin typeface="Cambria" panose="02040503050406030204" pitchFamily="18" charset="0"/>
                        <a:ea typeface="Cambria" panose="02040503050406030204" pitchFamily="18" charset="0"/>
                      </a:endParaRPr>
                    </a:p>
                    <a:p>
                      <a:pPr marL="0" marR="0" lvl="0" indent="0" algn="just" defTabSz="1463040" rtl="0" eaLnBrk="0" fontAlgn="auto" latinLnBrk="0" hangingPunct="0">
                        <a:lnSpc>
                          <a:spcPct val="100000"/>
                        </a:lnSpc>
                        <a:spcBef>
                          <a:spcPts val="0"/>
                        </a:spcBef>
                        <a:spcAft>
                          <a:spcPts val="0"/>
                        </a:spcAft>
                        <a:buClrTx/>
                        <a:buSzTx/>
                        <a:buFontTx/>
                        <a:buNone/>
                        <a:tabLst/>
                        <a:defRPr/>
                      </a:pPr>
                      <a:r>
                        <a:rPr lang="en-IN" sz="1200" b="1" i="1" u="sng" dirty="0">
                          <a:latin typeface="Cambria" panose="02040503050406030204" pitchFamily="18" charset="0"/>
                          <a:ea typeface="Cambria" panose="02040503050406030204" pitchFamily="18" charset="0"/>
                        </a:rPr>
                        <a:t>Class A1 reason:</a:t>
                      </a:r>
                    </a:p>
                    <a:p>
                      <a:pPr marL="0" marR="0" lvl="0" indent="0" algn="just" defTabSz="1463040" rtl="0" eaLnBrk="0" fontAlgn="auto" latinLnBrk="0" hangingPunct="0">
                        <a:lnSpc>
                          <a:spcPct val="100000"/>
                        </a:lnSpc>
                        <a:spcBef>
                          <a:spcPts val="0"/>
                        </a:spcBef>
                        <a:spcAft>
                          <a:spcPts val="0"/>
                        </a:spcAft>
                        <a:buClrTx/>
                        <a:buSzTx/>
                        <a:buFontTx/>
                        <a:buNone/>
                        <a:tabLst/>
                        <a:defRPr/>
                      </a:pPr>
                      <a:r>
                        <a:rPr lang="en-IN" sz="1200" b="0" i="0" u="none" dirty="0">
                          <a:latin typeface="Cambria" panose="02040503050406030204" pitchFamily="18" charset="0"/>
                          <a:ea typeface="Cambria" panose="02040503050406030204" pitchFamily="18" charset="0"/>
                        </a:rPr>
                        <a:t>A combination claim: four jointly-routed heads (spoof score, attack-type, open-set novelty, uncertainty) from one shared embedding, plus matched dual-channel explainability — not disclosed in combination by any single prior-art reference found (Slides 14–15); non-obvious over the closest art and industrially applicable to enterprise voice-fraud and compliance workflows.</a:t>
                      </a:r>
                      <a:endParaRPr lang="en-US" sz="1200" b="0" i="0" u="none"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987303749"/>
                  </a:ext>
                </a:extLst>
              </a:tr>
            </a:tbl>
          </a:graphicData>
        </a:graphic>
      </p:graphicFrame>
      <p:pic>
        <p:nvPicPr>
          <p:cNvPr id="6" name="Picture 5">
            <a:extLst>
              <a:ext uri="{FF2B5EF4-FFF2-40B4-BE49-F238E27FC236}">
                <a16:creationId xmlns:a16="http://schemas.microsoft.com/office/drawing/2014/main" id="{E088F7B9-9E39-36CC-1B4B-2983239E8432}"/>
              </a:ext>
            </a:extLst>
          </p:cNvPr>
          <p:cNvPicPr>
            <a:picLocks noChangeAspect="1"/>
          </p:cNvPicPr>
          <p:nvPr/>
        </p:nvPicPr>
        <p:blipFill>
          <a:blip r:embed="rId3"/>
          <a:srcRect l="14286" t="8333" r="14285" b="2616"/>
          <a:stretch>
            <a:fillRect/>
          </a:stretch>
        </p:blipFill>
        <p:spPr>
          <a:xfrm>
            <a:off x="4079776" y="1252458"/>
            <a:ext cx="2736304" cy="51171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91344" y="40"/>
            <a:ext cx="11519877" cy="797169"/>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Opportunity Review: Significance</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4" name="Content Placeholder 1">
            <a:extLst>
              <a:ext uri="{FF2B5EF4-FFF2-40B4-BE49-F238E27FC236}">
                <a16:creationId xmlns:a16="http://schemas.microsoft.com/office/drawing/2014/main" id="{08BFE98F-AE6F-463C-A6B5-86B218EA373B}"/>
              </a:ext>
            </a:extLst>
          </p:cNvPr>
          <p:cNvSpPr txBox="1">
            <a:spLocks/>
          </p:cNvSpPr>
          <p:nvPr/>
        </p:nvSpPr>
        <p:spPr>
          <a:xfrm>
            <a:off x="407369" y="860195"/>
            <a:ext cx="6895376" cy="1834576"/>
          </a:xfrm>
          <a:prstGeom prst="rect">
            <a:avLst/>
          </a:prstGeom>
        </p:spPr>
        <p:txBody>
          <a:bodyPr/>
          <a:lstStyle>
            <a:lvl1pPr marL="228606" indent="-228606" algn="l" rtl="0" eaLnBrk="0" fontAlgn="base" latinLnBrk="1" hangingPunct="0">
              <a:spcBef>
                <a:spcPct val="20000"/>
              </a:spcBef>
              <a:spcAft>
                <a:spcPct val="0"/>
              </a:spcAft>
              <a:buClr>
                <a:srgbClr val="FF9900"/>
              </a:buClr>
              <a:buSzPct val="80000"/>
              <a:buFont typeface="Wingdings" pitchFamily="2" charset="2"/>
              <a:buChar char="n"/>
              <a:defRPr kumimoji="1" sz="2708" b="1">
                <a:solidFill>
                  <a:schemeClr val="tx1"/>
                </a:solidFill>
                <a:latin typeface="+mn-lt"/>
                <a:ea typeface="+mn-ea"/>
                <a:cs typeface="+mn-cs"/>
              </a:defRPr>
            </a:lvl1pPr>
            <a:lvl2pPr marL="668232" indent="-218836" algn="l" rtl="0" eaLnBrk="0" fontAlgn="base" latinLnBrk="1" hangingPunct="0">
              <a:spcBef>
                <a:spcPct val="20000"/>
              </a:spcBef>
              <a:spcAft>
                <a:spcPct val="0"/>
              </a:spcAft>
              <a:buClr>
                <a:srgbClr val="FF9900"/>
              </a:buClr>
              <a:buSzPct val="80000"/>
              <a:buFont typeface="Wingdings" pitchFamily="2" charset="2"/>
              <a:buChar char="l"/>
              <a:defRPr kumimoji="1" sz="2462">
                <a:solidFill>
                  <a:schemeClr val="tx1"/>
                </a:solidFill>
                <a:latin typeface="+mn-lt"/>
                <a:ea typeface="+mn-ea"/>
              </a:defRPr>
            </a:lvl2pPr>
            <a:lvl3pPr marL="1109812" indent="-220791" algn="l" rtl="0" eaLnBrk="0" fontAlgn="base" latinLnBrk="1" hangingPunct="0">
              <a:spcBef>
                <a:spcPct val="20000"/>
              </a:spcBef>
              <a:spcAft>
                <a:spcPct val="0"/>
              </a:spcAft>
              <a:buClr>
                <a:srgbClr val="FF9900"/>
              </a:buClr>
              <a:buSzPct val="60000"/>
              <a:buFont typeface="Wingdings" pitchFamily="2" charset="2"/>
              <a:buChar char="u"/>
              <a:defRPr kumimoji="1">
                <a:solidFill>
                  <a:schemeClr val="tx1"/>
                </a:solidFill>
                <a:latin typeface="+mn-lt"/>
                <a:ea typeface="+mn-ea"/>
              </a:defRPr>
            </a:lvl3pPr>
            <a:lvl4pPr marL="1549439" indent="-218836" algn="l" rtl="0" eaLnBrk="0" fontAlgn="base" latinLnBrk="1" hangingPunct="0">
              <a:spcBef>
                <a:spcPct val="20000"/>
              </a:spcBef>
              <a:spcAft>
                <a:spcPct val="0"/>
              </a:spcAft>
              <a:buClr>
                <a:srgbClr val="FF9900"/>
              </a:buClr>
              <a:buSzPct val="80000"/>
              <a:buFont typeface="Wingdings" pitchFamily="2" charset="2"/>
              <a:buChar char="ü"/>
              <a:defRPr kumimoji="1" sz="1969">
                <a:solidFill>
                  <a:schemeClr val="tx1"/>
                </a:solidFill>
                <a:latin typeface="+mn-lt"/>
                <a:ea typeface="+mn-ea"/>
              </a:defRPr>
            </a:lvl4pPr>
            <a:lvl5pPr marL="1989065" indent="-218836" algn="l" rtl="0" eaLnBrk="0" fontAlgn="base" latinLnBrk="1" hangingPunct="0">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5pPr>
            <a:lvl6pPr marL="2551787"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6pPr>
            <a:lvl7pPr marL="3114509"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7pPr>
            <a:lvl8pPr marL="3677230"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8pPr>
            <a:lvl9pPr marL="4239952"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9pPr>
          </a:lstStyle>
          <a:p>
            <a:pPr marL="0" indent="0" latinLnBrk="0">
              <a:buFont typeface="Wingdings" pitchFamily="2" charset="2"/>
              <a:buNone/>
            </a:pPr>
            <a:r>
              <a:rPr lang="en-IN" sz="1600" u="sng" kern="0" dirty="0">
                <a:latin typeface="Cambria" panose="02040503050406030204" pitchFamily="18" charset="0"/>
                <a:ea typeface="Cambria" panose="02040503050406030204" pitchFamily="18" charset="0"/>
              </a:rPr>
              <a:t>What is the idea?</a:t>
            </a:r>
          </a:p>
          <a:p>
            <a:pPr marL="0" indent="0">
              <a:buNone/>
            </a:pPr>
            <a:r>
              <a:rPr lang="en-IN" sz="1400" b="0" dirty="0">
                <a:latin typeface="Cambria" panose="02040503050406030204" pitchFamily="18" charset="0"/>
                <a:ea typeface="Cambria" panose="02040503050406030204" pitchFamily="18" charset="0"/>
              </a:rPr>
              <a:t>Instead of asking only "is this audio fake?", the system asks five questions:</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Is it fake?</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What kind of fake is it?</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How confident are we?</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Have we seen anything like this before?</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Why did we decide this?</a:t>
            </a:r>
          </a:p>
          <a:p>
            <a:pPr marL="0" indent="0" latinLnBrk="0">
              <a:buFont typeface="Wingdings" pitchFamily="2" charset="2"/>
              <a:buNone/>
            </a:pPr>
            <a:endParaRPr lang="en-IN" sz="1400" b="0" kern="0" dirty="0">
              <a:latin typeface="Cambria" panose="02040503050406030204" pitchFamily="18" charset="0"/>
              <a:ea typeface="Cambria" panose="02040503050406030204" pitchFamily="18" charset="0"/>
            </a:endParaRPr>
          </a:p>
        </p:txBody>
      </p:sp>
      <p:sp>
        <p:nvSpPr>
          <p:cNvPr id="5" name="Content Placeholder 1">
            <a:extLst>
              <a:ext uri="{FF2B5EF4-FFF2-40B4-BE49-F238E27FC236}">
                <a16:creationId xmlns:a16="http://schemas.microsoft.com/office/drawing/2014/main" id="{BF6112DD-2911-4E28-91CA-F2CAB0D58133}"/>
              </a:ext>
            </a:extLst>
          </p:cNvPr>
          <p:cNvSpPr txBox="1">
            <a:spLocks/>
          </p:cNvSpPr>
          <p:nvPr/>
        </p:nvSpPr>
        <p:spPr>
          <a:xfrm>
            <a:off x="424761" y="3872939"/>
            <a:ext cx="6895376" cy="2985061"/>
          </a:xfrm>
          <a:prstGeom prst="rect">
            <a:avLst/>
          </a:prstGeom>
        </p:spPr>
        <p:txBody>
          <a:bodyPr/>
          <a:lstStyle>
            <a:lvl1pPr marL="424181" indent="-424181" algn="l" defTabSz="1463040" rtl="0" eaLnBrk="1" latinLnBrk="1" hangingPunct="1">
              <a:lnSpc>
                <a:spcPct val="160000"/>
              </a:lnSpc>
              <a:spcBef>
                <a:spcPts val="0"/>
              </a:spcBef>
              <a:buSzPct val="110000"/>
              <a:buFontTx/>
              <a:buBlip>
                <a:blip r:embed="rId3"/>
              </a:buBlip>
              <a:defRPr sz="2880" b="1" kern="1200" baseline="0">
                <a:solidFill>
                  <a:schemeClr val="tx1"/>
                </a:solidFill>
                <a:latin typeface="Arial" panose="020B0604020202020204" pitchFamily="34" charset="0"/>
                <a:ea typeface="+mn-ea"/>
                <a:cs typeface="Arial" panose="020B0604020202020204" pitchFamily="34" charset="0"/>
              </a:defRPr>
            </a:lvl1pPr>
            <a:lvl2pPr marL="807720" indent="-320040" algn="l" defTabSz="1463040" rtl="0" eaLnBrk="1" latinLnBrk="1" hangingPunct="1">
              <a:lnSpc>
                <a:spcPct val="160000"/>
              </a:lnSpc>
              <a:spcBef>
                <a:spcPts val="0"/>
              </a:spcBef>
              <a:buSzPct val="110000"/>
              <a:buFont typeface="맑은 고딕" panose="020B0503020000020004" pitchFamily="50" charset="-127"/>
              <a:buChar char="-"/>
              <a:defRPr sz="2560" kern="1200">
                <a:solidFill>
                  <a:schemeClr val="tx1"/>
                </a:solidFill>
                <a:latin typeface="Arial" panose="020B0604020202020204" pitchFamily="34" charset="0"/>
                <a:ea typeface="+mn-ea"/>
                <a:cs typeface="Arial" panose="020B0604020202020204" pitchFamily="34" charset="0"/>
              </a:defRPr>
            </a:lvl2pPr>
            <a:lvl3pPr marL="1143000" indent="-243840" algn="l" defTabSz="1463040" rtl="0" eaLnBrk="1" latinLnBrk="1" hangingPunct="1">
              <a:lnSpc>
                <a:spcPct val="160000"/>
              </a:lnSpc>
              <a:spcBef>
                <a:spcPts val="0"/>
              </a:spcBef>
              <a:buSzPct val="110000"/>
              <a:buFont typeface="Arial" panose="020B0604020202020204" pitchFamily="34" charset="0"/>
              <a:buChar char="•"/>
              <a:defRPr sz="2240" kern="1200">
                <a:solidFill>
                  <a:schemeClr val="tx1"/>
                </a:solidFill>
                <a:latin typeface="Arial" panose="020B0604020202020204" pitchFamily="34" charset="0"/>
                <a:ea typeface="+mn-ea"/>
                <a:cs typeface="Arial" panose="020B0604020202020204" pitchFamily="34" charset="0"/>
              </a:defRPr>
            </a:lvl3pPr>
            <a:lvl4pPr marL="1150621" indent="-284480" algn="l" defTabSz="1463040" rtl="0" eaLnBrk="1" latinLnBrk="1" hangingPunct="1">
              <a:spcBef>
                <a:spcPct val="20000"/>
              </a:spcBef>
              <a:buFont typeface="Arial" panose="020B0604020202020204" pitchFamily="34" charset="0"/>
              <a:buChar char="–"/>
              <a:defRPr sz="2240" kern="1200">
                <a:solidFill>
                  <a:schemeClr val="tx1"/>
                </a:solidFill>
                <a:latin typeface="+mn-lt"/>
                <a:ea typeface="+mn-ea"/>
                <a:cs typeface="+mn-cs"/>
              </a:defRPr>
            </a:lvl4pPr>
            <a:lvl5pPr marL="329184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5pPr>
            <a:lvl6pPr marL="402336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eaLnBrk="0" latinLnBrk="0" hangingPunct="0">
              <a:lnSpc>
                <a:spcPct val="100000"/>
              </a:lnSpc>
              <a:buFontTx/>
              <a:buNone/>
            </a:pPr>
            <a:r>
              <a:rPr lang="en-IN" sz="1600" u="sng" dirty="0">
                <a:latin typeface="Cambria" panose="02040503050406030204" pitchFamily="18" charset="0"/>
                <a:ea typeface="Cambria" panose="02040503050406030204" pitchFamily="18" charset="0"/>
              </a:rPr>
              <a:t>Significance </a:t>
            </a:r>
          </a:p>
          <a:p>
            <a:pPr lvl="0" algn="just">
              <a:lnSpc>
                <a:spcPct val="100000"/>
              </a:lnSpc>
              <a:buFont typeface="Arial" panose="020B0604020202020204" pitchFamily="34" charset="0"/>
              <a:buChar char="•"/>
            </a:pPr>
            <a:r>
              <a:rPr lang="en-IN" sz="1400" b="0" dirty="0">
                <a:latin typeface="Cambria" panose="02040503050406030204" pitchFamily="18" charset="0"/>
                <a:ea typeface="Cambria" panose="02040503050406030204" pitchFamily="18" charset="0"/>
              </a:rPr>
              <a:t>Handles unseen or future generators by routing unfamiliar audio to human review instead of silently calling it "real"</a:t>
            </a:r>
          </a:p>
          <a:p>
            <a:pPr lvl="0" algn="just">
              <a:lnSpc>
                <a:spcPct val="100000"/>
              </a:lnSpc>
              <a:buFont typeface="Arial" panose="020B0604020202020204" pitchFamily="34" charset="0"/>
              <a:buChar char="•"/>
            </a:pPr>
            <a:r>
              <a:rPr lang="en-IN" sz="1400" b="0" dirty="0">
                <a:latin typeface="Cambria" panose="02040503050406030204" pitchFamily="18" charset="0"/>
                <a:ea typeface="Cambria" panose="02040503050406030204" pitchFamily="18" charset="0"/>
              </a:rPr>
              <a:t>Gives reviewers and compliance teams a defensible reason for every Block or          Review decision</a:t>
            </a:r>
          </a:p>
          <a:p>
            <a:pPr lvl="0" algn="just">
              <a:lnSpc>
                <a:spcPct val="100000"/>
              </a:lnSpc>
              <a:buFont typeface="Arial" panose="020B0604020202020204" pitchFamily="34" charset="0"/>
              <a:buChar char="•"/>
            </a:pPr>
            <a:r>
              <a:rPr lang="en-IN" sz="1400" b="0" dirty="0">
                <a:latin typeface="Cambria" panose="02040503050406030204" pitchFamily="18" charset="0"/>
                <a:ea typeface="Cambria" panose="02040503050406030204" pitchFamily="18" charset="0"/>
              </a:rPr>
              <a:t>More realistic, because it is built and tested against MP3, WhatsApp/Opus, noise,   reverb and mic variation</a:t>
            </a:r>
          </a:p>
          <a:p>
            <a:pPr lvl="0" algn="just">
              <a:lnSpc>
                <a:spcPct val="100000"/>
              </a:lnSpc>
              <a:buFont typeface="Arial" panose="020B0604020202020204" pitchFamily="34" charset="0"/>
              <a:buChar char="•"/>
            </a:pPr>
            <a:r>
              <a:rPr lang="en-IN" sz="1400" b="0" dirty="0">
                <a:latin typeface="Cambria" panose="02040503050406030204" pitchFamily="18" charset="0"/>
                <a:ea typeface="Cambria" panose="02040503050406030204" pitchFamily="18" charset="0"/>
              </a:rPr>
              <a:t>Addresses a critical pain point: voice-fraud calls and stored audio evidence</a:t>
            </a:r>
          </a:p>
          <a:p>
            <a:pPr marL="265113" indent="-265113" eaLnBrk="0" latinLnBrk="0" hangingPunct="0">
              <a:lnSpc>
                <a:spcPct val="100000"/>
              </a:lnSpc>
              <a:buFont typeface="Arial" panose="020B0604020202020204" pitchFamily="34" charset="0"/>
              <a:buChar char="•"/>
            </a:pPr>
            <a:endParaRPr lang="en-IN" sz="1400" b="0" dirty="0">
              <a:latin typeface="Cambria" panose="02040503050406030204" pitchFamily="18" charset="0"/>
              <a:ea typeface="Cambria" panose="02040503050406030204" pitchFamily="18" charset="0"/>
            </a:endParaRPr>
          </a:p>
        </p:txBody>
      </p:sp>
      <p:sp>
        <p:nvSpPr>
          <p:cNvPr id="6" name="Content Placeholder 1">
            <a:extLst>
              <a:ext uri="{FF2B5EF4-FFF2-40B4-BE49-F238E27FC236}">
                <a16:creationId xmlns:a16="http://schemas.microsoft.com/office/drawing/2014/main" id="{B1FD09F7-7D3B-4AB6-961D-11C52E9F7BCD}"/>
              </a:ext>
            </a:extLst>
          </p:cNvPr>
          <p:cNvSpPr txBox="1">
            <a:spLocks/>
          </p:cNvSpPr>
          <p:nvPr/>
        </p:nvSpPr>
        <p:spPr>
          <a:xfrm>
            <a:off x="424761" y="2694771"/>
            <a:ext cx="6895376" cy="1086728"/>
          </a:xfrm>
          <a:prstGeom prst="rect">
            <a:avLst/>
          </a:prstGeom>
        </p:spPr>
        <p:txBody>
          <a:bodyPr/>
          <a:lstStyle>
            <a:lvl1pPr marL="424181" indent="-424181" algn="l" defTabSz="1463040" rtl="0" eaLnBrk="1" latinLnBrk="1" hangingPunct="1">
              <a:lnSpc>
                <a:spcPct val="160000"/>
              </a:lnSpc>
              <a:spcBef>
                <a:spcPts val="0"/>
              </a:spcBef>
              <a:buSzPct val="110000"/>
              <a:buFontTx/>
              <a:buBlip>
                <a:blip r:embed="rId3"/>
              </a:buBlip>
              <a:defRPr sz="2880" b="1" kern="1200" baseline="0">
                <a:solidFill>
                  <a:schemeClr val="tx1"/>
                </a:solidFill>
                <a:latin typeface="Arial" panose="020B0604020202020204" pitchFamily="34" charset="0"/>
                <a:ea typeface="+mn-ea"/>
                <a:cs typeface="Arial" panose="020B0604020202020204" pitchFamily="34" charset="0"/>
              </a:defRPr>
            </a:lvl1pPr>
            <a:lvl2pPr marL="807720" indent="-320040" algn="l" defTabSz="1463040" rtl="0" eaLnBrk="1" latinLnBrk="1" hangingPunct="1">
              <a:lnSpc>
                <a:spcPct val="160000"/>
              </a:lnSpc>
              <a:spcBef>
                <a:spcPts val="0"/>
              </a:spcBef>
              <a:buSzPct val="110000"/>
              <a:buFont typeface="맑은 고딕" panose="020B0503020000020004" pitchFamily="50" charset="-127"/>
              <a:buChar char="-"/>
              <a:defRPr sz="2560" kern="1200">
                <a:solidFill>
                  <a:schemeClr val="tx1"/>
                </a:solidFill>
                <a:latin typeface="Arial" panose="020B0604020202020204" pitchFamily="34" charset="0"/>
                <a:ea typeface="+mn-ea"/>
                <a:cs typeface="Arial" panose="020B0604020202020204" pitchFamily="34" charset="0"/>
              </a:defRPr>
            </a:lvl2pPr>
            <a:lvl3pPr marL="1143000" indent="-243840" algn="l" defTabSz="1463040" rtl="0" eaLnBrk="1" latinLnBrk="1" hangingPunct="1">
              <a:lnSpc>
                <a:spcPct val="160000"/>
              </a:lnSpc>
              <a:spcBef>
                <a:spcPts val="0"/>
              </a:spcBef>
              <a:buSzPct val="110000"/>
              <a:buFont typeface="Arial" panose="020B0604020202020204" pitchFamily="34" charset="0"/>
              <a:buChar char="•"/>
              <a:defRPr sz="2240" kern="1200">
                <a:solidFill>
                  <a:schemeClr val="tx1"/>
                </a:solidFill>
                <a:latin typeface="Arial" panose="020B0604020202020204" pitchFamily="34" charset="0"/>
                <a:ea typeface="+mn-ea"/>
                <a:cs typeface="Arial" panose="020B0604020202020204" pitchFamily="34" charset="0"/>
              </a:defRPr>
            </a:lvl3pPr>
            <a:lvl4pPr marL="1150621" indent="-284480" algn="l" defTabSz="1463040" rtl="0" eaLnBrk="1" latinLnBrk="1" hangingPunct="1">
              <a:spcBef>
                <a:spcPct val="20000"/>
              </a:spcBef>
              <a:buFont typeface="Arial" panose="020B0604020202020204" pitchFamily="34" charset="0"/>
              <a:buChar char="–"/>
              <a:defRPr sz="2240" kern="1200">
                <a:solidFill>
                  <a:schemeClr val="tx1"/>
                </a:solidFill>
                <a:latin typeface="+mn-lt"/>
                <a:ea typeface="+mn-ea"/>
                <a:cs typeface="+mn-cs"/>
              </a:defRPr>
            </a:lvl4pPr>
            <a:lvl5pPr marL="329184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5pPr>
            <a:lvl6pPr marL="402336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eaLnBrk="0" latinLnBrk="0" hangingPunct="0">
              <a:lnSpc>
                <a:spcPct val="100000"/>
              </a:lnSpc>
              <a:buFontTx/>
              <a:buNone/>
            </a:pPr>
            <a:r>
              <a:rPr lang="en-IN" sz="1600" u="sng" dirty="0">
                <a:latin typeface="Cambria" panose="02040503050406030204" pitchFamily="18" charset="0"/>
                <a:ea typeface="Cambria" panose="02040503050406030204" pitchFamily="18" charset="0"/>
              </a:rPr>
              <a:t>Why is it useful?</a:t>
            </a:r>
          </a:p>
          <a:p>
            <a:pPr marL="0" indent="0" eaLnBrk="0" latinLnBrk="0" hangingPunct="0">
              <a:lnSpc>
                <a:spcPct val="100000"/>
              </a:lnSpc>
              <a:buNone/>
            </a:pPr>
            <a:r>
              <a:rPr lang="en-IN" sz="1400" b="0" dirty="0">
                <a:latin typeface="Cambria" panose="02040503050406030204" pitchFamily="18" charset="0"/>
                <a:ea typeface="Cambria" panose="02040503050406030204" pitchFamily="18" charset="0"/>
              </a:rPr>
              <a:t>Voice cloning is improving fast, and a detector trained on today's generators can fail on tomorrow's. Enterprises need decisions they can defend, not just a score.</a:t>
            </a:r>
          </a:p>
        </p:txBody>
      </p:sp>
      <p:pic>
        <p:nvPicPr>
          <p:cNvPr id="7" name="Picture 6">
            <a:extLst>
              <a:ext uri="{FF2B5EF4-FFF2-40B4-BE49-F238E27FC236}">
                <a16:creationId xmlns:a16="http://schemas.microsoft.com/office/drawing/2014/main" id="{A09DFECC-7CFA-346F-B600-FDE4CE599A38}"/>
              </a:ext>
            </a:extLst>
          </p:cNvPr>
          <p:cNvPicPr>
            <a:picLocks noChangeAspect="1"/>
          </p:cNvPicPr>
          <p:nvPr/>
        </p:nvPicPr>
        <p:blipFill>
          <a:blip r:embed="rId4"/>
          <a:srcRect l="13561" r="13929" b="5817"/>
          <a:stretch>
            <a:fillRect/>
          </a:stretch>
        </p:blipFill>
        <p:spPr>
          <a:xfrm>
            <a:off x="7248128" y="908720"/>
            <a:ext cx="4803098" cy="4686560"/>
          </a:xfrm>
          <a:prstGeom prst="rect">
            <a:avLst/>
          </a:prstGeom>
        </p:spPr>
      </p:pic>
    </p:spTree>
    <p:extLst>
      <p:ext uri="{BB962C8B-B14F-4D97-AF65-F5344CB8AC3E}">
        <p14:creationId xmlns:p14="http://schemas.microsoft.com/office/powerpoint/2010/main" val="3728522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91344" y="40"/>
            <a:ext cx="11519877" cy="797169"/>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Opportunity Review: Current Solution</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4" name="Content Placeholder 1">
            <a:extLst>
              <a:ext uri="{FF2B5EF4-FFF2-40B4-BE49-F238E27FC236}">
                <a16:creationId xmlns:a16="http://schemas.microsoft.com/office/drawing/2014/main" id="{08BFE98F-AE6F-463C-A6B5-86B218EA373B}"/>
              </a:ext>
            </a:extLst>
          </p:cNvPr>
          <p:cNvSpPr txBox="1">
            <a:spLocks/>
          </p:cNvSpPr>
          <p:nvPr/>
        </p:nvSpPr>
        <p:spPr>
          <a:xfrm>
            <a:off x="407369" y="860194"/>
            <a:ext cx="6895376" cy="3072861"/>
          </a:xfrm>
          <a:prstGeom prst="rect">
            <a:avLst/>
          </a:prstGeom>
        </p:spPr>
        <p:txBody>
          <a:bodyPr/>
          <a:lstStyle>
            <a:lvl1pPr marL="228606" indent="-228606" algn="l" rtl="0" eaLnBrk="0" fontAlgn="base" latinLnBrk="1" hangingPunct="0">
              <a:spcBef>
                <a:spcPct val="20000"/>
              </a:spcBef>
              <a:spcAft>
                <a:spcPct val="0"/>
              </a:spcAft>
              <a:buClr>
                <a:srgbClr val="FF9900"/>
              </a:buClr>
              <a:buSzPct val="80000"/>
              <a:buFont typeface="Wingdings" pitchFamily="2" charset="2"/>
              <a:buChar char="n"/>
              <a:defRPr kumimoji="1" sz="2708" b="1">
                <a:solidFill>
                  <a:schemeClr val="tx1"/>
                </a:solidFill>
                <a:latin typeface="+mn-lt"/>
                <a:ea typeface="+mn-ea"/>
                <a:cs typeface="+mn-cs"/>
              </a:defRPr>
            </a:lvl1pPr>
            <a:lvl2pPr marL="668232" indent="-218836" algn="l" rtl="0" eaLnBrk="0" fontAlgn="base" latinLnBrk="1" hangingPunct="0">
              <a:spcBef>
                <a:spcPct val="20000"/>
              </a:spcBef>
              <a:spcAft>
                <a:spcPct val="0"/>
              </a:spcAft>
              <a:buClr>
                <a:srgbClr val="FF9900"/>
              </a:buClr>
              <a:buSzPct val="80000"/>
              <a:buFont typeface="Wingdings" pitchFamily="2" charset="2"/>
              <a:buChar char="l"/>
              <a:defRPr kumimoji="1" sz="2462">
                <a:solidFill>
                  <a:schemeClr val="tx1"/>
                </a:solidFill>
                <a:latin typeface="+mn-lt"/>
                <a:ea typeface="+mn-ea"/>
              </a:defRPr>
            </a:lvl2pPr>
            <a:lvl3pPr marL="1109812" indent="-220791" algn="l" rtl="0" eaLnBrk="0" fontAlgn="base" latinLnBrk="1" hangingPunct="0">
              <a:spcBef>
                <a:spcPct val="20000"/>
              </a:spcBef>
              <a:spcAft>
                <a:spcPct val="0"/>
              </a:spcAft>
              <a:buClr>
                <a:srgbClr val="FF9900"/>
              </a:buClr>
              <a:buSzPct val="60000"/>
              <a:buFont typeface="Wingdings" pitchFamily="2" charset="2"/>
              <a:buChar char="u"/>
              <a:defRPr kumimoji="1">
                <a:solidFill>
                  <a:schemeClr val="tx1"/>
                </a:solidFill>
                <a:latin typeface="+mn-lt"/>
                <a:ea typeface="+mn-ea"/>
              </a:defRPr>
            </a:lvl3pPr>
            <a:lvl4pPr marL="1549439" indent="-218836" algn="l" rtl="0" eaLnBrk="0" fontAlgn="base" latinLnBrk="1" hangingPunct="0">
              <a:spcBef>
                <a:spcPct val="20000"/>
              </a:spcBef>
              <a:spcAft>
                <a:spcPct val="0"/>
              </a:spcAft>
              <a:buClr>
                <a:srgbClr val="FF9900"/>
              </a:buClr>
              <a:buSzPct val="80000"/>
              <a:buFont typeface="Wingdings" pitchFamily="2" charset="2"/>
              <a:buChar char="ü"/>
              <a:defRPr kumimoji="1" sz="1969">
                <a:solidFill>
                  <a:schemeClr val="tx1"/>
                </a:solidFill>
                <a:latin typeface="+mn-lt"/>
                <a:ea typeface="+mn-ea"/>
              </a:defRPr>
            </a:lvl4pPr>
            <a:lvl5pPr marL="1989065" indent="-218836" algn="l" rtl="0" eaLnBrk="0" fontAlgn="base" latinLnBrk="1" hangingPunct="0">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5pPr>
            <a:lvl6pPr marL="2551787"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6pPr>
            <a:lvl7pPr marL="3114509"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7pPr>
            <a:lvl8pPr marL="3677230"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8pPr>
            <a:lvl9pPr marL="4239952"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9pPr>
          </a:lstStyle>
          <a:p>
            <a:pPr marL="87313" lvl="1" indent="0" algn="just" defTabSz="1741475">
              <a:lnSpc>
                <a:spcPct val="100000"/>
              </a:lnSpc>
              <a:buSzTx/>
              <a:buNone/>
              <a:defRPr/>
            </a:pPr>
            <a:r>
              <a:rPr lang="en-IN" altLang="ko-KR" sz="1800" b="1" u="sng" dirty="0">
                <a:latin typeface="Cambria" panose="02040503050406030204" pitchFamily="18" charset="0"/>
                <a:ea typeface="Cambria" panose="02040503050406030204" pitchFamily="18" charset="0"/>
                <a:cs typeface="Calibri" panose="020F0502020204030204" pitchFamily="34" charset="0"/>
              </a:rPr>
              <a:t>What are the current solutions </a:t>
            </a:r>
            <a:r>
              <a:rPr lang="en-IN" sz="1800" b="1" u="sng" dirty="0">
                <a:latin typeface="Cambria" panose="02040503050406030204" pitchFamily="18" charset="0"/>
                <a:ea typeface="Cambria" panose="02040503050406030204" pitchFamily="18" charset="0"/>
              </a:rPr>
              <a:t>?</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Single-channel spectrogram CNN detectors</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Standard SE-</a:t>
            </a:r>
            <a:r>
              <a:rPr lang="en-IN" sz="1400" b="0" dirty="0" err="1">
                <a:latin typeface="Cambria" panose="02040503050406030204" pitchFamily="18" charset="0"/>
                <a:ea typeface="Cambria" panose="02040503050406030204" pitchFamily="18" charset="0"/>
              </a:rPr>
              <a:t>ResNet</a:t>
            </a:r>
            <a:r>
              <a:rPr lang="en-IN" sz="1400" b="0" dirty="0">
                <a:latin typeface="Cambria" panose="02040503050406030204" pitchFamily="18" charset="0"/>
                <a:ea typeface="Cambria" panose="02040503050406030204" pitchFamily="18" charset="0"/>
              </a:rPr>
              <a:t>-style classifiers adapted from the image domain</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Static single-threshold binary classifiers (one probability, one cutoff)</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Closed-set classifiers that assume a fixed, known list of generators</a:t>
            </a:r>
          </a:p>
          <a:p>
            <a:pPr>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Generic Grad-CAM/SHAP saliency for explanation</a:t>
            </a:r>
          </a:p>
          <a:p>
            <a:pPr marL="715963" indent="-263525" algn="just" eaLnBrk="0" latinLnBrk="0" hangingPunct="0">
              <a:lnSpc>
                <a:spcPct val="100000"/>
              </a:lnSpc>
              <a:buFont typeface="Arial" panose="020B0604020202020204" pitchFamily="34" charset="0"/>
              <a:buChar char="•"/>
            </a:pPr>
            <a:endParaRPr lang="en-IN" sz="1600" b="0" i="0" u="sng" dirty="0">
              <a:solidFill>
                <a:schemeClr val="tx1"/>
              </a:solidFill>
              <a:latin typeface="Cambria" panose="02040503050406030204" pitchFamily="18" charset="0"/>
              <a:ea typeface="Cambria" panose="02040503050406030204" pitchFamily="18" charset="0"/>
            </a:endParaRPr>
          </a:p>
          <a:p>
            <a:pPr marL="542925" lvl="1" indent="0" algn="just" defTabSz="1741475">
              <a:lnSpc>
                <a:spcPct val="100000"/>
              </a:lnSpc>
              <a:buSzTx/>
              <a:buNone/>
              <a:defRPr/>
            </a:pPr>
            <a:endParaRPr lang="en-IN" altLang="ko-KR" sz="1800" dirty="0">
              <a:latin typeface="Cambria" panose="02040503050406030204" pitchFamily="18" charset="0"/>
              <a:ea typeface="Cambria" panose="02040503050406030204" pitchFamily="18" charset="0"/>
            </a:endParaRPr>
          </a:p>
        </p:txBody>
      </p:sp>
      <p:pic>
        <p:nvPicPr>
          <p:cNvPr id="7171" name="Picture 7170" descr="legacy_pipeline.png"/>
          <p:cNvPicPr>
            <a:picLocks noChangeAspect="1"/>
          </p:cNvPicPr>
          <p:nvPr/>
        </p:nvPicPr>
        <p:blipFill>
          <a:blip r:embed="rId3"/>
          <a:stretch>
            <a:fillRect/>
          </a:stretch>
        </p:blipFill>
        <p:spPr>
          <a:xfrm>
            <a:off x="7320137" y="1600000"/>
            <a:ext cx="4032448" cy="2268252"/>
          </a:xfrm>
          <a:prstGeom prst="rect">
            <a:avLst/>
          </a:prstGeom>
        </p:spPr>
      </p:pic>
    </p:spTree>
    <p:extLst>
      <p:ext uri="{BB962C8B-B14F-4D97-AF65-F5344CB8AC3E}">
        <p14:creationId xmlns:p14="http://schemas.microsoft.com/office/powerpoint/2010/main" val="2101553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91344" y="40"/>
            <a:ext cx="11519877" cy="797169"/>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Opportunity Review: Current Solution</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4" name="Content Placeholder 1">
            <a:extLst>
              <a:ext uri="{FF2B5EF4-FFF2-40B4-BE49-F238E27FC236}">
                <a16:creationId xmlns:a16="http://schemas.microsoft.com/office/drawing/2014/main" id="{08BFE98F-AE6F-463C-A6B5-86B218EA373B}"/>
              </a:ext>
            </a:extLst>
          </p:cNvPr>
          <p:cNvSpPr txBox="1">
            <a:spLocks/>
          </p:cNvSpPr>
          <p:nvPr/>
        </p:nvSpPr>
        <p:spPr>
          <a:xfrm>
            <a:off x="407369" y="860194"/>
            <a:ext cx="6895376" cy="2784829"/>
          </a:xfrm>
          <a:prstGeom prst="rect">
            <a:avLst/>
          </a:prstGeom>
        </p:spPr>
        <p:txBody>
          <a:bodyPr/>
          <a:lstStyle>
            <a:lvl1pPr marL="228606" indent="-228606" algn="l" rtl="0" eaLnBrk="0" fontAlgn="base" latinLnBrk="1" hangingPunct="0">
              <a:spcBef>
                <a:spcPct val="20000"/>
              </a:spcBef>
              <a:spcAft>
                <a:spcPct val="0"/>
              </a:spcAft>
              <a:buClr>
                <a:srgbClr val="FF9900"/>
              </a:buClr>
              <a:buSzPct val="80000"/>
              <a:buFont typeface="Wingdings" pitchFamily="2" charset="2"/>
              <a:buChar char="n"/>
              <a:defRPr kumimoji="1" sz="2708" b="1">
                <a:solidFill>
                  <a:schemeClr val="tx1"/>
                </a:solidFill>
                <a:latin typeface="+mn-lt"/>
                <a:ea typeface="+mn-ea"/>
                <a:cs typeface="+mn-cs"/>
              </a:defRPr>
            </a:lvl1pPr>
            <a:lvl2pPr marL="668232" indent="-218836" algn="l" rtl="0" eaLnBrk="0" fontAlgn="base" latinLnBrk="1" hangingPunct="0">
              <a:spcBef>
                <a:spcPct val="20000"/>
              </a:spcBef>
              <a:spcAft>
                <a:spcPct val="0"/>
              </a:spcAft>
              <a:buClr>
                <a:srgbClr val="FF9900"/>
              </a:buClr>
              <a:buSzPct val="80000"/>
              <a:buFont typeface="Wingdings" pitchFamily="2" charset="2"/>
              <a:buChar char="l"/>
              <a:defRPr kumimoji="1" sz="2462">
                <a:solidFill>
                  <a:schemeClr val="tx1"/>
                </a:solidFill>
                <a:latin typeface="+mn-lt"/>
                <a:ea typeface="+mn-ea"/>
              </a:defRPr>
            </a:lvl2pPr>
            <a:lvl3pPr marL="1109812" indent="-220791" algn="l" rtl="0" eaLnBrk="0" fontAlgn="base" latinLnBrk="1" hangingPunct="0">
              <a:spcBef>
                <a:spcPct val="20000"/>
              </a:spcBef>
              <a:spcAft>
                <a:spcPct val="0"/>
              </a:spcAft>
              <a:buClr>
                <a:srgbClr val="FF9900"/>
              </a:buClr>
              <a:buSzPct val="60000"/>
              <a:buFont typeface="Wingdings" pitchFamily="2" charset="2"/>
              <a:buChar char="u"/>
              <a:defRPr kumimoji="1">
                <a:solidFill>
                  <a:schemeClr val="tx1"/>
                </a:solidFill>
                <a:latin typeface="+mn-lt"/>
                <a:ea typeface="+mn-ea"/>
              </a:defRPr>
            </a:lvl3pPr>
            <a:lvl4pPr marL="1549439" indent="-218836" algn="l" rtl="0" eaLnBrk="0" fontAlgn="base" latinLnBrk="1" hangingPunct="0">
              <a:spcBef>
                <a:spcPct val="20000"/>
              </a:spcBef>
              <a:spcAft>
                <a:spcPct val="0"/>
              </a:spcAft>
              <a:buClr>
                <a:srgbClr val="FF9900"/>
              </a:buClr>
              <a:buSzPct val="80000"/>
              <a:buFont typeface="Wingdings" pitchFamily="2" charset="2"/>
              <a:buChar char="ü"/>
              <a:defRPr kumimoji="1" sz="1969">
                <a:solidFill>
                  <a:schemeClr val="tx1"/>
                </a:solidFill>
                <a:latin typeface="+mn-lt"/>
                <a:ea typeface="+mn-ea"/>
              </a:defRPr>
            </a:lvl4pPr>
            <a:lvl5pPr marL="1989065" indent="-218836" algn="l" rtl="0" eaLnBrk="0" fontAlgn="base" latinLnBrk="1" hangingPunct="0">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5pPr>
            <a:lvl6pPr marL="2551787"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6pPr>
            <a:lvl7pPr marL="3114509"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7pPr>
            <a:lvl8pPr marL="3677230"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8pPr>
            <a:lvl9pPr marL="4239952"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9pPr>
          </a:lstStyle>
          <a:p>
            <a:pPr marL="87313" lvl="1" indent="0" algn="just" defTabSz="1741475">
              <a:lnSpc>
                <a:spcPct val="100000"/>
              </a:lnSpc>
              <a:buSzTx/>
              <a:buNone/>
              <a:defRPr/>
            </a:pPr>
            <a:r>
              <a:rPr lang="en-IN" altLang="ko-KR" sz="1800" b="1" u="sng" dirty="0">
                <a:latin typeface="Cambria" panose="02040503050406030204" pitchFamily="18" charset="0"/>
                <a:ea typeface="Cambria" panose="02040503050406030204" pitchFamily="18" charset="0"/>
                <a:cs typeface="Calibri" panose="020F0502020204030204" pitchFamily="34" charset="0"/>
              </a:rPr>
              <a:t>Pain Points of Current Solutions</a:t>
            </a:r>
            <a:endParaRPr lang="en-IN" altLang="ko-KR" sz="1400" b="1" u="sng" dirty="0">
              <a:latin typeface="Cambria" panose="02040503050406030204" pitchFamily="18" charset="0"/>
              <a:ea typeface="Cambria" panose="02040503050406030204" pitchFamily="18" charset="0"/>
            </a:endParaRPr>
          </a:p>
          <a:p>
            <a:pPr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They output only real/fake, so there is no attack type.</a:t>
            </a:r>
          </a:p>
          <a:p>
            <a:pPr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The raw sigmoid is often poorly calibrated, so confidence can't be trusted.</a:t>
            </a:r>
          </a:p>
          <a:p>
            <a:pPr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Closed-set training means unseen generators get silently misclassified as real.</a:t>
            </a:r>
          </a:p>
          <a:p>
            <a:pPr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Accuracy is reported on a single held-out set. </a:t>
            </a:r>
            <a:r>
              <a:rPr lang="en-IN" sz="1400" b="0" dirty="0" err="1">
                <a:latin typeface="Cambria" panose="02040503050406030204" pitchFamily="18" charset="0"/>
                <a:ea typeface="Cambria" panose="02040503050406030204" pitchFamily="18" charset="0"/>
              </a:rPr>
              <a:t>DeepShield's</a:t>
            </a:r>
            <a:r>
              <a:rPr lang="en-IN" sz="1400" b="0" dirty="0">
                <a:latin typeface="Cambria" panose="02040503050406030204" pitchFamily="18" charset="0"/>
                <a:ea typeface="Cambria" panose="02040503050406030204" pitchFamily="18" charset="0"/>
              </a:rPr>
              <a:t> own earlier random-split  result of 99.00% dropped to a realistic ~94.5% once same-speaker leakage was          accounted for.</a:t>
            </a:r>
          </a:p>
          <a:p>
            <a:pPr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Compression, noise, reverb and device variation are rarely tested.</a:t>
            </a:r>
          </a:p>
          <a:p>
            <a:pPr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Generic saliency maps aren't specific to why audio is fake.</a:t>
            </a:r>
          </a:p>
          <a:p>
            <a:pPr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Training data diversity (language, gender, accent, emotion, speaking rate) is                 unaudited.</a:t>
            </a:r>
          </a:p>
          <a:p>
            <a:pPr marL="87313" lvl="1" indent="0" algn="just" defTabSz="1741475">
              <a:buClr>
                <a:schemeClr val="tx1"/>
              </a:buClr>
              <a:buSzTx/>
              <a:buNone/>
              <a:defRPr/>
            </a:pPr>
            <a:endParaRPr lang="en-IN" altLang="ko-KR" sz="1400" b="1" dirty="0">
              <a:latin typeface="Cambria" panose="02040503050406030204" pitchFamily="18" charset="0"/>
              <a:ea typeface="Cambria" panose="02040503050406030204" pitchFamily="18" charset="0"/>
            </a:endParaRPr>
          </a:p>
          <a:p>
            <a:pPr marL="87313" lvl="1" indent="0" algn="just" defTabSz="1741475">
              <a:lnSpc>
                <a:spcPct val="100000"/>
              </a:lnSpc>
              <a:buSzTx/>
              <a:buNone/>
              <a:defRPr/>
            </a:pPr>
            <a:endParaRPr lang="en-IN" altLang="ko-KR" sz="1800" b="1" dirty="0">
              <a:latin typeface="Cambria" panose="02040503050406030204" pitchFamily="18" charset="0"/>
              <a:ea typeface="Cambria" panose="02040503050406030204" pitchFamily="18" charset="0"/>
            </a:endParaRPr>
          </a:p>
          <a:p>
            <a:pPr marL="87313" lvl="1" indent="0" algn="just" defTabSz="1741475">
              <a:lnSpc>
                <a:spcPct val="100000"/>
              </a:lnSpc>
              <a:buSzTx/>
              <a:buNone/>
              <a:defRPr/>
            </a:pPr>
            <a:r>
              <a:rPr lang="en-IN" altLang="ko-KR" sz="1800" b="1" dirty="0">
                <a:latin typeface="Cambria" panose="02040503050406030204" pitchFamily="18" charset="0"/>
                <a:ea typeface="Cambria" panose="02040503050406030204" pitchFamily="18" charset="0"/>
              </a:rPr>
              <a:t>Key Gaps : </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No joint attribution, novelty and uncertainty routing</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No defensible explanation</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No generalization or robustness guarantees</a:t>
            </a:r>
          </a:p>
          <a:p>
            <a:pPr marL="87313" lvl="1" indent="0" algn="just" defTabSz="1741475">
              <a:lnSpc>
                <a:spcPct val="100000"/>
              </a:lnSpc>
              <a:buSzTx/>
              <a:buNone/>
              <a:defRPr/>
            </a:pPr>
            <a:endParaRPr lang="en-IN" altLang="ko-KR" sz="1800" b="1" dirty="0">
              <a:latin typeface="Cambria" panose="02040503050406030204" pitchFamily="18" charset="0"/>
              <a:ea typeface="Cambria" panose="02040503050406030204" pitchFamily="18" charset="0"/>
            </a:endParaRPr>
          </a:p>
        </p:txBody>
      </p:sp>
      <p:pic>
        <p:nvPicPr>
          <p:cNvPr id="7171" name="Picture 7170" descr="closed_set_blind_spot.png"/>
          <p:cNvPicPr>
            <a:picLocks noChangeAspect="1"/>
          </p:cNvPicPr>
          <p:nvPr/>
        </p:nvPicPr>
        <p:blipFill>
          <a:blip r:embed="rId3"/>
          <a:stretch>
            <a:fillRect/>
          </a:stretch>
        </p:blipFill>
        <p:spPr>
          <a:xfrm>
            <a:off x="7320137" y="1600000"/>
            <a:ext cx="4032448" cy="2142238"/>
          </a:xfrm>
          <a:prstGeom prst="rect">
            <a:avLst/>
          </a:prstGeom>
        </p:spPr>
      </p:pic>
    </p:spTree>
    <p:extLst>
      <p:ext uri="{BB962C8B-B14F-4D97-AF65-F5344CB8AC3E}">
        <p14:creationId xmlns:p14="http://schemas.microsoft.com/office/powerpoint/2010/main" val="4162153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89759" y="270090"/>
            <a:ext cx="11519877" cy="766030"/>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Opportunity Review: Proposed</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4" name="Content Placeholder 5">
            <a:extLst>
              <a:ext uri="{FF2B5EF4-FFF2-40B4-BE49-F238E27FC236}">
                <a16:creationId xmlns:a16="http://schemas.microsoft.com/office/drawing/2014/main" id="{549B5234-EF21-40B6-8456-CCEA5B4951C3}"/>
              </a:ext>
            </a:extLst>
          </p:cNvPr>
          <p:cNvSpPr txBox="1">
            <a:spLocks/>
          </p:cNvSpPr>
          <p:nvPr/>
        </p:nvSpPr>
        <p:spPr>
          <a:xfrm>
            <a:off x="246956" y="1309936"/>
            <a:ext cx="6209084" cy="5277974"/>
          </a:xfrm>
          <a:prstGeom prst="rect">
            <a:avLst/>
          </a:prstGeom>
        </p:spPr>
        <p:txBody>
          <a:bodyPr/>
          <a:lstStyle>
            <a:lvl1pPr marL="228606" indent="-228606" algn="l" rtl="0" eaLnBrk="0" fontAlgn="base" latinLnBrk="1" hangingPunct="0">
              <a:spcBef>
                <a:spcPct val="20000"/>
              </a:spcBef>
              <a:spcAft>
                <a:spcPct val="0"/>
              </a:spcAft>
              <a:buClr>
                <a:srgbClr val="FF9900"/>
              </a:buClr>
              <a:buSzPct val="80000"/>
              <a:buFont typeface="Wingdings" pitchFamily="2" charset="2"/>
              <a:buChar char="n"/>
              <a:defRPr kumimoji="1" sz="2708" b="1">
                <a:solidFill>
                  <a:schemeClr val="tx1"/>
                </a:solidFill>
                <a:latin typeface="+mn-lt"/>
                <a:ea typeface="+mn-ea"/>
                <a:cs typeface="+mn-cs"/>
              </a:defRPr>
            </a:lvl1pPr>
            <a:lvl2pPr marL="668232" indent="-218836" algn="l" rtl="0" eaLnBrk="0" fontAlgn="base" latinLnBrk="1" hangingPunct="0">
              <a:spcBef>
                <a:spcPct val="20000"/>
              </a:spcBef>
              <a:spcAft>
                <a:spcPct val="0"/>
              </a:spcAft>
              <a:buClr>
                <a:srgbClr val="FF9900"/>
              </a:buClr>
              <a:buSzPct val="80000"/>
              <a:buFont typeface="Wingdings" pitchFamily="2" charset="2"/>
              <a:buChar char="l"/>
              <a:defRPr kumimoji="1" sz="2462">
                <a:solidFill>
                  <a:schemeClr val="tx1"/>
                </a:solidFill>
                <a:latin typeface="+mn-lt"/>
                <a:ea typeface="+mn-ea"/>
              </a:defRPr>
            </a:lvl2pPr>
            <a:lvl3pPr marL="1109812" indent="-220791" algn="l" rtl="0" eaLnBrk="0" fontAlgn="base" latinLnBrk="1" hangingPunct="0">
              <a:spcBef>
                <a:spcPct val="20000"/>
              </a:spcBef>
              <a:spcAft>
                <a:spcPct val="0"/>
              </a:spcAft>
              <a:buClr>
                <a:srgbClr val="FF9900"/>
              </a:buClr>
              <a:buSzPct val="60000"/>
              <a:buFont typeface="Wingdings" pitchFamily="2" charset="2"/>
              <a:buChar char="u"/>
              <a:defRPr kumimoji="1">
                <a:solidFill>
                  <a:schemeClr val="tx1"/>
                </a:solidFill>
                <a:latin typeface="+mn-lt"/>
                <a:ea typeface="+mn-ea"/>
              </a:defRPr>
            </a:lvl3pPr>
            <a:lvl4pPr marL="1549439" indent="-218836" algn="l" rtl="0" eaLnBrk="0" fontAlgn="base" latinLnBrk="1" hangingPunct="0">
              <a:spcBef>
                <a:spcPct val="20000"/>
              </a:spcBef>
              <a:spcAft>
                <a:spcPct val="0"/>
              </a:spcAft>
              <a:buClr>
                <a:srgbClr val="FF9900"/>
              </a:buClr>
              <a:buSzPct val="80000"/>
              <a:buFont typeface="Wingdings" pitchFamily="2" charset="2"/>
              <a:buChar char="ü"/>
              <a:defRPr kumimoji="1" sz="1969">
                <a:solidFill>
                  <a:schemeClr val="tx1"/>
                </a:solidFill>
                <a:latin typeface="+mn-lt"/>
                <a:ea typeface="+mn-ea"/>
              </a:defRPr>
            </a:lvl4pPr>
            <a:lvl5pPr marL="1989065" indent="-218836" algn="l" rtl="0" eaLnBrk="0" fontAlgn="base" latinLnBrk="1" hangingPunct="0">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5pPr>
            <a:lvl6pPr marL="2551787"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6pPr>
            <a:lvl7pPr marL="3114509"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7pPr>
            <a:lvl8pPr marL="3677230"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8pPr>
            <a:lvl9pPr marL="4239952"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9pPr>
          </a:lstStyle>
          <a:p>
            <a:pPr marL="0" indent="0" algn="just">
              <a:buFont typeface="Wingdings" pitchFamily="2" charset="2"/>
              <a:buNone/>
            </a:pPr>
            <a:r>
              <a:rPr lang="en-IN" sz="2400" u="sng" kern="0" dirty="0">
                <a:latin typeface="Cambria" panose="02040503050406030204" pitchFamily="18" charset="0"/>
                <a:ea typeface="Cambria" panose="02040503050406030204" pitchFamily="18" charset="0"/>
              </a:rPr>
              <a:t>Proposed new engine ?:</a:t>
            </a:r>
          </a:p>
          <a:p>
            <a:pPr marL="0" indent="0">
              <a:buClr>
                <a:schemeClr val="tx1"/>
              </a:buClr>
              <a:buNone/>
            </a:pPr>
            <a:r>
              <a:rPr lang="en-IN" sz="1400" b="0" dirty="0" err="1">
                <a:latin typeface="Cambria" panose="02040503050406030204" pitchFamily="18" charset="0"/>
                <a:ea typeface="Cambria" panose="02040503050406030204" pitchFamily="18" charset="0"/>
              </a:rPr>
              <a:t>DeepShield</a:t>
            </a:r>
            <a:r>
              <a:rPr lang="en-IN" sz="1400" b="0" dirty="0">
                <a:latin typeface="Cambria" panose="02040503050406030204" pitchFamily="18" charset="0"/>
                <a:ea typeface="Cambria" panose="02040503050406030204" pitchFamily="18" charset="0"/>
              </a:rPr>
              <a:t> Multi-Head Audio Trust Engine :</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Robustness-aware augmentation</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Dual-channel 2 × 64 × 94 feature grid</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ResNet-34 + SE backbone</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Shared 128-d embedding</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Four parallel heads</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Explainability layer</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Risk-aware gateway</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Continual-learning loop</a:t>
            </a:r>
          </a:p>
          <a:p>
            <a:pPr lvl="0">
              <a:buClr>
                <a:schemeClr val="tx1"/>
              </a:buClr>
              <a:buFont typeface="Arial" panose="020B0604020202020204" pitchFamily="34" charset="0"/>
              <a:buChar char="•"/>
            </a:pPr>
            <a:endParaRPr lang="en-IN" sz="2000" b="0" kern="0" dirty="0">
              <a:latin typeface="Cambria" panose="02040503050406030204" pitchFamily="18" charset="0"/>
              <a:ea typeface="Cambria" panose="02040503050406030204" pitchFamily="18" charset="0"/>
            </a:endParaRPr>
          </a:p>
          <a:p>
            <a:pPr marL="0" indent="0" algn="just">
              <a:buFont typeface="Wingdings" pitchFamily="2" charset="2"/>
              <a:buNone/>
            </a:pPr>
            <a:r>
              <a:rPr lang="en-IN" sz="2400" u="sng" kern="0" dirty="0">
                <a:latin typeface="Cambria" panose="02040503050406030204" pitchFamily="18" charset="0"/>
                <a:ea typeface="Cambria" panose="02040503050406030204" pitchFamily="18" charset="0"/>
              </a:rPr>
              <a:t>What are the advantages:</a:t>
            </a:r>
          </a:p>
          <a:p>
            <a:pPr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Answers "what kind of fake" as well as "is it fake"</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Flags novel generators via an open-set head fit on real speech only</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Calibrated confidence from MC-dropout/ensemble variance</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Routing is a joint function of spoof score, novelty and uncertainty</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Deterministic rationale for every decision</a:t>
            </a:r>
          </a:p>
          <a:p>
            <a:pPr lvl="0">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Stays current through versioned, incremental fine-tuning</a:t>
            </a:r>
          </a:p>
          <a:p>
            <a:pPr algn="just">
              <a:buClr>
                <a:schemeClr val="tx1"/>
              </a:buClr>
              <a:buFont typeface="Arial" panose="020B0604020202020204" pitchFamily="34" charset="0"/>
              <a:buChar char="•"/>
            </a:pPr>
            <a:endParaRPr lang="en-IN" sz="1400" b="0" kern="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640B5226-D1BF-84CA-D3DB-23442497EC8E}"/>
              </a:ext>
            </a:extLst>
          </p:cNvPr>
          <p:cNvPicPr>
            <a:picLocks noChangeAspect="1"/>
          </p:cNvPicPr>
          <p:nvPr/>
        </p:nvPicPr>
        <p:blipFill>
          <a:blip r:embed="rId3"/>
          <a:srcRect l="14286" t="2578" r="14285" b="2616"/>
          <a:stretch>
            <a:fillRect/>
          </a:stretch>
        </p:blipFill>
        <p:spPr>
          <a:xfrm>
            <a:off x="7248128" y="136557"/>
            <a:ext cx="3240360" cy="64513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89759" y="270090"/>
            <a:ext cx="11519877" cy="766030"/>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Opportunity Review: </a:t>
            </a:r>
            <a:r>
              <a:rPr lang="en-IN" altLang="ko-KR" sz="2400" dirty="0">
                <a:solidFill>
                  <a:schemeClr val="tx1"/>
                </a:solidFill>
                <a:latin typeface="Cambria" panose="02040503050406030204" pitchFamily="18" charset="0"/>
                <a:ea typeface="Cambria" panose="02040503050406030204" pitchFamily="18" charset="0"/>
              </a:rPr>
              <a:t>Why the new engine works?</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4" name="Content Placeholder 5">
            <a:extLst>
              <a:ext uri="{FF2B5EF4-FFF2-40B4-BE49-F238E27FC236}">
                <a16:creationId xmlns:a16="http://schemas.microsoft.com/office/drawing/2014/main" id="{549B5234-EF21-40B6-8456-CCEA5B4951C3}"/>
              </a:ext>
            </a:extLst>
          </p:cNvPr>
          <p:cNvSpPr txBox="1">
            <a:spLocks/>
          </p:cNvSpPr>
          <p:nvPr/>
        </p:nvSpPr>
        <p:spPr>
          <a:xfrm>
            <a:off x="246956" y="1309936"/>
            <a:ext cx="6209084" cy="6048672"/>
          </a:xfrm>
          <a:prstGeom prst="rect">
            <a:avLst/>
          </a:prstGeom>
        </p:spPr>
        <p:txBody>
          <a:bodyPr/>
          <a:lstStyle>
            <a:lvl1pPr marL="228606" indent="-228606" algn="l" rtl="0" eaLnBrk="0" fontAlgn="base" latinLnBrk="1" hangingPunct="0">
              <a:spcBef>
                <a:spcPct val="20000"/>
              </a:spcBef>
              <a:spcAft>
                <a:spcPct val="0"/>
              </a:spcAft>
              <a:buClr>
                <a:srgbClr val="FF9900"/>
              </a:buClr>
              <a:buSzPct val="80000"/>
              <a:buFont typeface="Wingdings" pitchFamily="2" charset="2"/>
              <a:buChar char="n"/>
              <a:defRPr kumimoji="1" sz="2708" b="1">
                <a:solidFill>
                  <a:schemeClr val="tx1"/>
                </a:solidFill>
                <a:latin typeface="+mn-lt"/>
                <a:ea typeface="+mn-ea"/>
                <a:cs typeface="+mn-cs"/>
              </a:defRPr>
            </a:lvl1pPr>
            <a:lvl2pPr marL="668232" indent="-218836" algn="l" rtl="0" eaLnBrk="0" fontAlgn="base" latinLnBrk="1" hangingPunct="0">
              <a:spcBef>
                <a:spcPct val="20000"/>
              </a:spcBef>
              <a:spcAft>
                <a:spcPct val="0"/>
              </a:spcAft>
              <a:buClr>
                <a:srgbClr val="FF9900"/>
              </a:buClr>
              <a:buSzPct val="80000"/>
              <a:buFont typeface="Wingdings" pitchFamily="2" charset="2"/>
              <a:buChar char="l"/>
              <a:defRPr kumimoji="1" sz="2462">
                <a:solidFill>
                  <a:schemeClr val="tx1"/>
                </a:solidFill>
                <a:latin typeface="+mn-lt"/>
                <a:ea typeface="+mn-ea"/>
              </a:defRPr>
            </a:lvl2pPr>
            <a:lvl3pPr marL="1109812" indent="-220791" algn="l" rtl="0" eaLnBrk="0" fontAlgn="base" latinLnBrk="1" hangingPunct="0">
              <a:spcBef>
                <a:spcPct val="20000"/>
              </a:spcBef>
              <a:spcAft>
                <a:spcPct val="0"/>
              </a:spcAft>
              <a:buClr>
                <a:srgbClr val="FF9900"/>
              </a:buClr>
              <a:buSzPct val="60000"/>
              <a:buFont typeface="Wingdings" pitchFamily="2" charset="2"/>
              <a:buChar char="u"/>
              <a:defRPr kumimoji="1">
                <a:solidFill>
                  <a:schemeClr val="tx1"/>
                </a:solidFill>
                <a:latin typeface="+mn-lt"/>
                <a:ea typeface="+mn-ea"/>
              </a:defRPr>
            </a:lvl3pPr>
            <a:lvl4pPr marL="1549439" indent="-218836" algn="l" rtl="0" eaLnBrk="0" fontAlgn="base" latinLnBrk="1" hangingPunct="0">
              <a:spcBef>
                <a:spcPct val="20000"/>
              </a:spcBef>
              <a:spcAft>
                <a:spcPct val="0"/>
              </a:spcAft>
              <a:buClr>
                <a:srgbClr val="FF9900"/>
              </a:buClr>
              <a:buSzPct val="80000"/>
              <a:buFont typeface="Wingdings" pitchFamily="2" charset="2"/>
              <a:buChar char="ü"/>
              <a:defRPr kumimoji="1" sz="1969">
                <a:solidFill>
                  <a:schemeClr val="tx1"/>
                </a:solidFill>
                <a:latin typeface="+mn-lt"/>
                <a:ea typeface="+mn-ea"/>
              </a:defRPr>
            </a:lvl4pPr>
            <a:lvl5pPr marL="1989065" indent="-218836" algn="l" rtl="0" eaLnBrk="0" fontAlgn="base" latinLnBrk="1" hangingPunct="0">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5pPr>
            <a:lvl6pPr marL="2551787"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6pPr>
            <a:lvl7pPr marL="3114509"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7pPr>
            <a:lvl8pPr marL="3677230"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8pPr>
            <a:lvl9pPr marL="4239952"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9pPr>
          </a:lstStyle>
          <a:p>
            <a:pPr lvl="0" algn="just">
              <a:buClr>
                <a:schemeClr val="tx1"/>
              </a:buClr>
              <a:buFont typeface="Arial" panose="020B0604020202020204" pitchFamily="34" charset="0"/>
              <a:buChar char="•"/>
            </a:pPr>
            <a:r>
              <a:rPr lang="en-IN" sz="1400" u="sng" dirty="0">
                <a:latin typeface="Cambria" panose="02040503050406030204" pitchFamily="18" charset="0"/>
                <a:ea typeface="Cambria" panose="02040503050406030204" pitchFamily="18" charset="0"/>
              </a:rPr>
              <a:t>Dual-channel fusion</a:t>
            </a:r>
            <a:r>
              <a:rPr lang="en-IN" sz="1400" b="0" dirty="0">
                <a:latin typeface="Cambria" panose="02040503050406030204" pitchFamily="18" charset="0"/>
                <a:ea typeface="Cambria" panose="02040503050406030204" pitchFamily="18" charset="0"/>
              </a:rPr>
              <a:t>: The Mel channel acts as a digital-artifact scanner and the MFCC channel as a vocal-tract plausibility check. Stacking them forces     the network to reason across both.</a:t>
            </a:r>
          </a:p>
          <a:p>
            <a:pPr lvl="0" algn="just">
              <a:buClr>
                <a:schemeClr val="tx1"/>
              </a:buClr>
              <a:buFont typeface="Arial" panose="020B0604020202020204" pitchFamily="34" charset="0"/>
              <a:buChar char="•"/>
            </a:pPr>
            <a:r>
              <a:rPr lang="en-IN" sz="1400" u="sng" dirty="0">
                <a:latin typeface="Cambria" panose="02040503050406030204" pitchFamily="18" charset="0"/>
                <a:ea typeface="Cambria" panose="02040503050406030204" pitchFamily="18" charset="0"/>
              </a:rPr>
              <a:t>Real-speech-only novelty: </a:t>
            </a:r>
            <a:r>
              <a:rPr lang="en-IN" sz="1400" b="0" dirty="0">
                <a:latin typeface="Cambria" panose="02040503050406030204" pitchFamily="18" charset="0"/>
                <a:ea typeface="Cambria" panose="02040503050406030204" pitchFamily="18" charset="0"/>
              </a:rPr>
              <a:t>Since the novelty head is fit only on authentic     speech, anything far from that manifold that doesn't match a known fake      cluster is flagged, even from a generator never trained on.</a:t>
            </a:r>
          </a:p>
          <a:p>
            <a:pPr lvl="0" algn="just">
              <a:buClr>
                <a:schemeClr val="tx1"/>
              </a:buClr>
              <a:buFont typeface="Arial" panose="020B0604020202020204" pitchFamily="34" charset="0"/>
              <a:buChar char="•"/>
            </a:pPr>
            <a:r>
              <a:rPr lang="en-IN" sz="1400" u="sng" dirty="0">
                <a:latin typeface="Cambria" panose="02040503050406030204" pitchFamily="18" charset="0"/>
                <a:ea typeface="Cambria" panose="02040503050406030204" pitchFamily="18" charset="0"/>
              </a:rPr>
              <a:t>Novelty is checked before the spoof threshold </a:t>
            </a:r>
            <a:r>
              <a:rPr lang="en-IN" sz="1400" b="0" dirty="0">
                <a:latin typeface="Cambria" panose="02040503050406030204" pitchFamily="18" charset="0"/>
                <a:ea typeface="Cambria" panose="02040503050406030204" pitchFamily="18" charset="0"/>
              </a:rPr>
              <a:t>, so unfamiliar inputs can't slip through as "real".</a:t>
            </a:r>
          </a:p>
          <a:p>
            <a:pPr lvl="0" algn="just">
              <a:buClr>
                <a:schemeClr val="tx1"/>
              </a:buClr>
              <a:buFont typeface="Arial" panose="020B0604020202020204" pitchFamily="34" charset="0"/>
              <a:buChar char="•"/>
            </a:pPr>
            <a:r>
              <a:rPr lang="en-IN" sz="1400" u="sng" dirty="0">
                <a:latin typeface="Cambria" panose="02040503050406030204" pitchFamily="18" charset="0"/>
                <a:ea typeface="Cambria" panose="02040503050406030204" pitchFamily="18" charset="0"/>
              </a:rPr>
              <a:t>Invariant cues</a:t>
            </a:r>
            <a:r>
              <a:rPr lang="en-IN" sz="1400" b="0" dirty="0">
                <a:latin typeface="Cambria" panose="02040503050406030204" pitchFamily="18" charset="0"/>
                <a:ea typeface="Cambria" panose="02040503050406030204" pitchFamily="18" charset="0"/>
              </a:rPr>
              <a:t>: Features that are physically hard to fake (breath noise, jitter/shimmer, harmonic phase coherence, glottal periodicity) reduce reliance on vocoder artifacts that new generators fix first.</a:t>
            </a:r>
          </a:p>
          <a:p>
            <a:pPr marL="0" marR="0" lvl="0" indent="0" algn="just" defTabSz="914400" eaLnBrk="0" fontAlgn="auto" latinLnBrk="0" hangingPunct="0">
              <a:lnSpc>
                <a:spcPct val="100000"/>
              </a:lnSpc>
              <a:spcAft>
                <a:spcPts val="0"/>
              </a:spcAft>
              <a:buClrTx/>
              <a:buNone/>
              <a:tabLst/>
              <a:defRPr/>
            </a:pPr>
            <a:endParaRPr kumimoji="1" lang="en-IN" sz="1400" b="0" i="1" dirty="0">
              <a:solidFill>
                <a:srgbClr val="000000"/>
              </a:solidFill>
              <a:latin typeface="Cambria" panose="02040503050406030204" pitchFamily="18" charset="0"/>
              <a:ea typeface="Cambria" panose="02040503050406030204" pitchFamily="18" charset="0"/>
            </a:endParaRPr>
          </a:p>
          <a:p>
            <a:pPr marL="0" marR="0" lvl="0" indent="0" algn="just" defTabSz="914400" eaLnBrk="0" fontAlgn="auto" latinLnBrk="0" hangingPunct="0">
              <a:lnSpc>
                <a:spcPct val="100000"/>
              </a:lnSpc>
              <a:spcAft>
                <a:spcPts val="0"/>
              </a:spcAft>
              <a:buClrTx/>
              <a:buNone/>
              <a:tabLst/>
              <a:defRPr/>
            </a:pPr>
            <a:r>
              <a:rPr kumimoji="1" lang="en-IN" sz="1400" i="0" u="sng" dirty="0">
                <a:solidFill>
                  <a:srgbClr val="000000"/>
                </a:solidFill>
                <a:latin typeface="Cambria" panose="02040503050406030204" pitchFamily="18" charset="0"/>
                <a:ea typeface="Cambria" panose="02040503050406030204" pitchFamily="18" charset="0"/>
              </a:rPr>
              <a:t>Core Differentiation of Our System:</a:t>
            </a:r>
            <a:endParaRPr kumimoji="1" lang="en-IN" sz="1200" b="0" i="0" dirty="0">
              <a:solidFill>
                <a:srgbClr val="000000"/>
              </a:solidFill>
              <a:latin typeface="Cambria" panose="02040503050406030204" pitchFamily="18" charset="0"/>
              <a:ea typeface="Cambria" panose="02040503050406030204" pitchFamily="18" charset="0"/>
            </a:endParaRPr>
          </a:p>
          <a:p>
            <a:pPr lvl="0"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The gateway decision is a joint function of four signals from one shared backbone.</a:t>
            </a:r>
          </a:p>
          <a:p>
            <a:pPr lvl="0" algn="just">
              <a:buClr>
                <a:schemeClr val="tx1"/>
              </a:buClr>
              <a:buFont typeface="Arial" panose="020B0604020202020204" pitchFamily="34" charset="0"/>
              <a:buChar char="•"/>
            </a:pPr>
            <a:r>
              <a:rPr lang="en-IN" sz="1400" b="0" dirty="0">
                <a:latin typeface="Cambria" panose="02040503050406030204" pitchFamily="18" charset="0"/>
                <a:ea typeface="Cambria" panose="02040503050406030204" pitchFamily="18" charset="0"/>
              </a:rPr>
              <a:t>The explainability output comes from the same dual-channel structure and   feeds the same gateway.</a:t>
            </a:r>
          </a:p>
          <a:p>
            <a:pPr marL="265113" marR="0" lvl="0" indent="-265113" algn="just" defTabSz="914400" eaLnBrk="0" fontAlgn="auto" latinLnBrk="0" hangingPunct="0">
              <a:lnSpc>
                <a:spcPct val="100000"/>
              </a:lnSpc>
              <a:spcAft>
                <a:spcPts val="0"/>
              </a:spcAft>
              <a:buClrTx/>
              <a:buFont typeface="Arial" panose="020B0604020202020204" pitchFamily="34" charset="0"/>
              <a:buChar char="•"/>
              <a:tabLst/>
              <a:defRPr/>
            </a:pPr>
            <a:endParaRPr kumimoji="1" lang="en-IN" sz="1200" b="0" i="0" dirty="0">
              <a:solidFill>
                <a:srgbClr val="00000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DD99F980-46BA-7ECA-E5D1-7579ED987122}"/>
              </a:ext>
            </a:extLst>
          </p:cNvPr>
          <p:cNvPicPr>
            <a:picLocks noChangeAspect="1"/>
          </p:cNvPicPr>
          <p:nvPr/>
        </p:nvPicPr>
        <p:blipFill>
          <a:blip r:embed="rId3"/>
          <a:stretch>
            <a:fillRect/>
          </a:stretch>
        </p:blipFill>
        <p:spPr>
          <a:xfrm>
            <a:off x="6660750" y="1320289"/>
            <a:ext cx="5284294" cy="4396533"/>
          </a:xfrm>
          <a:prstGeom prst="rect">
            <a:avLst/>
          </a:prstGeom>
        </p:spPr>
      </p:pic>
    </p:spTree>
    <p:extLst>
      <p:ext uri="{BB962C8B-B14F-4D97-AF65-F5344CB8AC3E}">
        <p14:creationId xmlns:p14="http://schemas.microsoft.com/office/powerpoint/2010/main" val="923424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89759" y="270090"/>
            <a:ext cx="11519877" cy="766030"/>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Recommendation</a:t>
            </a:r>
            <a:endParaRPr lang="en-US" altLang="ko-KR" sz="1100" dirty="0">
              <a:solidFill>
                <a:schemeClr val="tx1"/>
              </a:solidFill>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561B295C-73E9-4C42-865F-DA20E1A0A23F}"/>
              </a:ext>
            </a:extLst>
          </p:cNvPr>
          <p:cNvGraphicFramePr>
            <a:graphicFrameLocks noGrp="1"/>
          </p:cNvGraphicFramePr>
          <p:nvPr>
            <p:extLst>
              <p:ext uri="{D42A27DB-BD31-4B8C-83A1-F6EECF244321}">
                <p14:modId xmlns:p14="http://schemas.microsoft.com/office/powerpoint/2010/main" val="4260889439"/>
              </p:ext>
            </p:extLst>
          </p:nvPr>
        </p:nvGraphicFramePr>
        <p:xfrm>
          <a:off x="89759" y="1036120"/>
          <a:ext cx="5895721" cy="2442164"/>
        </p:xfrm>
        <a:graphic>
          <a:graphicData uri="http://schemas.openxmlformats.org/drawingml/2006/table">
            <a:tbl>
              <a:tblPr firstRow="1" bandRow="1">
                <a:tableStyleId>{5202B0CA-FC54-4496-8BCA-5EF66A818D29}</a:tableStyleId>
              </a:tblPr>
              <a:tblGrid>
                <a:gridCol w="5895721">
                  <a:extLst>
                    <a:ext uri="{9D8B030D-6E8A-4147-A177-3AD203B41FA5}">
                      <a16:colId xmlns:a16="http://schemas.microsoft.com/office/drawing/2014/main" val="3857953493"/>
                    </a:ext>
                  </a:extLst>
                </a:gridCol>
              </a:tblGrid>
              <a:tr h="215317">
                <a:tc>
                  <a:txBody>
                    <a:bodyPr/>
                    <a:lstStyle/>
                    <a:p>
                      <a:pPr marL="0" marR="0" lvl="0" indent="0" algn="just" defTabSz="1463040" rtl="0" eaLnBrk="0" fontAlgn="auto" latinLnBrk="0" hangingPunct="0">
                        <a:lnSpc>
                          <a:spcPct val="100000"/>
                        </a:lnSpc>
                        <a:spcBef>
                          <a:spcPts val="0"/>
                        </a:spcBef>
                        <a:spcAft>
                          <a:spcPts val="0"/>
                        </a:spcAft>
                        <a:buClrTx/>
                        <a:buSzTx/>
                        <a:buFontTx/>
                        <a:buNone/>
                        <a:tabLst/>
                        <a:defRPr/>
                      </a:pPr>
                      <a:r>
                        <a:rPr lang="en-IN" sz="1600" b="0" dirty="0">
                          <a:solidFill>
                            <a:schemeClr val="bg1"/>
                          </a:solidFill>
                          <a:latin typeface="+mn-lt"/>
                          <a:cs typeface="Arial" panose="020B0604020202020204" pitchFamily="34" charset="0"/>
                        </a:rPr>
                        <a:t>1) What is the Core Technology in this Idea?</a:t>
                      </a:r>
                    </a:p>
                  </a:txBody>
                  <a:tcPr marL="83594" marR="83594" marT="17259" marB="17259"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626191"/>
                  </a:ext>
                </a:extLst>
              </a:tr>
              <a:tr h="2163806">
                <a:tc>
                  <a:txBody>
                    <a:bodyPr/>
                    <a:lstStyle/>
                    <a:p>
                      <a:pPr marL="171450" lvl="0" indent="-171450" algn="just" defTabSz="914400" latinLnBrk="0">
                        <a:lnSpc>
                          <a:spcPct val="100000"/>
                        </a:lnSpc>
                        <a:buFont typeface="Arial" panose="020B0604020202020204" pitchFamily="34" charset="0"/>
                        <a:buChar char="•"/>
                        <a:defRPr/>
                      </a:pPr>
                      <a:endParaRPr lang="en-IN" sz="1200" dirty="0"/>
                    </a:p>
                    <a:p>
                      <a:pPr marL="171450" lvl="0" indent="-171450" algn="just" defTabSz="914400" latinLnBrk="0">
                        <a:lnSpc>
                          <a:spcPct val="100000"/>
                        </a:lnSpc>
                        <a:buFont typeface="Arial" panose="020B0604020202020204" pitchFamily="34" charset="0"/>
                        <a:buChar char="•"/>
                        <a:defRPr/>
                      </a:pPr>
                      <a:r>
                        <a:rPr lang="en-IN" sz="1200" dirty="0"/>
                        <a:t>A dual-channel (Mel + MFCC) ResNet-34/SE backbone producing a shared embedding that feeds four heads (spoof, attack-type, open-set novelty, uncertainty). </a:t>
                      </a:r>
                    </a:p>
                    <a:p>
                      <a:pPr marL="171450" lvl="0" indent="-171450" algn="just" defTabSz="914400" latinLnBrk="0">
                        <a:lnSpc>
                          <a:spcPct val="100000"/>
                        </a:lnSpc>
                        <a:buFont typeface="Arial" panose="020B0604020202020204" pitchFamily="34" charset="0"/>
                        <a:buChar char="•"/>
                        <a:defRPr/>
                      </a:pPr>
                      <a:r>
                        <a:rPr lang="en-IN" sz="1200" dirty="0"/>
                        <a:t>A risk-aware gateway and per-channel explainability layer sit on top.</a:t>
                      </a:r>
                      <a:endParaRPr lang="en-IN" sz="1200" dirty="0">
                        <a:latin typeface="+mn-lt"/>
                      </a:endParaRPr>
                    </a:p>
                  </a:txBody>
                  <a:tcPr marL="83594" marR="83594" marT="17259" marB="17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5452689"/>
                  </a:ext>
                </a:extLst>
              </a:tr>
            </a:tbl>
          </a:graphicData>
        </a:graphic>
      </p:graphicFrame>
      <p:graphicFrame>
        <p:nvGraphicFramePr>
          <p:cNvPr id="5" name="Table 4">
            <a:extLst>
              <a:ext uri="{FF2B5EF4-FFF2-40B4-BE49-F238E27FC236}">
                <a16:creationId xmlns:a16="http://schemas.microsoft.com/office/drawing/2014/main" id="{21FE4793-40FB-4CE4-A42B-5E2F63CE3D97}"/>
              </a:ext>
            </a:extLst>
          </p:cNvPr>
          <p:cNvGraphicFramePr>
            <a:graphicFrameLocks noGrp="1"/>
          </p:cNvGraphicFramePr>
          <p:nvPr>
            <p:extLst>
              <p:ext uri="{D42A27DB-BD31-4B8C-83A1-F6EECF244321}">
                <p14:modId xmlns:p14="http://schemas.microsoft.com/office/powerpoint/2010/main" val="2224416180"/>
              </p:ext>
            </p:extLst>
          </p:nvPr>
        </p:nvGraphicFramePr>
        <p:xfrm>
          <a:off x="56263" y="4293096"/>
          <a:ext cx="5895721" cy="2308383"/>
        </p:xfrm>
        <a:graphic>
          <a:graphicData uri="http://schemas.openxmlformats.org/drawingml/2006/table">
            <a:tbl>
              <a:tblPr firstRow="1" bandRow="1">
                <a:tableStyleId>{5202B0CA-FC54-4496-8BCA-5EF66A818D29}</a:tableStyleId>
              </a:tblPr>
              <a:tblGrid>
                <a:gridCol w="5895721">
                  <a:extLst>
                    <a:ext uri="{9D8B030D-6E8A-4147-A177-3AD203B41FA5}">
                      <a16:colId xmlns:a16="http://schemas.microsoft.com/office/drawing/2014/main" val="3857953493"/>
                    </a:ext>
                  </a:extLst>
                </a:gridCol>
              </a:tblGrid>
              <a:tr h="202223">
                <a:tc>
                  <a:txBody>
                    <a:bodyPr/>
                    <a:lstStyle/>
                    <a:p>
                      <a:pPr marL="0" marR="0" lvl="0" indent="0" algn="just" defTabSz="1463040" rtl="0" eaLnBrk="0" fontAlgn="auto" latinLnBrk="0" hangingPunct="0">
                        <a:lnSpc>
                          <a:spcPct val="100000"/>
                        </a:lnSpc>
                        <a:spcBef>
                          <a:spcPts val="0"/>
                        </a:spcBef>
                        <a:spcAft>
                          <a:spcPts val="0"/>
                        </a:spcAft>
                        <a:buClrTx/>
                        <a:buSzTx/>
                        <a:buFontTx/>
                        <a:buNone/>
                        <a:tabLst/>
                        <a:defRPr/>
                      </a:pPr>
                      <a:r>
                        <a:rPr lang="en-IN" sz="1600" b="0" kern="1200" dirty="0">
                          <a:solidFill>
                            <a:schemeClr val="lt1"/>
                          </a:solidFill>
                          <a:latin typeface="+mj-lt"/>
                          <a:ea typeface="+mn-ea"/>
                          <a:cs typeface="Calibri" panose="020F0502020204030204" pitchFamily="34" charset="0"/>
                        </a:rPr>
                        <a:t>3) Why is it a game changing invention?</a:t>
                      </a:r>
                    </a:p>
                  </a:txBody>
                  <a:tcPr marL="83594" marR="83594" marT="17259" marB="17259"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626191"/>
                  </a:ext>
                </a:extLst>
              </a:tr>
              <a:tr h="2030025">
                <a:tc>
                  <a:txBody>
                    <a:bodyPr/>
                    <a:lstStyle/>
                    <a:p>
                      <a:pPr marL="342900" lvl="0" indent="-342900" algn="just" defTabSz="914400" latinLnBrk="0">
                        <a:lnSpc>
                          <a:spcPct val="100000"/>
                        </a:lnSpc>
                        <a:buFont typeface="Arial" panose="020B0604020202020204" pitchFamily="34" charset="0"/>
                        <a:buChar char="•"/>
                        <a:defRPr/>
                      </a:pPr>
                      <a:endParaRPr lang="en-IN" sz="1200" dirty="0"/>
                    </a:p>
                    <a:p>
                      <a:pPr marL="342900" lvl="0" indent="-342900" algn="just" defTabSz="914400" latinLnBrk="0">
                        <a:lnSpc>
                          <a:spcPct val="100000"/>
                        </a:lnSpc>
                        <a:buFont typeface="Arial" panose="020B0604020202020204" pitchFamily="34" charset="0"/>
                        <a:buChar char="•"/>
                        <a:defRPr/>
                      </a:pPr>
                      <a:r>
                        <a:rPr lang="en-IN" sz="1200" dirty="0"/>
                        <a:t>It turns a one-number classifier into a trust platform: detect, attribute, estimate confidence, explain, handle the unknown, and keep learning. This is what enterprise and compliance deployments need.</a:t>
                      </a:r>
                      <a:endParaRPr kumimoji="1" lang="en-IN" sz="1200" dirty="0">
                        <a:solidFill>
                          <a:srgbClr val="000000"/>
                        </a:solidFill>
                        <a:latin typeface="+mn-lt"/>
                        <a:ea typeface="굴림" pitchFamily="50" charset="-127"/>
                        <a:cs typeface="Arial" panose="020B0604020202020204" pitchFamily="34" charset="0"/>
                      </a:endParaRPr>
                    </a:p>
                  </a:txBody>
                  <a:tcPr marL="83594" marR="83594" marT="17259" marB="17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5452689"/>
                  </a:ext>
                </a:extLst>
              </a:tr>
            </a:tbl>
          </a:graphicData>
        </a:graphic>
      </p:graphicFrame>
      <p:graphicFrame>
        <p:nvGraphicFramePr>
          <p:cNvPr id="6" name="Table 5">
            <a:extLst>
              <a:ext uri="{FF2B5EF4-FFF2-40B4-BE49-F238E27FC236}">
                <a16:creationId xmlns:a16="http://schemas.microsoft.com/office/drawing/2014/main" id="{38A5E9C5-6D2D-4C12-938C-3A07C01A82B5}"/>
              </a:ext>
            </a:extLst>
          </p:cNvPr>
          <p:cNvGraphicFramePr>
            <a:graphicFrameLocks noGrp="1"/>
          </p:cNvGraphicFramePr>
          <p:nvPr>
            <p:extLst>
              <p:ext uri="{D42A27DB-BD31-4B8C-83A1-F6EECF244321}">
                <p14:modId xmlns:p14="http://schemas.microsoft.com/office/powerpoint/2010/main" val="1495037443"/>
              </p:ext>
            </p:extLst>
          </p:nvPr>
        </p:nvGraphicFramePr>
        <p:xfrm>
          <a:off x="6206522" y="4282792"/>
          <a:ext cx="5722126" cy="2308383"/>
        </p:xfrm>
        <a:graphic>
          <a:graphicData uri="http://schemas.openxmlformats.org/drawingml/2006/table">
            <a:tbl>
              <a:tblPr firstRow="1" bandRow="1">
                <a:tableStyleId>{5202B0CA-FC54-4496-8BCA-5EF66A818D29}</a:tableStyleId>
              </a:tblPr>
              <a:tblGrid>
                <a:gridCol w="5722126">
                  <a:extLst>
                    <a:ext uri="{9D8B030D-6E8A-4147-A177-3AD203B41FA5}">
                      <a16:colId xmlns:a16="http://schemas.microsoft.com/office/drawing/2014/main" val="3857953493"/>
                    </a:ext>
                  </a:extLst>
                </a:gridCol>
              </a:tblGrid>
              <a:tr h="202223">
                <a:tc>
                  <a:txBody>
                    <a:bodyPr/>
                    <a:lstStyle/>
                    <a:p>
                      <a:pPr marL="0" marR="0" lvl="0" indent="0" algn="just" defTabSz="1463040" rtl="0" eaLnBrk="0" fontAlgn="auto" latinLnBrk="0" hangingPunct="0">
                        <a:lnSpc>
                          <a:spcPct val="100000"/>
                        </a:lnSpc>
                        <a:spcBef>
                          <a:spcPts val="0"/>
                        </a:spcBef>
                        <a:spcAft>
                          <a:spcPts val="0"/>
                        </a:spcAft>
                        <a:buClrTx/>
                        <a:buSzTx/>
                        <a:buFontTx/>
                        <a:buNone/>
                        <a:tabLst/>
                        <a:defRPr/>
                      </a:pPr>
                      <a:r>
                        <a:rPr lang="en-IN" sz="1600" b="0" kern="1200" dirty="0">
                          <a:solidFill>
                            <a:schemeClr val="lt1"/>
                          </a:solidFill>
                          <a:latin typeface="+mj-lt"/>
                          <a:ea typeface="+mn-ea"/>
                          <a:cs typeface="Calibri" panose="020F0502020204030204" pitchFamily="34" charset="0"/>
                        </a:rPr>
                        <a:t>4) What is Breakthrough</a:t>
                      </a:r>
                      <a:r>
                        <a:rPr lang="en-IN" sz="1600" b="0" kern="1200" baseline="0" dirty="0">
                          <a:solidFill>
                            <a:schemeClr val="lt1"/>
                          </a:solidFill>
                          <a:latin typeface="+mj-lt"/>
                          <a:ea typeface="+mn-ea"/>
                          <a:cs typeface="Calibri" panose="020F0502020204030204" pitchFamily="34" charset="0"/>
                        </a:rPr>
                        <a:t> in this Invention?</a:t>
                      </a:r>
                      <a:endParaRPr lang="en-IN" sz="1600" b="0" kern="1200" dirty="0">
                        <a:solidFill>
                          <a:schemeClr val="lt1"/>
                        </a:solidFill>
                        <a:latin typeface="+mj-lt"/>
                        <a:ea typeface="+mn-ea"/>
                        <a:cs typeface="Calibri" panose="020F0502020204030204" pitchFamily="34" charset="0"/>
                      </a:endParaRPr>
                    </a:p>
                  </a:txBody>
                  <a:tcPr marL="83594" marR="83594" marT="17259" marB="17259"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626191"/>
                  </a:ext>
                </a:extLst>
              </a:tr>
              <a:tr h="2030025">
                <a:tc>
                  <a:txBody>
                    <a:bodyPr/>
                    <a:lstStyle/>
                    <a:p>
                      <a:pPr marL="457200" marR="0" lvl="0" indent="-457200" algn="just" defTabSz="1463040" rtl="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1" lang="en-US" sz="1200" dirty="0">
                        <a:solidFill>
                          <a:srgbClr val="000000"/>
                        </a:solidFill>
                        <a:latin typeface="+mn-lt"/>
                        <a:ea typeface="굴림" pitchFamily="50" charset="-127"/>
                        <a:cs typeface="Arial" panose="020B0604020202020204" pitchFamily="34" charset="0"/>
                      </a:endParaRPr>
                    </a:p>
                    <a:p>
                      <a:pPr marL="457200" marR="0" lvl="0" indent="-457200" algn="just" defTabSz="1463040"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1" lang="en-US" sz="1200" dirty="0">
                          <a:solidFill>
                            <a:srgbClr val="000000"/>
                          </a:solidFill>
                          <a:latin typeface="+mn-lt"/>
                          <a:ea typeface="굴림" pitchFamily="50" charset="-127"/>
                          <a:cs typeface="Arial" panose="020B0604020202020204" pitchFamily="34" charset="0"/>
                        </a:rPr>
                        <a:t>T</a:t>
                      </a:r>
                      <a:r>
                        <a:rPr lang="en-IN" sz="1200" dirty="0"/>
                        <a:t>he jointly-routed gateway, where novelty, uncertainty and spoof score together decide the outcome, combined with an explainability layer built from the dual-channel disagreement between the digital-artifact and biological-plausibility channels.</a:t>
                      </a:r>
                      <a:endParaRPr kumimoji="1" lang="en-US" sz="1200" dirty="0">
                        <a:solidFill>
                          <a:srgbClr val="000000"/>
                        </a:solidFill>
                        <a:latin typeface="+mn-lt"/>
                        <a:ea typeface="굴림" pitchFamily="50" charset="-127"/>
                        <a:cs typeface="Arial" panose="020B0604020202020204" pitchFamily="34" charset="0"/>
                      </a:endParaRPr>
                    </a:p>
                  </a:txBody>
                  <a:tcPr marL="83594" marR="83594" marT="17259" marB="17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5452689"/>
                  </a:ext>
                </a:extLst>
              </a:tr>
            </a:tbl>
          </a:graphicData>
        </a:graphic>
      </p:graphicFrame>
      <p:graphicFrame>
        <p:nvGraphicFramePr>
          <p:cNvPr id="7" name="Table 6">
            <a:extLst>
              <a:ext uri="{FF2B5EF4-FFF2-40B4-BE49-F238E27FC236}">
                <a16:creationId xmlns:a16="http://schemas.microsoft.com/office/drawing/2014/main" id="{5D4F8A04-D6A7-486F-B1C9-E53615F3E6ED}"/>
              </a:ext>
            </a:extLst>
          </p:cNvPr>
          <p:cNvGraphicFramePr>
            <a:graphicFrameLocks noGrp="1"/>
          </p:cNvGraphicFramePr>
          <p:nvPr>
            <p:extLst>
              <p:ext uri="{D42A27DB-BD31-4B8C-83A1-F6EECF244321}">
                <p14:modId xmlns:p14="http://schemas.microsoft.com/office/powerpoint/2010/main" val="2076688822"/>
              </p:ext>
            </p:extLst>
          </p:nvPr>
        </p:nvGraphicFramePr>
        <p:xfrm>
          <a:off x="6206522" y="1036120"/>
          <a:ext cx="5722126" cy="2308383"/>
        </p:xfrm>
        <a:graphic>
          <a:graphicData uri="http://schemas.openxmlformats.org/drawingml/2006/table">
            <a:tbl>
              <a:tblPr firstRow="1" bandRow="1">
                <a:tableStyleId>{5202B0CA-FC54-4496-8BCA-5EF66A818D29}</a:tableStyleId>
              </a:tblPr>
              <a:tblGrid>
                <a:gridCol w="5722126">
                  <a:extLst>
                    <a:ext uri="{9D8B030D-6E8A-4147-A177-3AD203B41FA5}">
                      <a16:colId xmlns:a16="http://schemas.microsoft.com/office/drawing/2014/main" val="3857953493"/>
                    </a:ext>
                  </a:extLst>
                </a:gridCol>
              </a:tblGrid>
              <a:tr h="198253">
                <a:tc>
                  <a:txBody>
                    <a:bodyPr/>
                    <a:lstStyle/>
                    <a:p>
                      <a:pPr marL="0" marR="0" lvl="0" indent="0" algn="just" defTabSz="1463040" rtl="0" eaLnBrk="0" fontAlgn="auto" latinLnBrk="0" hangingPunct="0">
                        <a:lnSpc>
                          <a:spcPct val="100000"/>
                        </a:lnSpc>
                        <a:spcBef>
                          <a:spcPts val="0"/>
                        </a:spcBef>
                        <a:spcAft>
                          <a:spcPts val="0"/>
                        </a:spcAft>
                        <a:buClrTx/>
                        <a:buSzTx/>
                        <a:buFontTx/>
                        <a:buNone/>
                        <a:tabLst/>
                        <a:defRPr/>
                      </a:pPr>
                      <a:r>
                        <a:rPr lang="en-IN" sz="1600" b="0" u="none" kern="1200">
                          <a:solidFill>
                            <a:schemeClr val="lt1"/>
                          </a:solidFill>
                          <a:latin typeface="+mj-lt"/>
                          <a:ea typeface="+mn-ea"/>
                          <a:cs typeface="Calibri" panose="020F0502020204030204" pitchFamily="34" charset="0"/>
                        </a:rPr>
                        <a:t>2) What complex problem is solved by the idea?</a:t>
                      </a:r>
                      <a:endParaRPr lang="en-IN" sz="1600" b="0" u="none" kern="1200" dirty="0">
                        <a:solidFill>
                          <a:schemeClr val="lt1"/>
                        </a:solidFill>
                        <a:latin typeface="+mj-lt"/>
                        <a:ea typeface="+mn-ea"/>
                        <a:cs typeface="Calibri" panose="020F0502020204030204" pitchFamily="34" charset="0"/>
                      </a:endParaRPr>
                    </a:p>
                  </a:txBody>
                  <a:tcPr marL="83594" marR="83594" marT="17259" marB="17259"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626191"/>
                  </a:ext>
                </a:extLst>
              </a:tr>
              <a:tr h="2030025">
                <a:tc>
                  <a:txBody>
                    <a:bodyPr/>
                    <a:lstStyle/>
                    <a:p>
                      <a:pPr marL="342900" marR="0" lvl="0" indent="-342900" algn="just" defTabSz="1463040" rtl="0" eaLnBrk="0" fontAlgn="auto" latinLnBrk="0" hangingPunct="0">
                        <a:lnSpc>
                          <a:spcPct val="100000"/>
                        </a:lnSpc>
                        <a:spcBef>
                          <a:spcPts val="0"/>
                        </a:spcBef>
                        <a:spcAft>
                          <a:spcPts val="0"/>
                        </a:spcAft>
                        <a:buClrTx/>
                        <a:buSzTx/>
                        <a:buFont typeface="Arial" panose="020B0604020202020204" pitchFamily="34" charset="0"/>
                        <a:buChar char="•"/>
                        <a:tabLst/>
                        <a:defRPr/>
                      </a:pPr>
                      <a:endParaRPr lang="en-IN" sz="1200" dirty="0"/>
                    </a:p>
                    <a:p>
                      <a:pPr marL="342900" marR="0" lvl="0" indent="-342900" algn="just" defTabSz="1463040" rtl="0" eaLnBrk="0" fontAlgn="auto" latinLnBrk="0" hangingPunct="0">
                        <a:lnSpc>
                          <a:spcPct val="100000"/>
                        </a:lnSpc>
                        <a:spcBef>
                          <a:spcPts val="0"/>
                        </a:spcBef>
                        <a:spcAft>
                          <a:spcPts val="0"/>
                        </a:spcAft>
                        <a:buClrTx/>
                        <a:buSzTx/>
                        <a:buFont typeface="Arial" panose="020B0604020202020204" pitchFamily="34" charset="0"/>
                        <a:buChar char="•"/>
                        <a:tabLst/>
                        <a:defRPr/>
                      </a:pPr>
                      <a:r>
                        <a:rPr lang="en-IN" sz="1200" dirty="0"/>
                        <a:t>Reliable audio deepfake detection that still works on unseen generators, compressed or noisy real-world audio, and cases where the system must say "I don't know" and explain itself.</a:t>
                      </a:r>
                      <a:endParaRPr kumimoji="1" lang="en-IN" sz="1200" dirty="0">
                        <a:solidFill>
                          <a:srgbClr val="000000"/>
                        </a:solidFill>
                        <a:latin typeface="+mn-lt"/>
                        <a:ea typeface="굴림" pitchFamily="50" charset="-127"/>
                        <a:cs typeface="Arial" panose="020B0604020202020204" pitchFamily="34" charset="0"/>
                      </a:endParaRPr>
                    </a:p>
                  </a:txBody>
                  <a:tcPr marL="83594" marR="83594" marT="17259" marB="172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6375550"/>
                  </a:ext>
                </a:extLst>
              </a:tr>
            </a:tbl>
          </a:graphicData>
        </a:graphic>
      </p:graphicFrame>
    </p:spTree>
    <p:extLst>
      <p:ext uri="{BB962C8B-B14F-4D97-AF65-F5344CB8AC3E}">
        <p14:creationId xmlns:p14="http://schemas.microsoft.com/office/powerpoint/2010/main" val="2188254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278674" y="22136"/>
            <a:ext cx="11519877" cy="797169"/>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Independent Claims </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4" name="Rectangle 3">
            <a:extLst>
              <a:ext uri="{FF2B5EF4-FFF2-40B4-BE49-F238E27FC236}">
                <a16:creationId xmlns:a16="http://schemas.microsoft.com/office/drawing/2014/main" id="{A82E2643-1DE2-4D15-9351-5EECD2913540}"/>
              </a:ext>
            </a:extLst>
          </p:cNvPr>
          <p:cNvSpPr/>
          <p:nvPr/>
        </p:nvSpPr>
        <p:spPr>
          <a:xfrm>
            <a:off x="6485721" y="-392032"/>
            <a:ext cx="5471562" cy="580672"/>
          </a:xfrm>
          <a:prstGeom prst="rect">
            <a:avLst/>
          </a:prstGeom>
        </p:spPr>
        <p:txBody>
          <a:bodyPr wrap="none">
            <a:spAutoFit/>
          </a:bodyPr>
          <a:lstStyle/>
          <a:p>
            <a:pPr>
              <a:lnSpc>
                <a:spcPts val="1969"/>
              </a:lnSpc>
              <a:buClr>
                <a:srgbClr val="000000"/>
              </a:buClr>
              <a:tabLst>
                <a:tab pos="562722" algn="l"/>
              </a:tabLst>
            </a:pPr>
            <a:r>
              <a:rPr lang="en-US" sz="1354" b="1" dirty="0">
                <a:solidFill>
                  <a:schemeClr val="bg1"/>
                </a:solidFill>
                <a:latin typeface="Cambria" panose="02040503050406030204" pitchFamily="18" charset="0"/>
                <a:ea typeface="Cambria" panose="02040503050406030204" pitchFamily="18" charset="0"/>
                <a:cs typeface="Batang" panose="02030600000101010101" pitchFamily="18" charset="-127"/>
              </a:rPr>
              <a:t>In order of relevancy. Please highlight the novel feature(s) in ‘Red’)</a:t>
            </a:r>
            <a:endParaRPr lang="en-IN" sz="1354" dirty="0">
              <a:solidFill>
                <a:schemeClr val="bg1"/>
              </a:solidFill>
              <a:latin typeface="Cambria" panose="02040503050406030204" pitchFamily="18" charset="0"/>
              <a:ea typeface="Cambria" panose="02040503050406030204" pitchFamily="18" charset="0"/>
              <a:cs typeface="Batang" panose="02030600000101010101" pitchFamily="18" charset="-127"/>
            </a:endParaRPr>
          </a:p>
          <a:p>
            <a:pPr marL="281361">
              <a:lnSpc>
                <a:spcPts val="1969"/>
              </a:lnSpc>
            </a:pPr>
            <a:r>
              <a:rPr lang="en-US" sz="1354" b="1" dirty="0">
                <a:solidFill>
                  <a:schemeClr val="bg1"/>
                </a:solidFill>
                <a:latin typeface="Cambria" panose="02040503050406030204" pitchFamily="18" charset="0"/>
                <a:ea typeface="Cambria" panose="02040503050406030204" pitchFamily="18" charset="0"/>
                <a:cs typeface="Batang" panose="02030600000101010101" pitchFamily="18" charset="-127"/>
              </a:rPr>
              <a:t> </a:t>
            </a:r>
            <a:endParaRPr lang="en-IN" sz="1354" dirty="0">
              <a:solidFill>
                <a:schemeClr val="bg1"/>
              </a:solidFill>
              <a:latin typeface="Cambria" panose="02040503050406030204" pitchFamily="18" charset="0"/>
              <a:ea typeface="Cambria" panose="02040503050406030204" pitchFamily="18" charset="0"/>
              <a:cs typeface="Batang" panose="02030600000101010101" pitchFamily="18" charset="-127"/>
            </a:endParaRPr>
          </a:p>
        </p:txBody>
      </p:sp>
      <p:sp>
        <p:nvSpPr>
          <p:cNvPr id="6" name="TextBox 5">
            <a:extLst>
              <a:ext uri="{FF2B5EF4-FFF2-40B4-BE49-F238E27FC236}">
                <a16:creationId xmlns:a16="http://schemas.microsoft.com/office/drawing/2014/main" id="{A4921BDC-842C-4413-9CF0-9D3AE8D81797}"/>
              </a:ext>
            </a:extLst>
          </p:cNvPr>
          <p:cNvSpPr txBox="1"/>
          <p:nvPr/>
        </p:nvSpPr>
        <p:spPr>
          <a:xfrm>
            <a:off x="142055" y="4780000"/>
            <a:ext cx="6190244" cy="2769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IN" sz="1200" b="1" dirty="0">
                <a:solidFill>
                  <a:srgbClr val="000000"/>
                </a:solidFill>
                <a:latin typeface="Cambria" panose="02040503050406030204" pitchFamily="18" charset="0"/>
                <a:ea typeface="Cambria" panose="02040503050406030204" pitchFamily="18" charset="0"/>
                <a:cs typeface="Arial" panose="020B0604020202020204" pitchFamily="34" charset="0"/>
              </a:rPr>
              <a:t>Use Cases</a:t>
            </a:r>
            <a:endParaRPr lang="en-IN" sz="1200" b="1" noProof="0" dirty="0">
              <a:solidFill>
                <a:srgbClr val="000000"/>
              </a:solidFill>
              <a:latin typeface="Cambria" panose="02040503050406030204" pitchFamily="18" charset="0"/>
              <a:ea typeface="Cambria" panose="02040503050406030204" pitchFamily="18" charset="0"/>
              <a:cs typeface="Arial" panose="020B0604020202020204" pitchFamily="34" charset="0"/>
            </a:endParaRPr>
          </a:p>
        </p:txBody>
      </p:sp>
      <p:sp>
        <p:nvSpPr>
          <p:cNvPr id="7" name="TextBox 6">
            <a:extLst>
              <a:ext uri="{FF2B5EF4-FFF2-40B4-BE49-F238E27FC236}">
                <a16:creationId xmlns:a16="http://schemas.microsoft.com/office/drawing/2014/main" id="{2AC902C0-F0C8-43E7-B641-11A8E14B9141}"/>
              </a:ext>
            </a:extLst>
          </p:cNvPr>
          <p:cNvSpPr txBox="1"/>
          <p:nvPr/>
        </p:nvSpPr>
        <p:spPr>
          <a:xfrm>
            <a:off x="142055" y="5100000"/>
            <a:ext cx="4922019" cy="1550000"/>
          </a:xfrm>
          <a:prstGeom prst="rect">
            <a:avLst/>
          </a:prstGeom>
          <a:noFill/>
        </p:spPr>
        <p:txBody>
          <a:bodyPr wrap="square" rtlCol="0">
            <a:spAutoFit/>
          </a:bodyPr>
          <a:lstStyle/>
          <a:p>
            <a:pPr marL="171450" lvl="0" indent="-171450" algn="just">
              <a:buFont typeface="Arial" panose="020B0604020202020204" pitchFamily="34" charset="0"/>
              <a:buChar char="•"/>
            </a:pPr>
            <a:r>
              <a:rPr lang="en-IN" sz="1200" dirty="0">
                <a:latin typeface="Cambria" panose="02040503050406030204" pitchFamily="18" charset="0"/>
                <a:ea typeface="Cambria" panose="02040503050406030204" pitchFamily="18" charset="0"/>
              </a:rPr>
              <a:t>Voice-fraud call screening (WhatsApp/VOIP)</a:t>
            </a:r>
          </a:p>
          <a:p>
            <a:pPr marL="171450" lvl="0" indent="-171450" algn="just">
              <a:buFont typeface="Arial" panose="020B0604020202020204" pitchFamily="34" charset="0"/>
              <a:buChar char="•"/>
            </a:pPr>
            <a:r>
              <a:rPr lang="en-IN" sz="1200" dirty="0">
                <a:latin typeface="Cambria" panose="02040503050406030204" pitchFamily="18" charset="0"/>
                <a:ea typeface="Cambria" panose="02040503050406030204" pitchFamily="18" charset="0"/>
              </a:rPr>
              <a:t>Forensic review of stored audio evidence</a:t>
            </a:r>
          </a:p>
          <a:p>
            <a:pPr marL="171450" lvl="0" indent="-171450" algn="just">
              <a:buFont typeface="Arial" panose="020B0604020202020204" pitchFamily="34" charset="0"/>
              <a:buChar char="•"/>
            </a:pPr>
            <a:r>
              <a:rPr lang="en-IN" sz="1200" dirty="0">
                <a:latin typeface="Cambria" panose="02040503050406030204" pitchFamily="18" charset="0"/>
                <a:ea typeface="Cambria" panose="02040503050406030204" pitchFamily="18" charset="0"/>
              </a:rPr>
              <a:t>Call-</a:t>
            </a:r>
            <a:r>
              <a:rPr lang="en-IN" sz="1200" dirty="0" err="1">
                <a:latin typeface="Cambria" panose="02040503050406030204" pitchFamily="18" charset="0"/>
                <a:ea typeface="Cambria" panose="02040503050406030204" pitchFamily="18" charset="0"/>
              </a:rPr>
              <a:t>center</a:t>
            </a:r>
            <a:r>
              <a:rPr lang="en-IN" sz="1200" dirty="0">
                <a:latin typeface="Cambria" panose="02040503050406030204" pitchFamily="18" charset="0"/>
                <a:ea typeface="Cambria" panose="02040503050406030204" pitchFamily="18" charset="0"/>
              </a:rPr>
              <a:t> authentication</a:t>
            </a:r>
          </a:p>
          <a:p>
            <a:pPr marL="171450" lvl="0" indent="-171450" algn="just">
              <a:buFont typeface="Arial" panose="020B0604020202020204" pitchFamily="34" charset="0"/>
              <a:buChar char="•"/>
            </a:pPr>
            <a:r>
              <a:rPr lang="en-IN" sz="1200" dirty="0">
                <a:latin typeface="Cambria" panose="02040503050406030204" pitchFamily="18" charset="0"/>
                <a:ea typeface="Cambria" panose="02040503050406030204" pitchFamily="18" charset="0"/>
              </a:rPr>
              <a:t>Enterprise compliance workflows with a human review queue</a:t>
            </a:r>
          </a:p>
          <a:p>
            <a:pPr marL="176213" indent="-176213" algn="just" eaLnBrk="0" latinLnBrk="0" hangingPunct="0">
              <a:buFont typeface="Arial" panose="020B0604020202020204" pitchFamily="34" charset="0"/>
              <a:buChar char="•"/>
            </a:pPr>
            <a:endParaRPr lang="en-IN" sz="1200" dirty="0">
              <a:latin typeface="Cambria" panose="02040503050406030204" pitchFamily="18" charset="0"/>
              <a:ea typeface="Cambria" panose="02040503050406030204" pitchFamily="18" charset="0"/>
              <a:cs typeface="Arial" panose="020B0604020202020204" pitchFamily="34" charset="0"/>
            </a:endParaRPr>
          </a:p>
        </p:txBody>
      </p:sp>
      <p:sp>
        <p:nvSpPr>
          <p:cNvPr id="8" name="TextBox 7">
            <a:extLst>
              <a:ext uri="{FF2B5EF4-FFF2-40B4-BE49-F238E27FC236}">
                <a16:creationId xmlns:a16="http://schemas.microsoft.com/office/drawing/2014/main" id="{6CA3735D-7A5B-49A4-84CB-555801FB53E4}"/>
              </a:ext>
            </a:extLst>
          </p:cNvPr>
          <p:cNvSpPr txBox="1"/>
          <p:nvPr/>
        </p:nvSpPr>
        <p:spPr>
          <a:xfrm>
            <a:off x="278627" y="1272811"/>
            <a:ext cx="6610481" cy="2769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IN" sz="1200" b="1" dirty="0">
                <a:solidFill>
                  <a:srgbClr val="000000"/>
                </a:solidFill>
                <a:latin typeface="Cambria" panose="02040503050406030204" pitchFamily="18" charset="0"/>
                <a:ea typeface="Cambria" panose="02040503050406030204" pitchFamily="18" charset="0"/>
                <a:cs typeface="Arial" panose="020B0604020202020204" pitchFamily="34" charset="0"/>
              </a:rPr>
              <a:t>Abstract</a:t>
            </a:r>
            <a:endParaRPr lang="en-IN" sz="1050" b="1" noProof="0" dirty="0">
              <a:solidFill>
                <a:srgbClr val="000000"/>
              </a:solidFill>
              <a:latin typeface="Cambria" panose="02040503050406030204" pitchFamily="18" charset="0"/>
              <a:ea typeface="Cambria" panose="02040503050406030204" pitchFamily="18" charset="0"/>
              <a:cs typeface="Arial" panose="020B0604020202020204" pitchFamily="34" charset="0"/>
            </a:endParaRPr>
          </a:p>
        </p:txBody>
      </p:sp>
      <p:sp>
        <p:nvSpPr>
          <p:cNvPr id="9" name="TextBox 8">
            <a:extLst>
              <a:ext uri="{FF2B5EF4-FFF2-40B4-BE49-F238E27FC236}">
                <a16:creationId xmlns:a16="http://schemas.microsoft.com/office/drawing/2014/main" id="{7514CE23-0A4D-4FB0-A703-897A412D88A1}"/>
              </a:ext>
            </a:extLst>
          </p:cNvPr>
          <p:cNvSpPr txBox="1"/>
          <p:nvPr/>
        </p:nvSpPr>
        <p:spPr>
          <a:xfrm>
            <a:off x="5591944" y="1250609"/>
            <a:ext cx="6321429" cy="3600986"/>
          </a:xfrm>
          <a:prstGeom prst="rect">
            <a:avLst/>
          </a:prstGeom>
          <a:noFill/>
        </p:spPr>
        <p:txBody>
          <a:bodyPr wrap="square" rtlCol="0">
            <a:spAutoFit/>
          </a:bodyPr>
          <a:lstStyle/>
          <a:p>
            <a:pPr algn="l"/>
            <a:r>
              <a:rPr lang="en-IN" sz="1200" b="1" dirty="0">
                <a:latin typeface="Cambria" panose="02040503050406030204" pitchFamily="18" charset="0"/>
                <a:ea typeface="Cambria" panose="02040503050406030204" pitchFamily="18" charset="0"/>
                <a:cs typeface="Arial" panose="020B0604020202020204" pitchFamily="34" charset="0"/>
              </a:rPr>
              <a:t>[Main Independent Claims]  </a:t>
            </a:r>
            <a:br>
              <a:rPr lang="en-IN" sz="1200" b="1" dirty="0">
                <a:latin typeface="Cambria" panose="02040503050406030204" pitchFamily="18" charset="0"/>
                <a:ea typeface="Cambria" panose="02040503050406030204" pitchFamily="18" charset="0"/>
                <a:cs typeface="Arial" panose="020B0604020202020204" pitchFamily="34" charset="0"/>
              </a:rPr>
            </a:br>
            <a:br>
              <a:rPr lang="en-IN" sz="1200" b="1" dirty="0">
                <a:latin typeface="Cambria" panose="02040503050406030204" pitchFamily="18" charset="0"/>
                <a:ea typeface="Cambria" panose="02040503050406030204" pitchFamily="18" charset="0"/>
                <a:cs typeface="Arial" panose="020B0604020202020204" pitchFamily="34" charset="0"/>
              </a:rPr>
            </a:br>
            <a:r>
              <a:rPr lang="en-IN" sz="1200" b="1" dirty="0">
                <a:latin typeface="Cambria" panose="02040503050406030204" pitchFamily="18" charset="0"/>
                <a:ea typeface="Cambria" panose="02040503050406030204" pitchFamily="18" charset="0"/>
                <a:cs typeface="Arial" panose="020B0604020202020204" pitchFamily="34" charset="0"/>
              </a:rPr>
              <a:t>Claim 1 :  </a:t>
            </a:r>
            <a:r>
              <a:rPr lang="en-IN" sz="1200" dirty="0">
                <a:latin typeface="Cambria" panose="02040503050406030204" pitchFamily="18" charset="0"/>
                <a:ea typeface="Cambria" panose="02040503050406030204" pitchFamily="18" charset="0"/>
              </a:rPr>
              <a:t>A method for detecting synthetic speech, comprising:</a:t>
            </a:r>
          </a:p>
          <a:p>
            <a:pPr marL="171450" lvl="0" indent="-171450" algn="just">
              <a:buFont typeface="Arial" panose="020B0604020202020204" pitchFamily="34" charset="0"/>
              <a:buChar char="•"/>
            </a:pPr>
            <a:r>
              <a:rPr lang="en-IN" sz="1200" dirty="0">
                <a:latin typeface="Cambria" panose="02040503050406030204" pitchFamily="18" charset="0"/>
                <a:ea typeface="Cambria" panose="02040503050406030204" pitchFamily="18" charset="0"/>
              </a:rPr>
              <a:t>generating a dual-channel feature grid from an input audio signal, a first channel being a          log-power Mel-spectrogram and a second channel an MFCC representation;</a:t>
            </a:r>
          </a:p>
          <a:p>
            <a:pPr marL="171450" lvl="0" indent="-171450" algn="just">
              <a:buFont typeface="Arial" panose="020B0604020202020204" pitchFamily="34" charset="0"/>
              <a:buChar char="•"/>
            </a:pPr>
            <a:r>
              <a:rPr lang="en-IN" sz="1200" dirty="0">
                <a:latin typeface="Cambria" panose="02040503050406030204" pitchFamily="18" charset="0"/>
                <a:ea typeface="Cambria" panose="02040503050406030204" pitchFamily="18" charset="0"/>
              </a:rPr>
              <a:t>processing the grid through a residual convolutional network with channel attention to        produce a shared embedding;</a:t>
            </a:r>
          </a:p>
          <a:p>
            <a:pPr marL="171450" lvl="0" indent="-171450" algn="just">
              <a:buFont typeface="Arial" panose="020B0604020202020204" pitchFamily="34" charset="0"/>
              <a:buChar char="•"/>
            </a:pPr>
            <a:r>
              <a:rPr lang="en-IN" sz="1200" dirty="0">
                <a:solidFill>
                  <a:srgbClr val="FF0000"/>
                </a:solidFill>
                <a:latin typeface="Cambria" panose="02040503050406030204" pitchFamily="18" charset="0"/>
                <a:ea typeface="Cambria" panose="02040503050406030204" pitchFamily="18" charset="0"/>
              </a:rPr>
              <a:t>computing from the shared embedding, in parallel, a spoof score, an attack-type  attribution, an open-set novelty score (distance from a model fit only on authentic-speech embeddings), and an uncertainty estimate (MC-dropout or ensemble variance); </a:t>
            </a:r>
          </a:p>
          <a:p>
            <a:pPr marL="171450" lvl="0" indent="-171450" algn="just">
              <a:buFont typeface="Arial" panose="020B0604020202020204" pitchFamily="34" charset="0"/>
              <a:buChar char="•"/>
            </a:pPr>
            <a:r>
              <a:rPr lang="en-IN" sz="1200" dirty="0">
                <a:solidFill>
                  <a:srgbClr val="FF0000"/>
                </a:solidFill>
                <a:latin typeface="Cambria" panose="02040503050406030204" pitchFamily="18" charset="0"/>
                <a:ea typeface="Cambria" panose="02040503050406030204" pitchFamily="18" charset="0"/>
              </a:rPr>
              <a:t>routing the input to one of Pass, Review, Block, or Unknown Pattern as a joint function of      the spoof score, novelty score and uncertainty estimate.</a:t>
            </a:r>
          </a:p>
          <a:p>
            <a:pPr algn="l"/>
            <a:r>
              <a:rPr lang="en-IN" sz="1200" i="0" dirty="0">
                <a:solidFill>
                  <a:srgbClr val="FF0000"/>
                </a:solidFill>
                <a:effectLst/>
                <a:latin typeface="Cambria" panose="02040503050406030204" pitchFamily="18" charset="0"/>
                <a:ea typeface="Cambria" panose="02040503050406030204" pitchFamily="18" charset="0"/>
              </a:rPr>
              <a:t>	</a:t>
            </a:r>
          </a:p>
          <a:p>
            <a:pPr algn="l"/>
            <a:endParaRPr lang="en-IN" sz="1200" dirty="0">
              <a:solidFill>
                <a:srgbClr val="1F2328"/>
              </a:solidFill>
              <a:latin typeface="Cambria" panose="02040503050406030204" pitchFamily="18" charset="0"/>
              <a:ea typeface="Cambria" panose="02040503050406030204" pitchFamily="18" charset="0"/>
              <a:cs typeface="Arial" panose="020B0604020202020204" pitchFamily="34" charset="0"/>
            </a:endParaRPr>
          </a:p>
          <a:p>
            <a:pPr algn="just"/>
            <a:r>
              <a:rPr lang="en-IN" sz="1200" b="1" dirty="0">
                <a:latin typeface="Cambria" panose="02040503050406030204" pitchFamily="18" charset="0"/>
                <a:ea typeface="Cambria" panose="02040503050406030204" pitchFamily="18" charset="0"/>
                <a:cs typeface="Arial" panose="020B0604020202020204" pitchFamily="34" charset="0"/>
              </a:rPr>
              <a:t>Claim 2 : </a:t>
            </a:r>
            <a:r>
              <a:rPr lang="en-IN" sz="1200" dirty="0">
                <a:latin typeface="Cambria" panose="02040503050406030204" pitchFamily="18" charset="0"/>
                <a:ea typeface="Cambria" panose="02040503050406030204" pitchFamily="18" charset="0"/>
              </a:rPr>
              <a:t>A method as in Claim 1, further comprising</a:t>
            </a:r>
            <a:r>
              <a:rPr lang="en-IN" sz="1200" dirty="0">
                <a:solidFill>
                  <a:srgbClr val="FF0000"/>
                </a:solidFill>
                <a:latin typeface="Cambria" panose="02040503050406030204" pitchFamily="18" charset="0"/>
                <a:ea typeface="Cambria" panose="02040503050406030204" pitchFamily="18" charset="0"/>
              </a:rPr>
              <a:t> generating an explanation from per-         channel gradient-based activation maps computed separately for the Mel and MFCC channels, wherein a disagreement map between the two is used with the four head outputs to produce    the routing rationale.</a:t>
            </a:r>
            <a:r>
              <a:rPr lang="en-IN" sz="1200" i="0" dirty="0">
                <a:solidFill>
                  <a:srgbClr val="FF0000"/>
                </a:solidFill>
                <a:effectLst/>
                <a:latin typeface="Cambria" panose="02040503050406030204" pitchFamily="18" charset="0"/>
                <a:ea typeface="Cambria" panose="02040503050406030204" pitchFamily="18" charset="0"/>
              </a:rPr>
              <a:t>	</a:t>
            </a:r>
          </a:p>
          <a:p>
            <a:pPr algn="l"/>
            <a:r>
              <a:rPr lang="en-IN" sz="1200" dirty="0">
                <a:solidFill>
                  <a:srgbClr val="1F2328"/>
                </a:solidFill>
                <a:latin typeface="Cambria" panose="02040503050406030204" pitchFamily="18" charset="0"/>
                <a:ea typeface="Cambria" panose="02040503050406030204" pitchFamily="18" charset="0"/>
              </a:rPr>
              <a:t>	</a:t>
            </a:r>
            <a:endParaRPr lang="en-IN" sz="1200" dirty="0">
              <a:latin typeface="Cambria" panose="02040503050406030204" pitchFamily="18" charset="0"/>
              <a:ea typeface="Cambria" panose="02040503050406030204" pitchFamily="18" charset="0"/>
              <a:cs typeface="Arial" panose="020B0604020202020204" pitchFamily="34" charset="0"/>
            </a:endParaRPr>
          </a:p>
        </p:txBody>
      </p:sp>
      <p:sp>
        <p:nvSpPr>
          <p:cNvPr id="10" name="TextBox 9">
            <a:extLst>
              <a:ext uri="{FF2B5EF4-FFF2-40B4-BE49-F238E27FC236}">
                <a16:creationId xmlns:a16="http://schemas.microsoft.com/office/drawing/2014/main" id="{C4014513-206C-41AD-B65C-A3266F0C4E5E}"/>
              </a:ext>
            </a:extLst>
          </p:cNvPr>
          <p:cNvSpPr txBox="1"/>
          <p:nvPr/>
        </p:nvSpPr>
        <p:spPr>
          <a:xfrm>
            <a:off x="278627" y="1576988"/>
            <a:ext cx="4680737" cy="1015663"/>
          </a:xfrm>
          <a:prstGeom prst="rect">
            <a:avLst/>
          </a:prstGeom>
          <a:noFill/>
        </p:spPr>
        <p:txBody>
          <a:bodyPr wrap="square">
            <a:spAutoFit/>
          </a:bodyPr>
          <a:lstStyle/>
          <a:p>
            <a:pPr algn="just" eaLnBrk="0" latinLnBrk="0" hangingPunct="0"/>
            <a:r>
              <a:rPr lang="en-IN" sz="1200" dirty="0">
                <a:latin typeface="Cambria" panose="02040503050406030204" pitchFamily="18" charset="0"/>
                <a:ea typeface="Cambria" panose="02040503050406030204" pitchFamily="18" charset="0"/>
              </a:rPr>
              <a:t>The invention is a multi-head audio deepfake detection and trust system that detects synthetic speech, attributes the attack family, flags previously unseen patterns, estimates calibrated confidence, and explains each decision. All of this comes from one shared dual-channel backbone.</a:t>
            </a:r>
            <a:endParaRPr lang="en-IN" sz="1200" dirty="0">
              <a:latin typeface="Cambria" panose="02040503050406030204" pitchFamily="18" charset="0"/>
              <a:ea typeface="Cambria" panose="02040503050406030204" pitchFamily="18" charset="0"/>
              <a:cs typeface="Arial" panose="020B0604020202020204" pitchFamily="34" charset="0"/>
            </a:endParaRPr>
          </a:p>
        </p:txBody>
      </p:sp>
      <p:cxnSp>
        <p:nvCxnSpPr>
          <p:cNvPr id="13" name="Straight Connector 12">
            <a:extLst>
              <a:ext uri="{FF2B5EF4-FFF2-40B4-BE49-F238E27FC236}">
                <a16:creationId xmlns:a16="http://schemas.microsoft.com/office/drawing/2014/main" id="{3999EA15-C092-4ED6-85F7-B4E7A2A8BCE9}"/>
              </a:ext>
            </a:extLst>
          </p:cNvPr>
          <p:cNvCxnSpPr/>
          <p:nvPr/>
        </p:nvCxnSpPr>
        <p:spPr>
          <a:xfrm>
            <a:off x="5231904" y="306424"/>
            <a:ext cx="30534" cy="6245153"/>
          </a:xfrm>
          <a:prstGeom prst="line">
            <a:avLst/>
          </a:prstGeom>
          <a:ln w="47625">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3C7443-A407-4E95-A056-7935DCE09968}"/>
              </a:ext>
            </a:extLst>
          </p:cNvPr>
          <p:cNvCxnSpPr/>
          <p:nvPr/>
        </p:nvCxnSpPr>
        <p:spPr>
          <a:xfrm>
            <a:off x="5045414" y="347338"/>
            <a:ext cx="27758" cy="6245153"/>
          </a:xfrm>
          <a:prstGeom prst="line">
            <a:avLst/>
          </a:prstGeom>
          <a:ln w="47625">
            <a:prstDash val="sysDot"/>
          </a:ln>
        </p:spPr>
        <p:style>
          <a:lnRef idx="1">
            <a:schemeClr val="accent1"/>
          </a:lnRef>
          <a:fillRef idx="0">
            <a:schemeClr val="accent1"/>
          </a:fillRef>
          <a:effectRef idx="0">
            <a:schemeClr val="accent1"/>
          </a:effectRef>
          <a:fontRef idx="minor">
            <a:schemeClr val="tx1"/>
          </a:fontRef>
        </p:style>
      </p:cxnSp>
      <p:pic>
        <p:nvPicPr>
          <p:cNvPr id="8195" name="Picture 8194" descr="image.png"/>
          <p:cNvPicPr>
            <a:picLocks noChangeAspect="1"/>
          </p:cNvPicPr>
          <p:nvPr/>
        </p:nvPicPr>
        <p:blipFill>
          <a:blip r:embed="rId3"/>
          <a:stretch>
            <a:fillRect/>
          </a:stretch>
        </p:blipFill>
        <p:spPr>
          <a:xfrm>
            <a:off x="1491612" y="2680000"/>
            <a:ext cx="1333333" cy="200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278674" y="22136"/>
            <a:ext cx="11519877" cy="797169"/>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Dependent Claims </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4" name="Rectangle 3">
            <a:extLst>
              <a:ext uri="{FF2B5EF4-FFF2-40B4-BE49-F238E27FC236}">
                <a16:creationId xmlns:a16="http://schemas.microsoft.com/office/drawing/2014/main" id="{A82E2643-1DE2-4D15-9351-5EECD2913540}"/>
              </a:ext>
            </a:extLst>
          </p:cNvPr>
          <p:cNvSpPr/>
          <p:nvPr/>
        </p:nvSpPr>
        <p:spPr>
          <a:xfrm>
            <a:off x="6720438" y="-161049"/>
            <a:ext cx="5471562" cy="580672"/>
          </a:xfrm>
          <a:prstGeom prst="rect">
            <a:avLst/>
          </a:prstGeom>
        </p:spPr>
        <p:txBody>
          <a:bodyPr wrap="none">
            <a:spAutoFit/>
          </a:bodyPr>
          <a:lstStyle/>
          <a:p>
            <a:pPr>
              <a:lnSpc>
                <a:spcPts val="1969"/>
              </a:lnSpc>
              <a:buClr>
                <a:srgbClr val="000000"/>
              </a:buClr>
              <a:tabLst>
                <a:tab pos="562722" algn="l"/>
              </a:tabLst>
            </a:pPr>
            <a:r>
              <a:rPr lang="en-US" sz="1354" b="1" dirty="0">
                <a:solidFill>
                  <a:schemeClr val="bg1"/>
                </a:solidFill>
                <a:latin typeface="Cambria" panose="02040503050406030204" pitchFamily="18" charset="0"/>
                <a:ea typeface="Cambria" panose="02040503050406030204" pitchFamily="18" charset="0"/>
                <a:cs typeface="Batang" panose="02030600000101010101" pitchFamily="18" charset="-127"/>
              </a:rPr>
              <a:t>In order of relevancy. Please highlight the novel feature(s) in ‘Red’)</a:t>
            </a:r>
            <a:endParaRPr lang="en-IN" sz="1354" dirty="0">
              <a:solidFill>
                <a:schemeClr val="bg1"/>
              </a:solidFill>
              <a:latin typeface="Cambria" panose="02040503050406030204" pitchFamily="18" charset="0"/>
              <a:ea typeface="Cambria" panose="02040503050406030204" pitchFamily="18" charset="0"/>
              <a:cs typeface="Batang" panose="02030600000101010101" pitchFamily="18" charset="-127"/>
            </a:endParaRPr>
          </a:p>
          <a:p>
            <a:pPr marL="281361">
              <a:lnSpc>
                <a:spcPts val="1969"/>
              </a:lnSpc>
            </a:pPr>
            <a:r>
              <a:rPr lang="en-US" sz="1354" b="1" dirty="0">
                <a:solidFill>
                  <a:schemeClr val="bg1"/>
                </a:solidFill>
                <a:latin typeface="Cambria" panose="02040503050406030204" pitchFamily="18" charset="0"/>
                <a:ea typeface="Cambria" panose="02040503050406030204" pitchFamily="18" charset="0"/>
                <a:cs typeface="Batang" panose="02030600000101010101" pitchFamily="18" charset="-127"/>
              </a:rPr>
              <a:t> </a:t>
            </a:r>
            <a:endParaRPr lang="en-IN" sz="1354" dirty="0">
              <a:solidFill>
                <a:schemeClr val="bg1"/>
              </a:solidFill>
              <a:latin typeface="Cambria" panose="02040503050406030204" pitchFamily="18" charset="0"/>
              <a:ea typeface="Cambria" panose="02040503050406030204" pitchFamily="18" charset="0"/>
              <a:cs typeface="Batang" panose="02030600000101010101" pitchFamily="18" charset="-127"/>
            </a:endParaRPr>
          </a:p>
        </p:txBody>
      </p:sp>
      <p:sp>
        <p:nvSpPr>
          <p:cNvPr id="10" name="TextBox 9">
            <a:extLst>
              <a:ext uri="{FF2B5EF4-FFF2-40B4-BE49-F238E27FC236}">
                <a16:creationId xmlns:a16="http://schemas.microsoft.com/office/drawing/2014/main" id="{C4014513-206C-41AD-B65C-A3266F0C4E5E}"/>
              </a:ext>
            </a:extLst>
          </p:cNvPr>
          <p:cNvSpPr txBox="1"/>
          <p:nvPr/>
        </p:nvSpPr>
        <p:spPr>
          <a:xfrm>
            <a:off x="393449" y="817109"/>
            <a:ext cx="11405102" cy="3539430"/>
          </a:xfrm>
          <a:prstGeom prst="rect">
            <a:avLst/>
          </a:prstGeom>
          <a:noFill/>
        </p:spPr>
        <p:txBody>
          <a:bodyPr wrap="square">
            <a:spAutoFit/>
          </a:bodyPr>
          <a:lstStyle/>
          <a:p>
            <a:pPr lvl="0" algn="just"/>
            <a:r>
              <a:rPr lang="en-IN" sz="1400" b="1" dirty="0">
                <a:latin typeface="Cambria" panose="02040503050406030204" pitchFamily="18" charset="0"/>
                <a:ea typeface="Cambria" panose="02040503050406030204" pitchFamily="18" charset="0"/>
              </a:rPr>
              <a:t>Claim 3:</a:t>
            </a:r>
            <a:r>
              <a:rPr lang="en-IN" sz="1400" dirty="0">
                <a:latin typeface="Cambria" panose="02040503050406030204" pitchFamily="18" charset="0"/>
                <a:ea typeface="Cambria" panose="02040503050406030204" pitchFamily="18" charset="0"/>
              </a:rPr>
              <a:t> The method of Claim 1, wherein the novelty score is a </a:t>
            </a:r>
            <a:r>
              <a:rPr lang="en-IN" sz="1400" dirty="0" err="1">
                <a:latin typeface="Cambria" panose="02040503050406030204" pitchFamily="18" charset="0"/>
                <a:ea typeface="Cambria" panose="02040503050406030204" pitchFamily="18" charset="0"/>
              </a:rPr>
              <a:t>Mahalanobis</a:t>
            </a:r>
            <a:r>
              <a:rPr lang="en-IN" sz="1400" dirty="0">
                <a:latin typeface="Cambria" panose="02040503050406030204" pitchFamily="18" charset="0"/>
                <a:ea typeface="Cambria" panose="02040503050406030204" pitchFamily="18" charset="0"/>
              </a:rPr>
              <a:t> distance from a Gaussian (or a one-class SVM) fit on authentic-speech   embeddings, and the novelty check is applied </a:t>
            </a:r>
            <a:r>
              <a:rPr lang="en-IN" sz="1400" dirty="0">
                <a:solidFill>
                  <a:srgbClr val="FF0000"/>
                </a:solidFill>
                <a:latin typeface="Cambria" panose="02040503050406030204" pitchFamily="18" charset="0"/>
                <a:ea typeface="Cambria" panose="02040503050406030204" pitchFamily="18" charset="0"/>
              </a:rPr>
              <a:t>before the spoof-probability thresholds.</a:t>
            </a:r>
          </a:p>
          <a:p>
            <a:pPr lvl="0" algn="just"/>
            <a:endParaRPr lang="en-IN" sz="1400" dirty="0">
              <a:latin typeface="Cambria" panose="02040503050406030204" pitchFamily="18" charset="0"/>
              <a:ea typeface="Cambria" panose="02040503050406030204" pitchFamily="18" charset="0"/>
            </a:endParaRPr>
          </a:p>
          <a:p>
            <a:pPr lvl="0" algn="just"/>
            <a:r>
              <a:rPr lang="en-IN" sz="1400" b="1" dirty="0">
                <a:latin typeface="Cambria" panose="02040503050406030204" pitchFamily="18" charset="0"/>
                <a:ea typeface="Cambria" panose="02040503050406030204" pitchFamily="18" charset="0"/>
              </a:rPr>
              <a:t>Claim 4:</a:t>
            </a:r>
            <a:r>
              <a:rPr lang="en-IN" sz="1400" dirty="0">
                <a:latin typeface="Cambria" panose="02040503050406030204" pitchFamily="18" charset="0"/>
                <a:ea typeface="Cambria" panose="02040503050406030204" pitchFamily="18" charset="0"/>
              </a:rPr>
              <a:t> The method of Claim 1, wherein </a:t>
            </a:r>
            <a:r>
              <a:rPr lang="en-IN" sz="1400" dirty="0">
                <a:solidFill>
                  <a:srgbClr val="FF0000"/>
                </a:solidFill>
                <a:latin typeface="Cambria" panose="02040503050406030204" pitchFamily="18" charset="0"/>
                <a:ea typeface="Cambria" panose="02040503050406030204" pitchFamily="18" charset="0"/>
              </a:rPr>
              <a:t>the attribution head classifies among known artifact families</a:t>
            </a:r>
            <a:r>
              <a:rPr lang="en-IN" sz="1400" dirty="0">
                <a:latin typeface="Cambria" panose="02040503050406030204" pitchFamily="18" charset="0"/>
                <a:ea typeface="Cambria" panose="02040503050406030204" pitchFamily="18" charset="0"/>
              </a:rPr>
              <a:t> (vocoder-checkerboard, TTS-prosody-             flatness, splice/edit, channel-mismatch, unknown), trained jointly on the shared embedding.</a:t>
            </a:r>
          </a:p>
          <a:p>
            <a:pPr lvl="0" algn="just"/>
            <a:endParaRPr lang="en-IN" sz="1400" dirty="0">
              <a:latin typeface="Cambria" panose="02040503050406030204" pitchFamily="18" charset="0"/>
              <a:ea typeface="Cambria" panose="02040503050406030204" pitchFamily="18" charset="0"/>
            </a:endParaRPr>
          </a:p>
          <a:p>
            <a:pPr lvl="0" algn="just"/>
            <a:r>
              <a:rPr lang="en-IN" sz="1400" b="1" dirty="0">
                <a:latin typeface="Cambria" panose="02040503050406030204" pitchFamily="18" charset="0"/>
                <a:ea typeface="Cambria" panose="02040503050406030204" pitchFamily="18" charset="0"/>
              </a:rPr>
              <a:t>Claim 5:</a:t>
            </a:r>
            <a:r>
              <a:rPr lang="en-IN" sz="1400" dirty="0">
                <a:latin typeface="Cambria" panose="02040503050406030204" pitchFamily="18" charset="0"/>
                <a:ea typeface="Cambria" panose="02040503050406030204" pitchFamily="18" charset="0"/>
              </a:rPr>
              <a:t> The method of Claim 1, wherein the </a:t>
            </a:r>
            <a:r>
              <a:rPr lang="en-IN" sz="1400" dirty="0">
                <a:solidFill>
                  <a:srgbClr val="FF0000"/>
                </a:solidFill>
                <a:latin typeface="Cambria" panose="02040503050406030204" pitchFamily="18" charset="0"/>
                <a:ea typeface="Cambria" panose="02040503050406030204" pitchFamily="18" charset="0"/>
              </a:rPr>
              <a:t>uncertainty</a:t>
            </a:r>
            <a:r>
              <a:rPr lang="en-IN" sz="1400" dirty="0">
                <a:latin typeface="Cambria" panose="02040503050406030204" pitchFamily="18" charset="0"/>
                <a:ea typeface="Cambria" panose="02040503050406030204" pitchFamily="18" charset="0"/>
              </a:rPr>
              <a:t> estimate is produced by MC-dropout or a small ensemble at inference.</a:t>
            </a:r>
          </a:p>
          <a:p>
            <a:pPr lvl="0" algn="just"/>
            <a:endParaRPr lang="en-IN" sz="1400" dirty="0">
              <a:latin typeface="Cambria" panose="02040503050406030204" pitchFamily="18" charset="0"/>
              <a:ea typeface="Cambria" panose="02040503050406030204" pitchFamily="18" charset="0"/>
            </a:endParaRPr>
          </a:p>
          <a:p>
            <a:pPr lvl="0" algn="just"/>
            <a:r>
              <a:rPr lang="en-IN" sz="1400" b="1" dirty="0">
                <a:latin typeface="Cambria" panose="02040503050406030204" pitchFamily="18" charset="0"/>
                <a:ea typeface="Cambria" panose="02040503050406030204" pitchFamily="18" charset="0"/>
              </a:rPr>
              <a:t>Claim 6:</a:t>
            </a:r>
            <a:r>
              <a:rPr lang="en-IN" sz="1400" dirty="0">
                <a:latin typeface="Cambria" panose="02040503050406030204" pitchFamily="18" charset="0"/>
                <a:ea typeface="Cambria" panose="02040503050406030204" pitchFamily="18" charset="0"/>
              </a:rPr>
              <a:t> The method of Claim 2, wherein the </a:t>
            </a:r>
            <a:r>
              <a:rPr lang="en-IN" sz="1400" dirty="0">
                <a:solidFill>
                  <a:srgbClr val="FF0000"/>
                </a:solidFill>
                <a:latin typeface="Cambria" panose="02040503050406030204" pitchFamily="18" charset="0"/>
                <a:ea typeface="Cambria" panose="02040503050406030204" pitchFamily="18" charset="0"/>
              </a:rPr>
              <a:t>rationale is a deterministic</a:t>
            </a:r>
            <a:r>
              <a:rPr lang="en-IN" sz="1400" dirty="0">
                <a:latin typeface="Cambria" panose="02040503050406030204" pitchFamily="18" charset="0"/>
                <a:ea typeface="Cambria" panose="02040503050406030204" pitchFamily="18" charset="0"/>
              </a:rPr>
              <a:t>, template-based natural-language summary assembled from the head          outputs.</a:t>
            </a:r>
          </a:p>
          <a:p>
            <a:pPr lvl="0" algn="just"/>
            <a:endParaRPr lang="en-IN" sz="1400" dirty="0">
              <a:latin typeface="Cambria" panose="02040503050406030204" pitchFamily="18" charset="0"/>
              <a:ea typeface="Cambria" panose="02040503050406030204" pitchFamily="18" charset="0"/>
            </a:endParaRPr>
          </a:p>
          <a:p>
            <a:pPr lvl="0" algn="just"/>
            <a:r>
              <a:rPr lang="en-IN" sz="1400" b="1" dirty="0">
                <a:latin typeface="Cambria" panose="02040503050406030204" pitchFamily="18" charset="0"/>
                <a:ea typeface="Cambria" panose="02040503050406030204" pitchFamily="18" charset="0"/>
              </a:rPr>
              <a:t>Claim 7:</a:t>
            </a:r>
            <a:r>
              <a:rPr lang="en-IN" sz="1400" dirty="0">
                <a:latin typeface="Cambria" panose="02040503050406030204" pitchFamily="18" charset="0"/>
                <a:ea typeface="Cambria" panose="02040503050406030204" pitchFamily="18" charset="0"/>
              </a:rPr>
              <a:t> The method of Claim 1, further comprising training with randomized robustness augmentation (MP3/Opus re-encoding, additive noise at  controlled SNR, reverberation, mic/channel simulation, 8 kHz down sampling).</a:t>
            </a:r>
          </a:p>
          <a:p>
            <a:pPr lvl="0" algn="just"/>
            <a:endParaRPr lang="en-IN" sz="1400" dirty="0">
              <a:latin typeface="Cambria" panose="02040503050406030204" pitchFamily="18" charset="0"/>
              <a:ea typeface="Cambria" panose="02040503050406030204" pitchFamily="18" charset="0"/>
            </a:endParaRPr>
          </a:p>
          <a:p>
            <a:pPr lvl="0" algn="just"/>
            <a:r>
              <a:rPr lang="en-IN" sz="1400" b="1" dirty="0">
                <a:latin typeface="Cambria" panose="02040503050406030204" pitchFamily="18" charset="0"/>
                <a:ea typeface="Cambria" panose="02040503050406030204" pitchFamily="18" charset="0"/>
              </a:rPr>
              <a:t>Claim 8:</a:t>
            </a:r>
            <a:r>
              <a:rPr lang="en-IN" sz="1400" dirty="0">
                <a:latin typeface="Cambria" panose="02040503050406030204" pitchFamily="18" charset="0"/>
                <a:ea typeface="Cambria" panose="02040503050406030204" pitchFamily="18" charset="0"/>
              </a:rPr>
              <a:t> The method of Claim 1, further comprising queuing reviewer-confirmed and high-novelty samples for periodic incremental fine-tuning      with versioned model releases.</a:t>
            </a:r>
          </a:p>
        </p:txBody>
      </p:sp>
    </p:spTree>
    <p:extLst>
      <p:ext uri="{BB962C8B-B14F-4D97-AF65-F5344CB8AC3E}">
        <p14:creationId xmlns:p14="http://schemas.microsoft.com/office/powerpoint/2010/main" val="153726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304529" y="-19392"/>
            <a:ext cx="11519877" cy="797169"/>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Main Patentable Points</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3" name="Rectangle 2"/>
          <p:cNvSpPr/>
          <p:nvPr/>
        </p:nvSpPr>
        <p:spPr>
          <a:xfrm>
            <a:off x="0" y="1189764"/>
            <a:ext cx="11736482" cy="2999347"/>
          </a:xfrm>
          <a:prstGeom prst="rect">
            <a:avLst/>
          </a:prstGeom>
        </p:spPr>
        <p:txBody>
          <a:bodyPr wrap="square">
            <a:spAutoFit/>
          </a:bodyPr>
          <a:lstStyle/>
          <a:p>
            <a:pPr algn="just" defTabSz="1125444" latinLnBrk="0">
              <a:spcBef>
                <a:spcPts val="1477"/>
              </a:spcBef>
              <a:defRPr/>
            </a:pPr>
            <a:r>
              <a:rPr lang="en-US" sz="1400" b="1" dirty="0">
                <a:solidFill>
                  <a:srgbClr val="000000"/>
                </a:solidFill>
                <a:latin typeface="Cambria" panose="02040503050406030204" pitchFamily="18" charset="0"/>
                <a:ea typeface="Cambria" panose="02040503050406030204" pitchFamily="18" charset="0"/>
                <a:cs typeface="Arial" panose="020B0604020202020204" pitchFamily="34" charset="0"/>
              </a:rPr>
              <a:t>Patentable Point 1: </a:t>
            </a:r>
          </a:p>
          <a:p>
            <a:pPr algn="just"/>
            <a:r>
              <a:rPr lang="en-IN" sz="1400" dirty="0">
                <a:latin typeface="Cambria" panose="02040503050406030204" pitchFamily="18" charset="0"/>
                <a:ea typeface="Cambria" panose="02040503050406030204" pitchFamily="18" charset="0"/>
              </a:rPr>
              <a:t>A method for jointly routing audio decisions as a function of spoof score, open-set novelty, and calibrated uncertainty from a shared embedding.</a:t>
            </a:r>
          </a:p>
          <a:p>
            <a:pPr algn="just" defTabSz="1125444" latinLnBrk="0">
              <a:spcBef>
                <a:spcPts val="1477"/>
              </a:spcBef>
              <a:defRPr/>
            </a:pPr>
            <a:r>
              <a:rPr lang="en-US" sz="1400" b="1" dirty="0">
                <a:solidFill>
                  <a:srgbClr val="000000"/>
                </a:solidFill>
                <a:latin typeface="Cambria" panose="02040503050406030204" pitchFamily="18" charset="0"/>
                <a:ea typeface="Cambria" panose="02040503050406030204" pitchFamily="18" charset="0"/>
                <a:cs typeface="Arial" panose="020B0604020202020204" pitchFamily="34" charset="0"/>
              </a:rPr>
              <a:t>Patentable Point 2: </a:t>
            </a:r>
          </a:p>
          <a:p>
            <a:pPr lvl="0" algn="just"/>
            <a:r>
              <a:rPr lang="en-IN" sz="1400" dirty="0">
                <a:latin typeface="Cambria" panose="02040503050406030204" pitchFamily="18" charset="0"/>
                <a:ea typeface="Cambria" panose="02040503050406030204" pitchFamily="18" charset="0"/>
              </a:rPr>
              <a:t>A method for open-set detection of unseen voice generators using a one-class boundary fit on authentic speech only, fused directly into the gateway.</a:t>
            </a:r>
            <a:endParaRPr lang="en-US" sz="14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just" defTabSz="1125444" latinLnBrk="0">
              <a:spcBef>
                <a:spcPts val="1477"/>
              </a:spcBef>
              <a:defRPr/>
            </a:pPr>
            <a:r>
              <a:rPr lang="en-US" sz="1400" b="1" dirty="0">
                <a:solidFill>
                  <a:srgbClr val="000000"/>
                </a:solidFill>
                <a:latin typeface="Cambria" panose="02040503050406030204" pitchFamily="18" charset="0"/>
                <a:ea typeface="Cambria" panose="02040503050406030204" pitchFamily="18" charset="0"/>
                <a:cs typeface="Arial" panose="020B0604020202020204" pitchFamily="34" charset="0"/>
              </a:rPr>
              <a:t>Patentable Point 3: </a:t>
            </a:r>
          </a:p>
          <a:p>
            <a:pPr lvl="0" algn="just"/>
            <a:r>
              <a:rPr lang="en-IN" sz="1400" dirty="0">
                <a:latin typeface="Cambria" panose="02040503050406030204" pitchFamily="18" charset="0"/>
                <a:ea typeface="Cambria" panose="02040503050406030204" pitchFamily="18" charset="0"/>
              </a:rPr>
              <a:t>A method for generating per-channel (Mel vs. MFCC) disagreement-based explanations tied to the routing decision.</a:t>
            </a:r>
            <a:endParaRPr lang="en-US" sz="14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just" defTabSz="1125444" fontAlgn="auto" latinLnBrk="0">
              <a:spcBef>
                <a:spcPts val="1477"/>
              </a:spcBef>
              <a:spcAft>
                <a:spcPts val="0"/>
              </a:spcAft>
              <a:defRPr/>
            </a:pPr>
            <a:r>
              <a:rPr lang="en-US" sz="1400" b="1" dirty="0">
                <a:solidFill>
                  <a:srgbClr val="000000"/>
                </a:solidFill>
                <a:latin typeface="Cambria" panose="02040503050406030204" pitchFamily="18" charset="0"/>
                <a:ea typeface="Cambria" panose="02040503050406030204" pitchFamily="18" charset="0"/>
                <a:cs typeface="Arial" panose="020B0604020202020204" pitchFamily="34" charset="0"/>
              </a:rPr>
              <a:t>Patentable Point 4: </a:t>
            </a:r>
          </a:p>
          <a:p>
            <a:pPr algn="just" defTabSz="1125444" fontAlgn="auto" latinLnBrk="0">
              <a:spcBef>
                <a:spcPts val="0"/>
              </a:spcBef>
              <a:spcAft>
                <a:spcPts val="0"/>
              </a:spcAft>
              <a:defRPr/>
            </a:pPr>
            <a:r>
              <a:rPr lang="en-IN" sz="1400" dirty="0">
                <a:latin typeface="Cambria" panose="02040503050406030204" pitchFamily="18" charset="0"/>
                <a:ea typeface="Cambria" panose="02040503050406030204" pitchFamily="18" charset="0"/>
              </a:rPr>
              <a:t>A method for attack-family attribution trained jointly with detection on the same embedding.</a:t>
            </a:r>
          </a:p>
          <a:p>
            <a:pPr algn="just" defTabSz="1125444" fontAlgn="auto" latinLnBrk="0">
              <a:lnSpc>
                <a:spcPct val="150000"/>
              </a:lnSpc>
              <a:spcBef>
                <a:spcPts val="0"/>
              </a:spcBef>
              <a:spcAft>
                <a:spcPts val="0"/>
              </a:spcAft>
              <a:defRPr/>
            </a:pPr>
            <a:endParaRPr lang="en-US" sz="14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just">
              <a:lnSpc>
                <a:spcPct val="150000"/>
              </a:lnSpc>
              <a:buClr>
                <a:srgbClr val="000000"/>
              </a:buClr>
              <a:tabLst>
                <a:tab pos="562722" algn="l"/>
              </a:tabLst>
            </a:pPr>
            <a:endParaRPr lang="en-IN" sz="1400" dirty="0">
              <a:latin typeface="Cambria" panose="02040503050406030204" pitchFamily="18" charset="0"/>
              <a:ea typeface="Cambria" panose="02040503050406030204" pitchFamily="18" charset="0"/>
              <a:cs typeface="Batang" panose="02030600000101010101" pitchFamily="18" charset="-127"/>
            </a:endParaRPr>
          </a:p>
        </p:txBody>
      </p:sp>
    </p:spTree>
    <p:extLst>
      <p:ext uri="{BB962C8B-B14F-4D97-AF65-F5344CB8AC3E}">
        <p14:creationId xmlns:p14="http://schemas.microsoft.com/office/powerpoint/2010/main" val="2649895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304529" y="-19392"/>
            <a:ext cx="11519877" cy="797169"/>
          </a:xfrm>
          <a:prstGeom prst="rect">
            <a:avLst/>
          </a:prstGeom>
        </p:spPr>
        <p:txBody>
          <a:bodyPr/>
          <a:lstStyle/>
          <a:p>
            <a:pPr algn="l" eaLnBrk="1" hangingPunct="1"/>
            <a:r>
              <a:rPr lang="en-US" altLang="ko-KR" sz="2400" dirty="0">
                <a:solidFill>
                  <a:schemeClr val="tx1"/>
                </a:solidFill>
                <a:latin typeface="Cambria" panose="02040503050406030204" pitchFamily="18" charset="0"/>
                <a:ea typeface="Cambria" panose="02040503050406030204" pitchFamily="18" charset="0"/>
              </a:rPr>
              <a:t>Prior Arts </a:t>
            </a:r>
            <a:r>
              <a:rPr lang="en-US" altLang="ko-KR" sz="2400" dirty="0" err="1">
                <a:solidFill>
                  <a:schemeClr val="tx1"/>
                </a:solidFill>
                <a:latin typeface="Cambria" panose="02040503050406030204" pitchFamily="18" charset="0"/>
                <a:ea typeface="Cambria" panose="02040503050406030204" pitchFamily="18" charset="0"/>
              </a:rPr>
              <a:t>Comparision</a:t>
            </a:r>
            <a:endParaRPr lang="en-US" altLang="ko-KR" sz="1100" dirty="0">
              <a:solidFill>
                <a:schemeClr val="tx1"/>
              </a:solidFill>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A0EC7452-6999-4564-A4BB-99F4E6EA972F}"/>
              </a:ext>
            </a:extLst>
          </p:cNvPr>
          <p:cNvGraphicFramePr>
            <a:graphicFrameLocks noGrp="1"/>
          </p:cNvGraphicFramePr>
          <p:nvPr>
            <p:extLst>
              <p:ext uri="{D42A27DB-BD31-4B8C-83A1-F6EECF244321}">
                <p14:modId xmlns:p14="http://schemas.microsoft.com/office/powerpoint/2010/main" val="3939991697"/>
              </p:ext>
            </p:extLst>
          </p:nvPr>
        </p:nvGraphicFramePr>
        <p:xfrm>
          <a:off x="139665" y="1237929"/>
          <a:ext cx="11932999" cy="4587949"/>
        </p:xfrm>
        <a:graphic>
          <a:graphicData uri="http://schemas.openxmlformats.org/drawingml/2006/table">
            <a:tbl>
              <a:tblPr firstRow="1" firstCol="1" bandRow="1">
                <a:tableStyleId>{5940675A-B579-460E-94D1-54222C63F5DA}</a:tableStyleId>
              </a:tblPr>
              <a:tblGrid>
                <a:gridCol w="2535613">
                  <a:extLst>
                    <a:ext uri="{9D8B030D-6E8A-4147-A177-3AD203B41FA5}">
                      <a16:colId xmlns:a16="http://schemas.microsoft.com/office/drawing/2014/main" val="2642482085"/>
                    </a:ext>
                  </a:extLst>
                </a:gridCol>
                <a:gridCol w="9397386">
                  <a:extLst>
                    <a:ext uri="{9D8B030D-6E8A-4147-A177-3AD203B41FA5}">
                      <a16:colId xmlns:a16="http://schemas.microsoft.com/office/drawing/2014/main" val="1181864460"/>
                    </a:ext>
                  </a:extLst>
                </a:gridCol>
              </a:tblGrid>
              <a:tr h="202908">
                <a:tc>
                  <a:txBody>
                    <a:bodyPr/>
                    <a:lstStyle/>
                    <a:p>
                      <a:pPr algn="ctr" eaLnBrk="0" latinLnBrk="0" hangingPunct="0">
                        <a:lnSpc>
                          <a:spcPct val="114000"/>
                        </a:lnSpc>
                        <a:spcAft>
                          <a:spcPts val="0"/>
                        </a:spcAft>
                      </a:pPr>
                      <a:r>
                        <a:rPr lang="en-US" sz="1400" b="1" dirty="0">
                          <a:effectLst/>
                          <a:latin typeface="Cambria" panose="02040503050406030204" pitchFamily="18" charset="0"/>
                          <a:ea typeface="Cambria" panose="02040503050406030204" pitchFamily="18" charset="0"/>
                          <a:cs typeface="Arial" panose="020B0604020202020204" pitchFamily="34" charset="0"/>
                        </a:rPr>
                        <a:t>Prior Art Reference</a:t>
                      </a:r>
                      <a:endParaRPr lang="en-IN" sz="1400" b="1"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noFill/>
                  </a:tcPr>
                </a:tc>
                <a:tc>
                  <a:txBody>
                    <a:bodyPr/>
                    <a:lstStyle/>
                    <a:p>
                      <a:pPr algn="ctr" eaLnBrk="0" latinLnBrk="0" hangingPunct="0">
                        <a:lnSpc>
                          <a:spcPct val="114000"/>
                        </a:lnSpc>
                        <a:spcAft>
                          <a:spcPts val="0"/>
                        </a:spcAft>
                      </a:pPr>
                      <a:r>
                        <a:rPr lang="en-US" sz="1400" b="1" dirty="0">
                          <a:effectLst/>
                          <a:latin typeface="Cambria" panose="02040503050406030204" pitchFamily="18" charset="0"/>
                          <a:ea typeface="Cambria" panose="02040503050406030204" pitchFamily="18" charset="0"/>
                          <a:cs typeface="Arial" panose="020B0604020202020204" pitchFamily="34" charset="0"/>
                        </a:rPr>
                        <a:t>Differences from Prior Art</a:t>
                      </a:r>
                      <a:endParaRPr lang="en-IN" sz="1400" b="1" dirty="0">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noFill/>
                  </a:tcPr>
                </a:tc>
                <a:extLst>
                  <a:ext uri="{0D108BD9-81ED-4DB2-BD59-A6C34878D82A}">
                    <a16:rowId xmlns:a16="http://schemas.microsoft.com/office/drawing/2014/main" val="139074708"/>
                  </a:ext>
                </a:extLst>
              </a:tr>
              <a:tr h="1104090">
                <a:tc>
                  <a:txBody>
                    <a:bodyPr/>
                    <a:lstStyle/>
                    <a:p>
                      <a:pPr lvl="0" algn="ctr" eaLnBrk="0" latinLnBrk="0" hangingPunct="0"/>
                      <a:endParaRPr lang="en-IN" sz="1200" b="0" i="0"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lvl="0" algn="ctr" eaLnBrk="0" latinLnBrk="0" hangingPunct="0"/>
                      <a:r>
                        <a:rPr lang="en-IN" sz="1200" dirty="0">
                          <a:latin typeface="Cambria" panose="02040503050406030204" pitchFamily="18" charset="0"/>
                          <a:ea typeface="Cambria" panose="02040503050406030204" pitchFamily="18" charset="0"/>
                        </a:rPr>
                        <a:t>Single-channel spectrogram CNN detectors </a:t>
                      </a:r>
                      <a:endParaRPr lang="en-IN" sz="1200" b="0" i="0"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lvl="0" algn="ctr" eaLnBrk="0" latinLnBrk="0" hangingPunct="0"/>
                      <a:r>
                        <a:rPr lang="en-IN" sz="1200" b="1" i="0"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rPr>
                        <a:t>(US 12,462,813 B1)</a:t>
                      </a:r>
                      <a:br>
                        <a:rPr lang="en-IN" sz="1200" dirty="0">
                          <a:latin typeface="Cambria" panose="02040503050406030204" pitchFamily="18" charset="0"/>
                          <a:ea typeface="Cambria" panose="02040503050406030204" pitchFamily="18" charset="0"/>
                        </a:rPr>
                      </a:br>
                      <a:endParaRPr lang="en-US" sz="1200" b="1"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nchor="ctr">
                    <a:noFill/>
                  </a:tcPr>
                </a:tc>
                <a:tc>
                  <a:txBody>
                    <a:bodyPr/>
                    <a:lstStyle/>
                    <a:p>
                      <a:pPr marL="72000" marR="0" lvl="0" indent="0" algn="l" defTabSz="1463040" rtl="0" eaLnBrk="0" fontAlgn="auto" latinLnBrk="0" hangingPunct="0">
                        <a:lnSpc>
                          <a:spcPct val="100000"/>
                        </a:lnSpc>
                        <a:spcBef>
                          <a:spcPts val="0"/>
                        </a:spcBef>
                        <a:spcAft>
                          <a:spcPts val="0"/>
                        </a:spcAft>
                        <a:buClrTx/>
                        <a:buSzTx/>
                        <a:buFont typeface="Arial" panose="020B0604020202020204" pitchFamily="34" charset="0"/>
                        <a:buNone/>
                        <a:tabLst/>
                        <a:defRPr/>
                      </a:pPr>
                      <a:r>
                        <a:rPr lang="en-IN" sz="1200" dirty="0" err="1">
                          <a:latin typeface="Cambria" panose="02040503050406030204" pitchFamily="18" charset="0"/>
                          <a:ea typeface="Cambria" panose="02040503050406030204" pitchFamily="18" charset="0"/>
                        </a:rPr>
                        <a:t>DeepShield</a:t>
                      </a:r>
                      <a:r>
                        <a:rPr lang="en-IN" sz="1200" dirty="0">
                          <a:latin typeface="Cambria" panose="02040503050406030204" pitchFamily="18" charset="0"/>
                          <a:ea typeface="Cambria" panose="02040503050406030204" pitchFamily="18" charset="0"/>
                        </a:rPr>
                        <a:t> uses joint 2 × 64 × 94 Mel + MFCC fusion, forcing cross-channel receptive fields</a:t>
                      </a:r>
                      <a:endParaRPr lang="en-IN" sz="1200" b="0" kern="1200" baseline="0" dirty="0">
                        <a:solidFill>
                          <a:schemeClr val="accent1"/>
                        </a:solidFill>
                        <a:latin typeface="Cambria" panose="02040503050406030204" pitchFamily="18" charset="0"/>
                        <a:ea typeface="Cambria" panose="02040503050406030204" pitchFamily="18"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785825672"/>
                  </a:ext>
                </a:extLst>
              </a:tr>
              <a:tr h="1080120">
                <a:tc>
                  <a:txBody>
                    <a:bodyPr/>
                    <a:lstStyle/>
                    <a:p>
                      <a:pPr lvl="0" algn="ctr" eaLnBrk="0" latinLnBrk="0" hangingPunct="0"/>
                      <a:r>
                        <a:rPr lang="en-IN" sz="1200" dirty="0">
                          <a:latin typeface="Cambria" panose="02040503050406030204" pitchFamily="18" charset="0"/>
                          <a:ea typeface="Cambria" panose="02040503050406030204" pitchFamily="18" charset="0"/>
                        </a:rPr>
                        <a:t>Static single-threshold binary classifiers </a:t>
                      </a:r>
                    </a:p>
                    <a:p>
                      <a:pPr marL="0" marR="0" lvl="0" indent="0" algn="ctr" defTabSz="1125444" rtl="0" eaLnBrk="0" fontAlgn="auto" latinLnBrk="0" hangingPunct="0">
                        <a:lnSpc>
                          <a:spcPct val="100000"/>
                        </a:lnSpc>
                        <a:spcBef>
                          <a:spcPts val="0"/>
                        </a:spcBef>
                        <a:spcAft>
                          <a:spcPts val="0"/>
                        </a:spcAft>
                        <a:buClrTx/>
                        <a:buSzTx/>
                        <a:buFontTx/>
                        <a:buNone/>
                        <a:tabLst/>
                        <a:defRPr/>
                      </a:pPr>
                      <a:r>
                        <a:rPr lang="en-IN" sz="1200" b="1" i="0"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rPr>
                        <a:t>(US 12,592,239 B2)</a:t>
                      </a:r>
                    </a:p>
                    <a:p>
                      <a:pPr lvl="0" algn="ctr" eaLnBrk="0" latinLnBrk="0" hangingPunct="0"/>
                      <a:endParaRPr lang="en-IN" sz="1200" b="1" i="0"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endParaRPr>
                    </a:p>
                  </a:txBody>
                  <a:tcPr marL="68580" marR="68580" marT="0" marB="0" anchor="ctr">
                    <a:noFill/>
                  </a:tcPr>
                </a:tc>
                <a:tc>
                  <a:txBody>
                    <a:bodyPr/>
                    <a:lstStyle/>
                    <a:p>
                      <a:pPr marL="72000" marR="0" lvl="0" indent="0" algn="l" defTabSz="1463040" rtl="0" eaLnBrk="0" fontAlgn="auto" latinLnBrk="0" hangingPunct="0">
                        <a:lnSpc>
                          <a:spcPct val="100000"/>
                        </a:lnSpc>
                        <a:spcBef>
                          <a:spcPts val="0"/>
                        </a:spcBef>
                        <a:spcAft>
                          <a:spcPts val="0"/>
                        </a:spcAft>
                        <a:buClrTx/>
                        <a:buSzTx/>
                        <a:buFont typeface="Arial" panose="020B0604020202020204" pitchFamily="34" charset="0"/>
                        <a:buNone/>
                        <a:tabLst/>
                        <a:defRPr/>
                      </a:pPr>
                      <a:r>
                        <a:rPr lang="en-IN" sz="1200" dirty="0" err="1">
                          <a:latin typeface="Cambria" panose="02040503050406030204" pitchFamily="18" charset="0"/>
                          <a:ea typeface="Cambria" panose="02040503050406030204" pitchFamily="18" charset="0"/>
                        </a:rPr>
                        <a:t>DeepShield</a:t>
                      </a:r>
                      <a:r>
                        <a:rPr lang="en-IN" sz="1200" dirty="0">
                          <a:latin typeface="Cambria" panose="02040503050406030204" pitchFamily="18" charset="0"/>
                          <a:ea typeface="Cambria" panose="02040503050406030204" pitchFamily="18" charset="0"/>
                        </a:rPr>
                        <a:t> routes jointly on score, novelty and uncertainty</a:t>
                      </a:r>
                      <a:endParaRPr lang="en-IN" sz="1200" b="0" kern="1200" baseline="0" dirty="0">
                        <a:solidFill>
                          <a:schemeClr val="accent1"/>
                        </a:solidFill>
                        <a:latin typeface="Cambria" panose="02040503050406030204" pitchFamily="18" charset="0"/>
                        <a:ea typeface="Cambria" panose="02040503050406030204" pitchFamily="18"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2621751048"/>
                  </a:ext>
                </a:extLst>
              </a:tr>
              <a:tr h="1100734">
                <a:tc>
                  <a:txBody>
                    <a:bodyPr/>
                    <a:lstStyle/>
                    <a:p>
                      <a:pPr lvl="0" algn="ctr" eaLnBrk="0" latinLnBrk="0" hangingPunct="0"/>
                      <a:r>
                        <a:rPr lang="en-IN" sz="1200" dirty="0">
                          <a:latin typeface="Cambria" panose="02040503050406030204" pitchFamily="18" charset="0"/>
                          <a:ea typeface="Cambria" panose="02040503050406030204" pitchFamily="18" charset="0"/>
                        </a:rPr>
                        <a:t>Closed-set generator classifiers</a:t>
                      </a:r>
                    </a:p>
                    <a:p>
                      <a:pPr marL="0" marR="0" lvl="0" indent="0" algn="ctr" defTabSz="1125444" rtl="0" eaLnBrk="0" fontAlgn="auto" latinLnBrk="0" hangingPunct="0">
                        <a:lnSpc>
                          <a:spcPct val="100000"/>
                        </a:lnSpc>
                        <a:spcBef>
                          <a:spcPts val="0"/>
                        </a:spcBef>
                        <a:spcAft>
                          <a:spcPts val="0"/>
                        </a:spcAft>
                        <a:buClrTx/>
                        <a:buSzTx/>
                        <a:buFontTx/>
                        <a:buNone/>
                        <a:tabLst/>
                        <a:defRPr/>
                      </a:pPr>
                      <a:r>
                        <a:rPr lang="en-IN" sz="1200" b="1" i="0"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rPr>
                        <a:t>(Kinnunen et al. 2019, ASVspoof LA challenge)</a:t>
                      </a:r>
                    </a:p>
                  </a:txBody>
                  <a:tcPr marL="68580" marR="68580" marT="0" marB="0" anchor="ctr">
                    <a:noFill/>
                  </a:tcPr>
                </a:tc>
                <a:tc>
                  <a:txBody>
                    <a:bodyPr/>
                    <a:lstStyle/>
                    <a:p>
                      <a:pPr marL="72000" marR="0" lvl="0" indent="0" algn="l" defTabSz="1463040" rtl="0" eaLnBrk="0" fontAlgn="auto" latinLnBrk="0" hangingPunct="0">
                        <a:lnSpc>
                          <a:spcPct val="100000"/>
                        </a:lnSpc>
                        <a:spcBef>
                          <a:spcPts val="0"/>
                        </a:spcBef>
                        <a:spcAft>
                          <a:spcPts val="0"/>
                        </a:spcAft>
                        <a:buClrTx/>
                        <a:buSzTx/>
                        <a:buFont typeface="Arial" panose="020B0604020202020204" pitchFamily="34" charset="0"/>
                        <a:buNone/>
                        <a:tabLst/>
                        <a:defRPr/>
                      </a:pPr>
                      <a:r>
                        <a:rPr lang="en-IN" sz="1200" dirty="0" err="1">
                          <a:latin typeface="Cambria" panose="02040503050406030204" pitchFamily="18" charset="0"/>
                          <a:ea typeface="Cambria" panose="02040503050406030204" pitchFamily="18" charset="0"/>
                        </a:rPr>
                        <a:t>DeepShield</a:t>
                      </a:r>
                      <a:r>
                        <a:rPr lang="en-IN" sz="1200" dirty="0">
                          <a:latin typeface="Cambria" panose="02040503050406030204" pitchFamily="18" charset="0"/>
                          <a:ea typeface="Cambria" panose="02040503050406030204" pitchFamily="18" charset="0"/>
                        </a:rPr>
                        <a:t> adds a one-class novelty head fit on real speech only</a:t>
                      </a:r>
                      <a:endParaRPr lang="en-IN" sz="1200" b="0" kern="1200" baseline="0" dirty="0">
                        <a:solidFill>
                          <a:schemeClr val="accent1"/>
                        </a:solidFill>
                        <a:latin typeface="Cambria" panose="02040503050406030204" pitchFamily="18" charset="0"/>
                        <a:ea typeface="Cambria" panose="02040503050406030204" pitchFamily="18"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3984002055"/>
                  </a:ext>
                </a:extLst>
              </a:tr>
              <a:tr h="1080120">
                <a:tc>
                  <a:txBody>
                    <a:bodyPr/>
                    <a:lstStyle/>
                    <a:p>
                      <a:pPr lvl="0" algn="ctr" eaLnBrk="0" latinLnBrk="0" hangingPunct="0"/>
                      <a:r>
                        <a:rPr lang="en-IN" sz="1200" dirty="0">
                          <a:latin typeface="Cambria" panose="02040503050406030204" pitchFamily="18" charset="0"/>
                          <a:ea typeface="Cambria" panose="02040503050406030204" pitchFamily="18" charset="0"/>
                        </a:rPr>
                        <a:t>Generic Grad-CAM/SHAP saliency </a:t>
                      </a:r>
                      <a:endParaRPr lang="en-IN" sz="1200" b="0" i="0"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endParaRPr>
                    </a:p>
                    <a:p>
                      <a:pPr lvl="0" algn="ctr" eaLnBrk="0" latinLnBrk="0" hangingPunct="0"/>
                      <a:r>
                        <a:rPr lang="en-IN" sz="1200" b="1" i="0" kern="1200" dirty="0">
                          <a:solidFill>
                            <a:schemeClr val="tx1"/>
                          </a:solidFill>
                          <a:effectLst/>
                          <a:latin typeface="Cambria" panose="02040503050406030204" pitchFamily="18" charset="0"/>
                          <a:ea typeface="Cambria" panose="02040503050406030204" pitchFamily="18" charset="0"/>
                          <a:cs typeface="Arial" panose="020B0604020202020204" pitchFamily="34" charset="0"/>
                        </a:rPr>
                        <a:t>(Selvaraju et al. 2017; Lundberg &amp; Lee 2017)</a:t>
                      </a:r>
                    </a:p>
                  </a:txBody>
                  <a:tcPr marL="68580" marR="68580" marT="0" marB="0" anchor="ctr">
                    <a:noFill/>
                  </a:tcPr>
                </a:tc>
                <a:tc>
                  <a:txBody>
                    <a:bodyPr/>
                    <a:lstStyle/>
                    <a:p>
                      <a:pPr marL="72000" marR="0" lvl="0" indent="0" algn="l" defTabSz="1463040" rtl="0" eaLnBrk="0" fontAlgn="auto" latinLnBrk="0" hangingPunct="0">
                        <a:lnSpc>
                          <a:spcPct val="100000"/>
                        </a:lnSpc>
                        <a:spcBef>
                          <a:spcPts val="0"/>
                        </a:spcBef>
                        <a:spcAft>
                          <a:spcPts val="0"/>
                        </a:spcAft>
                        <a:buClrTx/>
                        <a:buSzTx/>
                        <a:buFont typeface="Arial" panose="020B0604020202020204" pitchFamily="34" charset="0"/>
                        <a:buNone/>
                        <a:tabLst/>
                        <a:defRPr/>
                      </a:pPr>
                      <a:r>
                        <a:rPr lang="en-IN" sz="1200" dirty="0" err="1">
                          <a:latin typeface="Cambria" panose="02040503050406030204" pitchFamily="18" charset="0"/>
                          <a:ea typeface="Cambria" panose="02040503050406030204" pitchFamily="18" charset="0"/>
                        </a:rPr>
                        <a:t>DeepShield</a:t>
                      </a:r>
                      <a:r>
                        <a:rPr lang="en-IN" sz="1200" dirty="0">
                          <a:latin typeface="Cambria" panose="02040503050406030204" pitchFamily="18" charset="0"/>
                          <a:ea typeface="Cambria" panose="02040503050406030204" pitchFamily="18" charset="0"/>
                        </a:rPr>
                        <a:t> uses a dual-channel disagreement map plus a deterministic rationale</a:t>
                      </a:r>
                      <a:endParaRPr lang="en-IN" sz="1200" b="0" kern="1200" baseline="0" dirty="0">
                        <a:solidFill>
                          <a:schemeClr val="accent1"/>
                        </a:solidFill>
                        <a:latin typeface="Cambria" panose="02040503050406030204" pitchFamily="18" charset="0"/>
                        <a:ea typeface="Cambria" panose="02040503050406030204" pitchFamily="18" charset="0"/>
                        <a:cs typeface="Arial" panose="020B0604020202020204" pitchFamily="34" charset="0"/>
                      </a:endParaRPr>
                    </a:p>
                  </a:txBody>
                  <a:tcPr marL="68580" marR="68580" marT="0" marB="0" anchor="ctr">
                    <a:noFill/>
                  </a:tcPr>
                </a:tc>
                <a:extLst>
                  <a:ext uri="{0D108BD9-81ED-4DB2-BD59-A6C34878D82A}">
                    <a16:rowId xmlns:a16="http://schemas.microsoft.com/office/drawing/2014/main" val="4244719841"/>
                  </a:ext>
                </a:extLst>
              </a:tr>
            </a:tbl>
          </a:graphicData>
        </a:graphic>
      </p:graphicFrame>
    </p:spTree>
    <p:extLst>
      <p:ext uri="{BB962C8B-B14F-4D97-AF65-F5344CB8AC3E}">
        <p14:creationId xmlns:p14="http://schemas.microsoft.com/office/powerpoint/2010/main" val="3541083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304529" y="-19392"/>
            <a:ext cx="11519877" cy="797169"/>
          </a:xfrm>
          <a:prstGeom prst="rect">
            <a:avLst/>
          </a:prstGeom>
        </p:spPr>
        <p:txBody>
          <a:bodyPr/>
          <a:lstStyle/>
          <a:p>
            <a:pPr algn="l" eaLnBrk="1" hangingPunct="1"/>
            <a:r>
              <a:rPr lang="en-IN" altLang="ko-KR" sz="2400" dirty="0">
                <a:solidFill>
                  <a:schemeClr val="tx1"/>
                </a:solidFill>
                <a:latin typeface="Cambria" panose="02040503050406030204" pitchFamily="18" charset="0"/>
                <a:ea typeface="Cambria" panose="02040503050406030204" pitchFamily="18" charset="0"/>
              </a:rPr>
              <a:t>Difference from Closest Prior Art</a:t>
            </a:r>
            <a:endParaRPr lang="en-US" altLang="ko-KR" sz="1100" dirty="0">
              <a:solidFill>
                <a:schemeClr val="tx1"/>
              </a:solidFill>
              <a:latin typeface="Cambria" panose="02040503050406030204" pitchFamily="18" charset="0"/>
              <a:ea typeface="Cambria" panose="02040503050406030204" pitchFamily="18" charset="0"/>
            </a:endParaRPr>
          </a:p>
        </p:txBody>
      </p:sp>
      <p:sp>
        <p:nvSpPr>
          <p:cNvPr id="8" name="Rectangle 7">
            <a:extLst>
              <a:ext uri="{FF2B5EF4-FFF2-40B4-BE49-F238E27FC236}">
                <a16:creationId xmlns:a16="http://schemas.microsoft.com/office/drawing/2014/main" id="{4CAE449A-865F-49EF-A7F9-CA07D65DEF01}"/>
              </a:ext>
            </a:extLst>
          </p:cNvPr>
          <p:cNvSpPr/>
          <p:nvPr/>
        </p:nvSpPr>
        <p:spPr>
          <a:xfrm>
            <a:off x="300940" y="619775"/>
            <a:ext cx="11406692" cy="2031325"/>
          </a:xfrm>
          <a:prstGeom prst="rect">
            <a:avLst/>
          </a:prstGeom>
        </p:spPr>
        <p:txBody>
          <a:bodyPr wrap="square">
            <a:spAutoFit/>
          </a:bodyPr>
          <a:lstStyle/>
          <a:p>
            <a:pPr algn="just"/>
            <a:r>
              <a:rPr lang="en-IN" sz="1400" b="1" dirty="0" err="1">
                <a:latin typeface="Cambria" panose="02040503050406030204" pitchFamily="18" charset="0"/>
                <a:ea typeface="Cambria" panose="02040503050406030204" pitchFamily="18" charset="0"/>
              </a:rPr>
              <a:t>DeepShield</a:t>
            </a:r>
            <a:r>
              <a:rPr lang="en-IN" sz="1400" b="1" dirty="0">
                <a:latin typeface="Cambria" panose="02040503050406030204" pitchFamily="18" charset="0"/>
                <a:ea typeface="Cambria" panose="02040503050406030204" pitchFamily="18" charset="0"/>
              </a:rPr>
              <a:t> differs in four ways:</a:t>
            </a:r>
          </a:p>
          <a:p>
            <a:pPr algn="just"/>
            <a:endParaRPr lang="en-IN" sz="1400" dirty="0">
              <a:latin typeface="Cambria" panose="02040503050406030204" pitchFamily="18" charset="0"/>
              <a:ea typeface="Cambria" panose="02040503050406030204" pitchFamily="18" charset="0"/>
            </a:endParaRPr>
          </a:p>
          <a:p>
            <a:pPr marL="285750" lvl="0" indent="-285750" algn="just">
              <a:buFont typeface="Arial" panose="020B0604020202020204" pitchFamily="34" charset="0"/>
              <a:buChar char="•"/>
            </a:pPr>
            <a:r>
              <a:rPr lang="en-IN" sz="1400" b="1" dirty="0">
                <a:latin typeface="Cambria" panose="02040503050406030204" pitchFamily="18" charset="0"/>
                <a:ea typeface="Cambria" panose="02040503050406030204" pitchFamily="18" charset="0"/>
              </a:rPr>
              <a:t>Beyond binary output:</a:t>
            </a:r>
            <a:r>
              <a:rPr lang="en-IN" sz="1400" dirty="0">
                <a:latin typeface="Cambria" panose="02040503050406030204" pitchFamily="18" charset="0"/>
                <a:ea typeface="Cambria" panose="02040503050406030204" pitchFamily="18" charset="0"/>
              </a:rPr>
              <a:t> the shared embedding feeds four parallel heads (spoof score, attack-type attribution, open-set novelty, uncertainty), not one sigmoid.</a:t>
            </a:r>
          </a:p>
          <a:p>
            <a:pPr marL="285750" lvl="0" indent="-285750" algn="just">
              <a:buFont typeface="Arial" panose="020B0604020202020204" pitchFamily="34" charset="0"/>
              <a:buChar char="•"/>
            </a:pPr>
            <a:r>
              <a:rPr lang="en-IN" sz="1400" b="1" dirty="0">
                <a:latin typeface="Cambria" panose="02040503050406030204" pitchFamily="18" charset="0"/>
                <a:ea typeface="Cambria" panose="02040503050406030204" pitchFamily="18" charset="0"/>
              </a:rPr>
              <a:t>Open-set handling:</a:t>
            </a:r>
            <a:r>
              <a:rPr lang="en-IN" sz="1400" dirty="0">
                <a:latin typeface="Cambria" panose="02040503050406030204" pitchFamily="18" charset="0"/>
                <a:ea typeface="Cambria" panose="02040503050406030204" pitchFamily="18" charset="0"/>
              </a:rPr>
              <a:t> a novelty head fit only on real speech embeddings sends unfamiliar inputs to an "Unknown Pattern" review path instead of misclassifying them.</a:t>
            </a:r>
          </a:p>
          <a:p>
            <a:pPr marL="285750" lvl="0" indent="-285750" algn="just">
              <a:buFont typeface="Arial" panose="020B0604020202020204" pitchFamily="34" charset="0"/>
              <a:buChar char="•"/>
            </a:pPr>
            <a:r>
              <a:rPr lang="en-IN" sz="1400" b="1" dirty="0">
                <a:latin typeface="Cambria" panose="02040503050406030204" pitchFamily="18" charset="0"/>
                <a:ea typeface="Cambria" panose="02040503050406030204" pitchFamily="18" charset="0"/>
              </a:rPr>
              <a:t>Joint routing:</a:t>
            </a:r>
            <a:r>
              <a:rPr lang="en-IN" sz="1400" dirty="0">
                <a:latin typeface="Cambria" panose="02040503050406030204" pitchFamily="18" charset="0"/>
                <a:ea typeface="Cambria" panose="02040503050406030204" pitchFamily="18" charset="0"/>
              </a:rPr>
              <a:t> the gateway decides from spoof score, novelty and uncertainty together, with novelty checked before the probability thresholds.</a:t>
            </a:r>
          </a:p>
          <a:p>
            <a:pPr marL="285750" lvl="0" indent="-285750" algn="just">
              <a:buFont typeface="Arial" panose="020B0604020202020204" pitchFamily="34" charset="0"/>
              <a:buChar char="•"/>
            </a:pPr>
            <a:r>
              <a:rPr lang="en-IN" sz="1400" b="1" dirty="0">
                <a:latin typeface="Cambria" panose="02040503050406030204" pitchFamily="18" charset="0"/>
                <a:ea typeface="Cambria" panose="02040503050406030204" pitchFamily="18" charset="0"/>
              </a:rPr>
              <a:t>Specific explainability:</a:t>
            </a:r>
            <a:r>
              <a:rPr lang="en-IN" sz="1400" dirty="0">
                <a:latin typeface="Cambria" panose="02040503050406030204" pitchFamily="18" charset="0"/>
                <a:ea typeface="Cambria" panose="02040503050406030204" pitchFamily="18" charset="0"/>
              </a:rPr>
              <a:t> a Mel-vs-MFCC disagreement map and a deterministic rationale feed the same gateway, rather than a generic saliency map.</a:t>
            </a:r>
          </a:p>
        </p:txBody>
      </p:sp>
      <p:graphicFrame>
        <p:nvGraphicFramePr>
          <p:cNvPr id="9" name="Table 8">
            <a:extLst>
              <a:ext uri="{FF2B5EF4-FFF2-40B4-BE49-F238E27FC236}">
                <a16:creationId xmlns:a16="http://schemas.microsoft.com/office/drawing/2014/main" id="{7A3F92BA-C75D-4941-81DF-2C25B3C32F19}"/>
              </a:ext>
            </a:extLst>
          </p:cNvPr>
          <p:cNvGraphicFramePr>
            <a:graphicFrameLocks noGrp="1"/>
          </p:cNvGraphicFramePr>
          <p:nvPr>
            <p:extLst>
              <p:ext uri="{D42A27DB-BD31-4B8C-83A1-F6EECF244321}">
                <p14:modId xmlns:p14="http://schemas.microsoft.com/office/powerpoint/2010/main" val="1579230297"/>
              </p:ext>
            </p:extLst>
          </p:nvPr>
        </p:nvGraphicFramePr>
        <p:xfrm>
          <a:off x="191344" y="3717032"/>
          <a:ext cx="11519877" cy="2896528"/>
        </p:xfrm>
        <a:graphic>
          <a:graphicData uri="http://schemas.openxmlformats.org/drawingml/2006/table">
            <a:tbl>
              <a:tblPr firstRow="1" firstCol="1" bandRow="1"/>
              <a:tblGrid>
                <a:gridCol w="2682130">
                  <a:extLst>
                    <a:ext uri="{9D8B030D-6E8A-4147-A177-3AD203B41FA5}">
                      <a16:colId xmlns:a16="http://schemas.microsoft.com/office/drawing/2014/main" val="3237141512"/>
                    </a:ext>
                  </a:extLst>
                </a:gridCol>
                <a:gridCol w="4997787">
                  <a:extLst>
                    <a:ext uri="{9D8B030D-6E8A-4147-A177-3AD203B41FA5}">
                      <a16:colId xmlns:a16="http://schemas.microsoft.com/office/drawing/2014/main" val="1338001908"/>
                    </a:ext>
                  </a:extLst>
                </a:gridCol>
                <a:gridCol w="3839960">
                  <a:extLst>
                    <a:ext uri="{9D8B030D-6E8A-4147-A177-3AD203B41FA5}">
                      <a16:colId xmlns:a16="http://schemas.microsoft.com/office/drawing/2014/main" val="4230628619"/>
                    </a:ext>
                  </a:extLst>
                </a:gridCol>
              </a:tblGrid>
              <a:tr h="399594">
                <a:tc>
                  <a:txBody>
                    <a:bodyPr/>
                    <a:lstStyle>
                      <a:lvl1pPr marL="0" algn="l" defTabSz="1125444" rtl="0" eaLnBrk="1" latinLnBrk="1" hangingPunct="1">
                        <a:defRPr sz="2215" b="1" kern="1200">
                          <a:solidFill>
                            <a:schemeClr val="lt1"/>
                          </a:solidFill>
                          <a:latin typeface="Times New Roman"/>
                        </a:defRPr>
                      </a:lvl1pPr>
                      <a:lvl2pPr marL="562722" algn="l" defTabSz="1125444" rtl="0" eaLnBrk="1" latinLnBrk="1" hangingPunct="1">
                        <a:defRPr sz="2215" b="1" kern="1200">
                          <a:solidFill>
                            <a:schemeClr val="lt1"/>
                          </a:solidFill>
                          <a:latin typeface="Times New Roman"/>
                        </a:defRPr>
                      </a:lvl2pPr>
                      <a:lvl3pPr marL="1125444" algn="l" defTabSz="1125444" rtl="0" eaLnBrk="1" latinLnBrk="1" hangingPunct="1">
                        <a:defRPr sz="2215" b="1" kern="1200">
                          <a:solidFill>
                            <a:schemeClr val="lt1"/>
                          </a:solidFill>
                          <a:latin typeface="Times New Roman"/>
                        </a:defRPr>
                      </a:lvl3pPr>
                      <a:lvl4pPr marL="1688165" algn="l" defTabSz="1125444" rtl="0" eaLnBrk="1" latinLnBrk="1" hangingPunct="1">
                        <a:defRPr sz="2215" b="1" kern="1200">
                          <a:solidFill>
                            <a:schemeClr val="lt1"/>
                          </a:solidFill>
                          <a:latin typeface="Times New Roman"/>
                        </a:defRPr>
                      </a:lvl4pPr>
                      <a:lvl5pPr marL="2250887" algn="l" defTabSz="1125444" rtl="0" eaLnBrk="1" latinLnBrk="1" hangingPunct="1">
                        <a:defRPr sz="2215" b="1" kern="1200">
                          <a:solidFill>
                            <a:schemeClr val="lt1"/>
                          </a:solidFill>
                          <a:latin typeface="Times New Roman"/>
                        </a:defRPr>
                      </a:lvl5pPr>
                      <a:lvl6pPr marL="2813609" algn="l" defTabSz="1125444" rtl="0" eaLnBrk="1" latinLnBrk="1" hangingPunct="1">
                        <a:defRPr sz="2215" b="1" kern="1200">
                          <a:solidFill>
                            <a:schemeClr val="lt1"/>
                          </a:solidFill>
                          <a:latin typeface="Times New Roman"/>
                        </a:defRPr>
                      </a:lvl6pPr>
                      <a:lvl7pPr marL="3376331" algn="l" defTabSz="1125444" rtl="0" eaLnBrk="1" latinLnBrk="1" hangingPunct="1">
                        <a:defRPr sz="2215" b="1" kern="1200">
                          <a:solidFill>
                            <a:schemeClr val="lt1"/>
                          </a:solidFill>
                          <a:latin typeface="Times New Roman"/>
                        </a:defRPr>
                      </a:lvl7pPr>
                      <a:lvl8pPr marL="3939052" algn="l" defTabSz="1125444" rtl="0" eaLnBrk="1" latinLnBrk="1" hangingPunct="1">
                        <a:defRPr sz="2215" b="1" kern="1200">
                          <a:solidFill>
                            <a:schemeClr val="lt1"/>
                          </a:solidFill>
                          <a:latin typeface="Times New Roman"/>
                        </a:defRPr>
                      </a:lvl8pPr>
                      <a:lvl9pPr marL="4501774" algn="l" defTabSz="1125444" rtl="0" eaLnBrk="1" latinLnBrk="1" hangingPunct="1">
                        <a:defRPr sz="2215" b="1" kern="1200">
                          <a:solidFill>
                            <a:schemeClr val="lt1"/>
                          </a:solidFill>
                          <a:latin typeface="Times New Roman"/>
                        </a:defRPr>
                      </a:lvl9pPr>
                    </a:lstStyle>
                    <a:p>
                      <a:pPr marL="457200" algn="l">
                        <a:lnSpc>
                          <a:spcPct val="107000"/>
                        </a:lnSpc>
                      </a:pPr>
                      <a:r>
                        <a:rPr lang="en-IN" sz="2000" dirty="0">
                          <a:solidFill>
                            <a:schemeClr val="tx1"/>
                          </a:solidFill>
                          <a:effectLst/>
                        </a:rPr>
                        <a:t>Feature</a:t>
                      </a:r>
                      <a:endPar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069" marR="59069"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125444" rtl="0" eaLnBrk="1" latinLnBrk="1" hangingPunct="1">
                        <a:defRPr sz="2215" b="1" kern="1200">
                          <a:solidFill>
                            <a:schemeClr val="lt1"/>
                          </a:solidFill>
                          <a:latin typeface="Times New Roman"/>
                        </a:defRPr>
                      </a:lvl1pPr>
                      <a:lvl2pPr marL="562722" algn="l" defTabSz="1125444" rtl="0" eaLnBrk="1" latinLnBrk="1" hangingPunct="1">
                        <a:defRPr sz="2215" b="1" kern="1200">
                          <a:solidFill>
                            <a:schemeClr val="lt1"/>
                          </a:solidFill>
                          <a:latin typeface="Times New Roman"/>
                        </a:defRPr>
                      </a:lvl2pPr>
                      <a:lvl3pPr marL="1125444" algn="l" defTabSz="1125444" rtl="0" eaLnBrk="1" latinLnBrk="1" hangingPunct="1">
                        <a:defRPr sz="2215" b="1" kern="1200">
                          <a:solidFill>
                            <a:schemeClr val="lt1"/>
                          </a:solidFill>
                          <a:latin typeface="Times New Roman"/>
                        </a:defRPr>
                      </a:lvl3pPr>
                      <a:lvl4pPr marL="1688165" algn="l" defTabSz="1125444" rtl="0" eaLnBrk="1" latinLnBrk="1" hangingPunct="1">
                        <a:defRPr sz="2215" b="1" kern="1200">
                          <a:solidFill>
                            <a:schemeClr val="lt1"/>
                          </a:solidFill>
                          <a:latin typeface="Times New Roman"/>
                        </a:defRPr>
                      </a:lvl4pPr>
                      <a:lvl5pPr marL="2250887" algn="l" defTabSz="1125444" rtl="0" eaLnBrk="1" latinLnBrk="1" hangingPunct="1">
                        <a:defRPr sz="2215" b="1" kern="1200">
                          <a:solidFill>
                            <a:schemeClr val="lt1"/>
                          </a:solidFill>
                          <a:latin typeface="Times New Roman"/>
                        </a:defRPr>
                      </a:lvl5pPr>
                      <a:lvl6pPr marL="2813609" algn="l" defTabSz="1125444" rtl="0" eaLnBrk="1" latinLnBrk="1" hangingPunct="1">
                        <a:defRPr sz="2215" b="1" kern="1200">
                          <a:solidFill>
                            <a:schemeClr val="lt1"/>
                          </a:solidFill>
                          <a:latin typeface="Times New Roman"/>
                        </a:defRPr>
                      </a:lvl6pPr>
                      <a:lvl7pPr marL="3376331" algn="l" defTabSz="1125444" rtl="0" eaLnBrk="1" latinLnBrk="1" hangingPunct="1">
                        <a:defRPr sz="2215" b="1" kern="1200">
                          <a:solidFill>
                            <a:schemeClr val="lt1"/>
                          </a:solidFill>
                          <a:latin typeface="Times New Roman"/>
                        </a:defRPr>
                      </a:lvl7pPr>
                      <a:lvl8pPr marL="3939052" algn="l" defTabSz="1125444" rtl="0" eaLnBrk="1" latinLnBrk="1" hangingPunct="1">
                        <a:defRPr sz="2215" b="1" kern="1200">
                          <a:solidFill>
                            <a:schemeClr val="lt1"/>
                          </a:solidFill>
                          <a:latin typeface="Times New Roman"/>
                        </a:defRPr>
                      </a:lvl8pPr>
                      <a:lvl9pPr marL="4501774" algn="l" defTabSz="1125444" rtl="0" eaLnBrk="1" latinLnBrk="1" hangingPunct="1">
                        <a:defRPr sz="2215" b="1" kern="1200">
                          <a:solidFill>
                            <a:schemeClr val="lt1"/>
                          </a:solidFill>
                          <a:latin typeface="Times New Roman"/>
                        </a:defRPr>
                      </a:lvl9pPr>
                    </a:lstStyle>
                    <a:p>
                      <a:pPr marL="457200" algn="l">
                        <a:lnSpc>
                          <a:spcPct val="107000"/>
                        </a:lnSpc>
                      </a:pPr>
                      <a:r>
                        <a:rPr lang="en-IN" sz="2000" dirty="0">
                          <a:solidFill>
                            <a:schemeClr val="tx1"/>
                          </a:solidFill>
                          <a:effectLst/>
                        </a:rPr>
                        <a:t>Proposed Patent (The Solution)</a:t>
                      </a:r>
                      <a:endPar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069" marR="59069"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125444" rtl="0" eaLnBrk="1" latinLnBrk="1" hangingPunct="1">
                        <a:defRPr sz="2215" b="1" kern="1200">
                          <a:solidFill>
                            <a:schemeClr val="lt1"/>
                          </a:solidFill>
                          <a:latin typeface="Times New Roman"/>
                        </a:defRPr>
                      </a:lvl1pPr>
                      <a:lvl2pPr marL="562722" algn="l" defTabSz="1125444" rtl="0" eaLnBrk="1" latinLnBrk="1" hangingPunct="1">
                        <a:defRPr sz="2215" b="1" kern="1200">
                          <a:solidFill>
                            <a:schemeClr val="lt1"/>
                          </a:solidFill>
                          <a:latin typeface="Times New Roman"/>
                        </a:defRPr>
                      </a:lvl2pPr>
                      <a:lvl3pPr marL="1125444" algn="l" defTabSz="1125444" rtl="0" eaLnBrk="1" latinLnBrk="1" hangingPunct="1">
                        <a:defRPr sz="2215" b="1" kern="1200">
                          <a:solidFill>
                            <a:schemeClr val="lt1"/>
                          </a:solidFill>
                          <a:latin typeface="Times New Roman"/>
                        </a:defRPr>
                      </a:lvl3pPr>
                      <a:lvl4pPr marL="1688165" algn="l" defTabSz="1125444" rtl="0" eaLnBrk="1" latinLnBrk="1" hangingPunct="1">
                        <a:defRPr sz="2215" b="1" kern="1200">
                          <a:solidFill>
                            <a:schemeClr val="lt1"/>
                          </a:solidFill>
                          <a:latin typeface="Times New Roman"/>
                        </a:defRPr>
                      </a:lvl4pPr>
                      <a:lvl5pPr marL="2250887" algn="l" defTabSz="1125444" rtl="0" eaLnBrk="1" latinLnBrk="1" hangingPunct="1">
                        <a:defRPr sz="2215" b="1" kern="1200">
                          <a:solidFill>
                            <a:schemeClr val="lt1"/>
                          </a:solidFill>
                          <a:latin typeface="Times New Roman"/>
                        </a:defRPr>
                      </a:lvl5pPr>
                      <a:lvl6pPr marL="2813609" algn="l" defTabSz="1125444" rtl="0" eaLnBrk="1" latinLnBrk="1" hangingPunct="1">
                        <a:defRPr sz="2215" b="1" kern="1200">
                          <a:solidFill>
                            <a:schemeClr val="lt1"/>
                          </a:solidFill>
                          <a:latin typeface="Times New Roman"/>
                        </a:defRPr>
                      </a:lvl6pPr>
                      <a:lvl7pPr marL="3376331" algn="l" defTabSz="1125444" rtl="0" eaLnBrk="1" latinLnBrk="1" hangingPunct="1">
                        <a:defRPr sz="2215" b="1" kern="1200">
                          <a:solidFill>
                            <a:schemeClr val="lt1"/>
                          </a:solidFill>
                          <a:latin typeface="Times New Roman"/>
                        </a:defRPr>
                      </a:lvl7pPr>
                      <a:lvl8pPr marL="3939052" algn="l" defTabSz="1125444" rtl="0" eaLnBrk="1" latinLnBrk="1" hangingPunct="1">
                        <a:defRPr sz="2215" b="1" kern="1200">
                          <a:solidFill>
                            <a:schemeClr val="lt1"/>
                          </a:solidFill>
                          <a:latin typeface="Times New Roman"/>
                        </a:defRPr>
                      </a:lvl8pPr>
                      <a:lvl9pPr marL="4501774" algn="l" defTabSz="1125444" rtl="0" eaLnBrk="1" latinLnBrk="1" hangingPunct="1">
                        <a:defRPr sz="2215" b="1" kern="1200">
                          <a:solidFill>
                            <a:schemeClr val="lt1"/>
                          </a:solidFill>
                          <a:latin typeface="Times New Roman"/>
                        </a:defRPr>
                      </a:lvl9pPr>
                    </a:lstStyle>
                    <a:p>
                      <a:pPr marL="457200" algn="l">
                        <a:lnSpc>
                          <a:spcPct val="107000"/>
                        </a:lnSpc>
                      </a:pPr>
                      <a:r>
                        <a:rPr lang="en-IN" sz="2000" dirty="0">
                          <a:solidFill>
                            <a:schemeClr val="tx1"/>
                          </a:solidFill>
                          <a:effectLst/>
                        </a:rPr>
                        <a:t>Prior Art  </a:t>
                      </a:r>
                      <a:endPar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9069" marR="59069"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3464340"/>
                  </a:ext>
                </a:extLst>
              </a:tr>
              <a:tr h="629845">
                <a:tc>
                  <a:txBody>
                    <a:bodyPr/>
                    <a:lstStyle/>
                    <a:p>
                      <a:pPr>
                        <a:buNone/>
                      </a:pPr>
                      <a:r>
                        <a:rPr lang="en-IN" sz="1400">
                          <a:latin typeface="Cambria" panose="02040503050406030204" pitchFamily="18" charset="0"/>
                          <a:ea typeface="Cambria" panose="02040503050406030204" pitchFamily="18" charset="0"/>
                        </a:rPr>
                        <a:t>Output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buNone/>
                      </a:pPr>
                      <a:r>
                        <a:rPr lang="en-IN" sz="1400" dirty="0">
                          <a:latin typeface="Cambria" panose="02040503050406030204" pitchFamily="18" charset="0"/>
                          <a:ea typeface="Cambria" panose="02040503050406030204" pitchFamily="18" charset="0"/>
                        </a:rPr>
                        <a:t>Spoof + attack type + novelty + uncertainty from one shared     embedding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400" dirty="0">
                          <a:latin typeface="Cambria" panose="02040503050406030204" pitchFamily="18" charset="0"/>
                          <a:ea typeface="Cambria" panose="02040503050406030204" pitchFamily="18" charset="0"/>
                        </a:rPr>
                        <a:t>Binary real/fake probability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63033180"/>
                  </a:ext>
                </a:extLst>
              </a:tr>
              <a:tr h="622363">
                <a:tc>
                  <a:txBody>
                    <a:bodyPr/>
                    <a:lstStyle/>
                    <a:p>
                      <a:pPr>
                        <a:buNone/>
                      </a:pPr>
                      <a:r>
                        <a:rPr lang="en-IN" sz="1400">
                          <a:latin typeface="Cambria" panose="02040503050406030204" pitchFamily="18" charset="0"/>
                          <a:ea typeface="Cambria" panose="02040503050406030204" pitchFamily="18" charset="0"/>
                        </a:rPr>
                        <a:t>Unseen generators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400">
                          <a:latin typeface="Cambria" panose="02040503050406030204" pitchFamily="18" charset="0"/>
                          <a:ea typeface="Cambria" panose="02040503050406030204" pitchFamily="18" charset="0"/>
                        </a:rPr>
                        <a:t>Novelty head routes to "Unknown Pattern" 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400" dirty="0">
                          <a:latin typeface="Cambria" panose="02040503050406030204" pitchFamily="18" charset="0"/>
                          <a:ea typeface="Cambria" panose="02040503050406030204" pitchFamily="18" charset="0"/>
                        </a:rPr>
                        <a:t>Closed-set; silently misclassified as real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6493256"/>
                  </a:ext>
                </a:extLst>
              </a:tr>
              <a:tr h="622363">
                <a:tc>
                  <a:txBody>
                    <a:bodyPr/>
                    <a:lstStyle/>
                    <a:p>
                      <a:pPr>
                        <a:buNone/>
                      </a:pPr>
                      <a:r>
                        <a:rPr lang="en-IN" sz="1400" dirty="0">
                          <a:latin typeface="Cambria" panose="02040503050406030204" pitchFamily="18" charset="0"/>
                          <a:ea typeface="Cambria" panose="02040503050406030204" pitchFamily="18" charset="0"/>
                        </a:rPr>
                        <a:t>Decision routing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buNone/>
                      </a:pPr>
                      <a:r>
                        <a:rPr lang="en-IN" sz="1400" dirty="0">
                          <a:latin typeface="Cambria" panose="02040503050406030204" pitchFamily="18" charset="0"/>
                          <a:ea typeface="Cambria" panose="02040503050406030204" pitchFamily="18" charset="0"/>
                        </a:rPr>
                        <a:t>Joint function of score, novelty and uncertainty; novelty              checked first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400" dirty="0">
                          <a:latin typeface="Cambria" panose="02040503050406030204" pitchFamily="18" charset="0"/>
                          <a:ea typeface="Cambria" panose="02040503050406030204" pitchFamily="18" charset="0"/>
                        </a:rPr>
                        <a:t>Fixed thresholds on the spoof score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1115925"/>
                  </a:ext>
                </a:extLst>
              </a:tr>
              <a:tr h="622363">
                <a:tc>
                  <a:txBody>
                    <a:bodyPr/>
                    <a:lstStyle/>
                    <a:p>
                      <a:pPr>
                        <a:buNone/>
                      </a:pPr>
                      <a:r>
                        <a:rPr lang="en-IN" sz="1400">
                          <a:latin typeface="Cambria" panose="02040503050406030204" pitchFamily="18" charset="0"/>
                          <a:ea typeface="Cambria" panose="02040503050406030204" pitchFamily="18" charset="0"/>
                        </a:rPr>
                        <a:t>Explainability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400">
                          <a:latin typeface="Cambria" panose="02040503050406030204" pitchFamily="18" charset="0"/>
                          <a:ea typeface="Cambria" panose="02040503050406030204" pitchFamily="18" charset="0"/>
                        </a:rPr>
                        <a:t>Per-channel disagreement map + template rationale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400" dirty="0">
                          <a:latin typeface="Cambria" panose="02040503050406030204" pitchFamily="18" charset="0"/>
                          <a:ea typeface="Cambria" panose="02040503050406030204" pitchFamily="18" charset="0"/>
                        </a:rPr>
                        <a:t>Generic Grad-CAM/SHAP, or none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8958897"/>
                  </a:ext>
                </a:extLst>
              </a:tr>
            </a:tbl>
          </a:graphicData>
        </a:graphic>
      </p:graphicFrame>
      <p:sp>
        <p:nvSpPr>
          <p:cNvPr id="10" name="Rectangle 9">
            <a:extLst>
              <a:ext uri="{FF2B5EF4-FFF2-40B4-BE49-F238E27FC236}">
                <a16:creationId xmlns:a16="http://schemas.microsoft.com/office/drawing/2014/main" id="{6F483446-7024-42C1-8E44-521EB19BA8B4}"/>
              </a:ext>
            </a:extLst>
          </p:cNvPr>
          <p:cNvSpPr/>
          <p:nvPr/>
        </p:nvSpPr>
        <p:spPr>
          <a:xfrm>
            <a:off x="335900" y="2690177"/>
            <a:ext cx="11395668" cy="738664"/>
          </a:xfrm>
          <a:prstGeom prst="rect">
            <a:avLst/>
          </a:prstGeom>
        </p:spPr>
        <p:txBody>
          <a:bodyPr wrap="square">
            <a:spAutoFit/>
          </a:bodyPr>
          <a:lstStyle/>
          <a:p>
            <a:pPr algn="l" defTabSz="1741475" fontAlgn="t">
              <a:spcBef>
                <a:spcPts val="0"/>
              </a:spcBef>
              <a:spcAft>
                <a:spcPts val="0"/>
              </a:spcAft>
            </a:pPr>
            <a:r>
              <a:rPr kumimoji="0" lang="en-IN" sz="1400" b="1" u="sng" dirty="0">
                <a:solidFill>
                  <a:srgbClr val="FF0000"/>
                </a:solidFill>
                <a:latin typeface="Cambria" panose="02040503050406030204" pitchFamily="18" charset="0"/>
                <a:ea typeface="Cambria" panose="02040503050406030204" pitchFamily="18" charset="0"/>
                <a:cs typeface="Calibri" panose="020F0502020204030204" pitchFamily="34" charset="0"/>
              </a:rPr>
              <a:t>Summary of Deficiencies</a:t>
            </a:r>
          </a:p>
          <a:p>
            <a:pPr algn="just" defTabSz="1741475" fontAlgn="t">
              <a:spcBef>
                <a:spcPts val="0"/>
              </a:spcBef>
              <a:spcAft>
                <a:spcPts val="0"/>
              </a:spcAft>
            </a:pPr>
            <a:r>
              <a:rPr lang="en-IN" sz="1400" dirty="0">
                <a:latin typeface="Cambria" panose="02040503050406030204" pitchFamily="18" charset="0"/>
                <a:ea typeface="Cambria" panose="02040503050406030204" pitchFamily="18" charset="0"/>
              </a:rPr>
              <a:t>Prior approaches output a bare real/fake score and fail silently on unseen generators and degraded audio. They give no calibrated confidence and    no specific explanation.</a:t>
            </a:r>
            <a:endParaRPr kumimoji="0" lang="en-IN" sz="1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221228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제목 1"/>
          <p:cNvSpPr>
            <a:spLocks noGrp="1"/>
          </p:cNvSpPr>
          <p:nvPr>
            <p:ph type="title" idx="4294967295"/>
          </p:nvPr>
        </p:nvSpPr>
        <p:spPr>
          <a:xfrm>
            <a:off x="336061" y="3212976"/>
            <a:ext cx="11519877" cy="797169"/>
          </a:xfrm>
          <a:prstGeom prst="rect">
            <a:avLst/>
          </a:prstGeom>
        </p:spPr>
        <p:txBody>
          <a:bodyPr/>
          <a:lstStyle/>
          <a:p>
            <a:r>
              <a:rPr lang="en-US" altLang="ko-KR" sz="2400" dirty="0">
                <a:solidFill>
                  <a:schemeClr val="tx1"/>
                </a:solidFill>
                <a:latin typeface="Cambria" panose="02040503050406030204" pitchFamily="18" charset="0"/>
                <a:ea typeface="Cambria" panose="02040503050406030204" pitchFamily="18" charset="0"/>
              </a:rPr>
              <a:t>System Architecture  &amp; Module Description</a:t>
            </a:r>
            <a:endParaRPr lang="ko-KR" altLang="en-US" sz="2400" dirty="0">
              <a:solidFill>
                <a:schemeClr val="tx1"/>
              </a:solidFill>
              <a:latin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제목 1"/>
          <p:cNvSpPr>
            <a:spLocks noGrp="1"/>
          </p:cNvSpPr>
          <p:nvPr>
            <p:ph type="title" idx="4294967295"/>
          </p:nvPr>
        </p:nvSpPr>
        <p:spPr>
          <a:xfrm>
            <a:off x="222821" y="8032"/>
            <a:ext cx="11519877" cy="797169"/>
          </a:xfrm>
          <a:prstGeom prst="rect">
            <a:avLst/>
          </a:prstGeom>
        </p:spPr>
        <p:txBody>
          <a:bodyPr/>
          <a:lstStyle/>
          <a:p>
            <a:pPr algn="l"/>
            <a:r>
              <a:rPr lang="en-US" altLang="ko-KR" sz="2400" dirty="0">
                <a:solidFill>
                  <a:schemeClr val="tx1"/>
                </a:solidFill>
                <a:latin typeface="Cambria" panose="02040503050406030204" pitchFamily="18" charset="0"/>
                <a:ea typeface="Cambria" panose="02040503050406030204" pitchFamily="18" charset="0"/>
              </a:rPr>
              <a:t>6. Systems and Methods … </a:t>
            </a:r>
            <a:endParaRPr lang="ko-KR" altLang="en-US" sz="2400" dirty="0">
              <a:solidFill>
                <a:schemeClr val="tx1"/>
              </a:solidFill>
              <a:latin typeface="Cambria" panose="02040503050406030204" pitchFamily="18" charset="0"/>
            </a:endParaRPr>
          </a:p>
        </p:txBody>
      </p:sp>
      <p:sp>
        <p:nvSpPr>
          <p:cNvPr id="7" name="Oval 6">
            <a:extLst>
              <a:ext uri="{FF2B5EF4-FFF2-40B4-BE49-F238E27FC236}">
                <a16:creationId xmlns:a16="http://schemas.microsoft.com/office/drawing/2014/main" id="{0CEAE19E-9CC8-4301-85ED-F5F2BFD85914}"/>
              </a:ext>
            </a:extLst>
          </p:cNvPr>
          <p:cNvSpPr/>
          <p:nvPr/>
        </p:nvSpPr>
        <p:spPr>
          <a:xfrm>
            <a:off x="10345730" y="593063"/>
            <a:ext cx="212138" cy="21213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Cambria" panose="02040503050406030204" pitchFamily="18" charset="0"/>
              <a:ea typeface="Cambria" panose="02040503050406030204" pitchFamily="18" charset="0"/>
            </a:endParaRPr>
          </a:p>
        </p:txBody>
      </p:sp>
      <p:sp>
        <p:nvSpPr>
          <p:cNvPr id="8" name="TextBox 7">
            <a:extLst>
              <a:ext uri="{FF2B5EF4-FFF2-40B4-BE49-F238E27FC236}">
                <a16:creationId xmlns:a16="http://schemas.microsoft.com/office/drawing/2014/main" id="{B6D0E7C9-1F6B-4301-A673-A7600DE7FC9E}"/>
              </a:ext>
            </a:extLst>
          </p:cNvPr>
          <p:cNvSpPr txBox="1"/>
          <p:nvPr/>
        </p:nvSpPr>
        <p:spPr>
          <a:xfrm>
            <a:off x="10810985" y="521011"/>
            <a:ext cx="1304652" cy="338554"/>
          </a:xfrm>
          <a:prstGeom prst="rect">
            <a:avLst/>
          </a:prstGeom>
          <a:noFill/>
        </p:spPr>
        <p:txBody>
          <a:bodyPr wrap="none" rtlCol="0">
            <a:spAutoFit/>
          </a:bodyPr>
          <a:lstStyle/>
          <a:p>
            <a:r>
              <a:rPr lang="en-IN" sz="1600" dirty="0">
                <a:latin typeface="Cambria" panose="02040503050406030204" pitchFamily="18" charset="0"/>
                <a:ea typeface="Cambria" panose="02040503050406030204" pitchFamily="18" charset="0"/>
                <a:cs typeface="Arial" panose="020B0604020202020204" pitchFamily="34" charset="0"/>
              </a:rPr>
              <a:t>Novel Blocks</a:t>
            </a:r>
          </a:p>
        </p:txBody>
      </p:sp>
      <p:pic>
        <p:nvPicPr>
          <p:cNvPr id="6" name="Picture 5">
            <a:extLst>
              <a:ext uri="{FF2B5EF4-FFF2-40B4-BE49-F238E27FC236}">
                <a16:creationId xmlns:a16="http://schemas.microsoft.com/office/drawing/2014/main" id="{1D178F27-9A58-A2DA-1127-5C1BAFE2F638}"/>
              </a:ext>
            </a:extLst>
          </p:cNvPr>
          <p:cNvPicPr>
            <a:picLocks noChangeAspect="1"/>
          </p:cNvPicPr>
          <p:nvPr/>
        </p:nvPicPr>
        <p:blipFill>
          <a:blip r:embed="rId3"/>
          <a:srcRect l="15115" t="2892" r="15586" b="5761"/>
          <a:stretch>
            <a:fillRect/>
          </a:stretch>
        </p:blipFill>
        <p:spPr>
          <a:xfrm>
            <a:off x="551383" y="476672"/>
            <a:ext cx="3168353" cy="6264696"/>
          </a:xfrm>
          <a:prstGeom prst="rect">
            <a:avLst/>
          </a:prstGeom>
        </p:spPr>
      </p:pic>
      <p:sp>
        <p:nvSpPr>
          <p:cNvPr id="10" name="Rectangle 9">
            <a:extLst>
              <a:ext uri="{FF2B5EF4-FFF2-40B4-BE49-F238E27FC236}">
                <a16:creationId xmlns:a16="http://schemas.microsoft.com/office/drawing/2014/main" id="{55BF96D5-39BC-C1F3-BF54-5442B345F81E}"/>
              </a:ext>
            </a:extLst>
          </p:cNvPr>
          <p:cNvSpPr/>
          <p:nvPr/>
        </p:nvSpPr>
        <p:spPr>
          <a:xfrm>
            <a:off x="4186249" y="2951946"/>
            <a:ext cx="6624736" cy="954107"/>
          </a:xfrm>
          <a:prstGeom prst="rect">
            <a:avLst/>
          </a:prstGeom>
        </p:spPr>
        <p:txBody>
          <a:bodyPr wrap="square">
            <a:spAutoFit/>
          </a:bodyPr>
          <a:lstStyle/>
          <a:p>
            <a:pPr algn="just" defTabSz="1741475" fontAlgn="t">
              <a:spcBef>
                <a:spcPts val="0"/>
              </a:spcBef>
              <a:spcAft>
                <a:spcPts val="0"/>
              </a:spcAft>
            </a:pPr>
            <a:r>
              <a:rPr lang="en-IN" sz="1400" dirty="0">
                <a:latin typeface="Cambria" panose="02040503050406030204" pitchFamily="18" charset="0"/>
                <a:ea typeface="Cambria" panose="02040503050406030204" pitchFamily="18" charset="0"/>
              </a:rPr>
              <a:t>Raw audio is cleaned, augmented, converted to a Mel + MFCC grid, passed through a ResNet-34/SE backbone, and reduced to one 128-d embedding. Four heads read that embedding, an explainability layer interprets their outputs, and a risk-aware               gateway routes the decision. Reviewed samples feed back into periodic fine-tuning.</a:t>
            </a:r>
            <a:endParaRPr kumimoji="0" lang="en-IN" sz="1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677038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1" name="제목 1"/>
          <p:cNvSpPr>
            <a:spLocks noGrp="1"/>
          </p:cNvSpPr>
          <p:nvPr>
            <p:ph type="title" idx="4294967295"/>
          </p:nvPr>
        </p:nvSpPr>
        <p:spPr>
          <a:xfrm>
            <a:off x="222821" y="8032"/>
            <a:ext cx="11519877" cy="797169"/>
          </a:xfrm>
          <a:prstGeom prst="rect">
            <a:avLst/>
          </a:prstGeom>
        </p:spPr>
        <p:txBody>
          <a:bodyPr/>
          <a:lstStyle/>
          <a:p>
            <a:pPr algn="l"/>
            <a:r>
              <a:rPr lang="en-US" altLang="ko-KR" sz="2400" dirty="0">
                <a:solidFill>
                  <a:schemeClr val="tx1"/>
                </a:solidFill>
                <a:latin typeface="Cambria" panose="02040503050406030204" pitchFamily="18" charset="0"/>
                <a:ea typeface="Cambria" panose="02040503050406030204" pitchFamily="18" charset="0"/>
              </a:rPr>
              <a:t>6. Systems and Methods … (contd.)</a:t>
            </a:r>
            <a:endParaRPr lang="ko-KR" altLang="en-US" sz="2400" dirty="0">
              <a:solidFill>
                <a:schemeClr val="tx1"/>
              </a:solidFill>
              <a:latin typeface="Cambria" panose="02040503050406030204" pitchFamily="18" charset="0"/>
            </a:endParaRPr>
          </a:p>
        </p:txBody>
      </p:sp>
      <p:pic>
        <p:nvPicPr>
          <p:cNvPr id="7" name="Picture 6">
            <a:extLst>
              <a:ext uri="{FF2B5EF4-FFF2-40B4-BE49-F238E27FC236}">
                <a16:creationId xmlns:a16="http://schemas.microsoft.com/office/drawing/2014/main" id="{7FEE07AA-E2A4-A96F-35E3-7E8EB4A1CAD9}"/>
              </a:ext>
            </a:extLst>
          </p:cNvPr>
          <p:cNvPicPr>
            <a:picLocks noChangeAspect="1"/>
          </p:cNvPicPr>
          <p:nvPr/>
        </p:nvPicPr>
        <p:blipFill>
          <a:blip r:embed="rId4"/>
          <a:srcRect l="12901" r="11501"/>
          <a:stretch>
            <a:fillRect/>
          </a:stretch>
        </p:blipFill>
        <p:spPr>
          <a:xfrm>
            <a:off x="6197180" y="548680"/>
            <a:ext cx="5314485" cy="4686560"/>
          </a:xfrm>
          <a:prstGeom prst="rect">
            <a:avLst/>
          </a:prstGeom>
        </p:spPr>
      </p:pic>
      <p:sp>
        <p:nvSpPr>
          <p:cNvPr id="9" name="Rectangle 8">
            <a:extLst>
              <a:ext uri="{FF2B5EF4-FFF2-40B4-BE49-F238E27FC236}">
                <a16:creationId xmlns:a16="http://schemas.microsoft.com/office/drawing/2014/main" id="{84583524-8EDA-F798-79FA-205DDEEE1248}"/>
              </a:ext>
            </a:extLst>
          </p:cNvPr>
          <p:cNvSpPr/>
          <p:nvPr/>
        </p:nvSpPr>
        <p:spPr>
          <a:xfrm>
            <a:off x="680335" y="5642664"/>
            <a:ext cx="4932049" cy="738664"/>
          </a:xfrm>
          <a:prstGeom prst="rect">
            <a:avLst/>
          </a:prstGeom>
        </p:spPr>
        <p:txBody>
          <a:bodyPr wrap="square">
            <a:spAutoFit/>
          </a:bodyPr>
          <a:lstStyle/>
          <a:p>
            <a:pPr algn="just" defTabSz="1741475" fontAlgn="t">
              <a:spcBef>
                <a:spcPts val="0"/>
              </a:spcBef>
              <a:spcAft>
                <a:spcPts val="0"/>
              </a:spcAft>
            </a:pPr>
            <a:r>
              <a:rPr lang="en-IN" sz="1400" dirty="0">
                <a:latin typeface="Cambria" panose="02040503050406030204" pitchFamily="18" charset="0"/>
                <a:ea typeface="Cambria" panose="02040503050406030204" pitchFamily="18" charset="0"/>
              </a:rPr>
              <a:t>One shared embedding feeds four parallel heads: Spoof Score, Attack-Type, Open-Set Novelty, Uncertainty. All four outputs go to the gateway together. </a:t>
            </a:r>
            <a:endParaRPr kumimoji="0" lang="en-IN" sz="1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sp>
        <p:nvSpPr>
          <p:cNvPr id="11" name="Rectangle 10">
            <a:extLst>
              <a:ext uri="{FF2B5EF4-FFF2-40B4-BE49-F238E27FC236}">
                <a16:creationId xmlns:a16="http://schemas.microsoft.com/office/drawing/2014/main" id="{59601D12-0D5E-882F-562B-E5088E136AF7}"/>
              </a:ext>
            </a:extLst>
          </p:cNvPr>
          <p:cNvSpPr/>
          <p:nvPr/>
        </p:nvSpPr>
        <p:spPr>
          <a:xfrm>
            <a:off x="6595797" y="5636882"/>
            <a:ext cx="4915867" cy="954107"/>
          </a:xfrm>
          <a:prstGeom prst="rect">
            <a:avLst/>
          </a:prstGeom>
        </p:spPr>
        <p:txBody>
          <a:bodyPr wrap="square">
            <a:spAutoFit/>
          </a:bodyPr>
          <a:lstStyle/>
          <a:p>
            <a:pPr algn="just" defTabSz="1741475" fontAlgn="t">
              <a:spcBef>
                <a:spcPts val="0"/>
              </a:spcBef>
              <a:spcAft>
                <a:spcPts val="0"/>
              </a:spcAft>
            </a:pPr>
            <a:r>
              <a:rPr lang="en-IN" sz="1400" dirty="0">
                <a:latin typeface="Cambria" panose="02040503050406030204" pitchFamily="18" charset="0"/>
                <a:ea typeface="Cambria" panose="02040503050406030204" pitchFamily="18" charset="0"/>
              </a:rPr>
              <a:t>The novelty score is checked first. If it is above threshold, the   input goes to "Unknown Pattern" human review. Otherwise     the spoof probability decides: Pass (P &lt; 0.30), Review (0.30 ≤ P ≤ 0.70), or Block (P &gt; 0.70).</a:t>
            </a:r>
            <a:endParaRPr kumimoji="0" lang="en-IN" sz="1400" dirty="0">
              <a:solidFill>
                <a:srgbClr val="FF0000"/>
              </a:solidFill>
              <a:latin typeface="Cambria" panose="02040503050406030204" pitchFamily="18" charset="0"/>
              <a:ea typeface="Cambria" panose="02040503050406030204" pitchFamily="18" charset="0"/>
              <a:cs typeface="Calibri" panose="020F0502020204030204" pitchFamily="34" charset="0"/>
            </a:endParaRPr>
          </a:p>
        </p:txBody>
      </p:sp>
      <p:pic>
        <p:nvPicPr>
          <p:cNvPr id="90002" name="Picture 90001" descr="image.png"/>
          <p:cNvPicPr>
            <a:picLocks noChangeAspect="1"/>
          </p:cNvPicPr>
          <p:nvPr/>
        </p:nvPicPr>
        <p:blipFill>
          <a:blip r:embed="rId5"/>
          <a:stretch>
            <a:fillRect/>
          </a:stretch>
        </p:blipFill>
        <p:spPr>
          <a:xfrm>
            <a:off x="680335" y="532099"/>
            <a:ext cx="5500000" cy="4576000"/>
          </a:xfrm>
          <a:prstGeom prst="rect">
            <a:avLst/>
          </a:prstGeom>
        </p:spPr>
      </p:pic>
    </p:spTree>
    <p:extLst>
      <p:ext uri="{BB962C8B-B14F-4D97-AF65-F5344CB8AC3E}">
        <p14:creationId xmlns:p14="http://schemas.microsoft.com/office/powerpoint/2010/main" val="431814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F6893-A337-1CD7-0C4F-FC6AF845B614}"/>
            </a:ext>
          </a:extLst>
        </p:cNvPr>
        <p:cNvGrpSpPr/>
        <p:nvPr/>
      </p:nvGrpSpPr>
      <p:grpSpPr>
        <a:xfrm>
          <a:off x="0" y="0"/>
          <a:ext cx="0" cy="0"/>
          <a:chOff x="0" y="0"/>
          <a:chExt cx="0" cy="0"/>
        </a:xfrm>
      </p:grpSpPr>
      <p:sp>
        <p:nvSpPr>
          <p:cNvPr id="15362" name="제목 1">
            <a:extLst>
              <a:ext uri="{FF2B5EF4-FFF2-40B4-BE49-F238E27FC236}">
                <a16:creationId xmlns:a16="http://schemas.microsoft.com/office/drawing/2014/main" id="{1DFD1E88-A385-ECE2-A53D-3D07ECF07C6C}"/>
              </a:ext>
            </a:extLst>
          </p:cNvPr>
          <p:cNvSpPr>
            <a:spLocks noGrp="1"/>
          </p:cNvSpPr>
          <p:nvPr>
            <p:ph type="title" idx="4294967295"/>
          </p:nvPr>
        </p:nvSpPr>
        <p:spPr>
          <a:xfrm>
            <a:off x="222821" y="8032"/>
            <a:ext cx="11519877" cy="797169"/>
          </a:xfrm>
          <a:prstGeom prst="rect">
            <a:avLst/>
          </a:prstGeom>
        </p:spPr>
        <p:txBody>
          <a:bodyPr/>
          <a:lstStyle/>
          <a:p>
            <a:pPr algn="l"/>
            <a:r>
              <a:rPr lang="en-US" altLang="ko-KR" sz="2400" dirty="0">
                <a:solidFill>
                  <a:schemeClr val="tx1"/>
                </a:solidFill>
                <a:latin typeface="Cambria" panose="02040503050406030204" pitchFamily="18" charset="0"/>
                <a:ea typeface="Cambria" panose="02040503050406030204" pitchFamily="18" charset="0"/>
              </a:rPr>
              <a:t>6. Each Module Description &amp; Novelty Block Explanation</a:t>
            </a:r>
            <a:endParaRPr lang="ko-KR" altLang="en-US" sz="2400" dirty="0">
              <a:solidFill>
                <a:schemeClr val="tx1"/>
              </a:solidFill>
              <a:latin typeface="Cambria" panose="02040503050406030204" pitchFamily="18" charset="0"/>
            </a:endParaRPr>
          </a:p>
        </p:txBody>
      </p:sp>
      <p:pic>
        <p:nvPicPr>
          <p:cNvPr id="4" name="Picture 3">
            <a:extLst>
              <a:ext uri="{FF2B5EF4-FFF2-40B4-BE49-F238E27FC236}">
                <a16:creationId xmlns:a16="http://schemas.microsoft.com/office/drawing/2014/main" id="{39045D19-0352-A379-F63B-CE929F6803B9}"/>
              </a:ext>
            </a:extLst>
          </p:cNvPr>
          <p:cNvPicPr>
            <a:picLocks noChangeAspect="1"/>
          </p:cNvPicPr>
          <p:nvPr/>
        </p:nvPicPr>
        <p:blipFill>
          <a:blip r:embed="rId3" cstate="print">
            <a:extLst>
              <a:ext uri="{28A0092B-C50C-407E-A947-70E740481C1C}">
                <a14:useLocalDpi xmlns:a14="http://schemas.microsoft.com/office/drawing/2010/main" val="0"/>
              </a:ext>
            </a:extLst>
          </a:blip>
          <a:srcRect b="11640"/>
          <a:stretch>
            <a:fillRect/>
          </a:stretch>
        </p:blipFill>
        <p:spPr>
          <a:xfrm>
            <a:off x="2182759" y="900000"/>
            <a:ext cx="7600000" cy="4270253"/>
          </a:xfrm>
          <a:prstGeom prst="rect">
            <a:avLst/>
          </a:prstGeom>
        </p:spPr>
      </p:pic>
      <p:sp>
        <p:nvSpPr>
          <p:cNvPr id="15363" name="TextBox 15362"/>
          <p:cNvSpPr txBox="1"/>
          <p:nvPr/>
        </p:nvSpPr>
        <p:spPr>
          <a:xfrm>
            <a:off x="280000" y="5230253"/>
            <a:ext cx="11632235" cy="1567747"/>
          </a:xfrm>
          <a:prstGeom prst="rect">
            <a:avLst/>
          </a:prstGeom>
          <a:noFill/>
        </p:spPr>
        <p:txBody>
          <a:bodyPr wrap="square">
            <a:spAutoFit/>
          </a:bodyPr>
          <a:lstStyle/>
          <a:p>
            <a:pPr algn="just"/>
            <a:r>
              <a:rPr sz="1400">
                <a:latin typeface="Cambria"/>
              </a:rPr>
              <a:t>Stages 1–3 (supporting front end): audio ingestion, the robustness-aware augmentation added directly in response to mentor review (MP3/Opus re-encoding, additive noise, reverberation, telephone-band downsampling), and the dual-channel Mel-spectrogram + MFCC fusion feeding the ResNet-34/SE backbone. These techniques are individually established (Slide 14); they are the foundation the four novel heads on the next slide operate on.</a:t>
            </a:r>
          </a:p>
        </p:txBody>
      </p:sp>
    </p:spTree>
    <p:extLst>
      <p:ext uri="{BB962C8B-B14F-4D97-AF65-F5344CB8AC3E}">
        <p14:creationId xmlns:p14="http://schemas.microsoft.com/office/powerpoint/2010/main" val="221126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2" name="제목 1"/>
          <p:cNvSpPr>
            <a:spLocks noGrp="1"/>
          </p:cNvSpPr>
          <p:nvPr>
            <p:ph type="title" idx="4294967295"/>
          </p:nvPr>
        </p:nvSpPr>
        <p:spPr>
          <a:xfrm>
            <a:off x="222821" y="8032"/>
            <a:ext cx="11519877" cy="797169"/>
          </a:xfrm>
          <a:prstGeom prst="rect">
            <a:avLst/>
          </a:prstGeom>
        </p:spPr>
        <p:txBody>
          <a:bodyPr/>
          <a:lstStyle/>
          <a:p>
            <a:pPr algn="l"/>
            <a:r>
              <a:rPr lang="en-US" altLang="ko-KR" sz="2400" dirty="0">
                <a:solidFill>
                  <a:schemeClr val="tx1"/>
                </a:solidFill>
                <a:latin typeface="Cambria" panose="02040503050406030204" pitchFamily="18" charset="0"/>
                <a:ea typeface="Cambria" panose="02040503050406030204" pitchFamily="18" charset="0"/>
              </a:rPr>
              <a:t>6. Each Module Description &amp; Novelty Block Explanation (contd.)</a:t>
            </a:r>
            <a:endParaRPr lang="ko-KR" altLang="en-US" sz="2400" dirty="0">
              <a:solidFill>
                <a:schemeClr val="tx1"/>
              </a:solidFill>
              <a:latin typeface="Cambria" panose="02040503050406030204" pitchFamily="18" charset="0"/>
            </a:endParaRPr>
          </a:p>
        </p:txBody>
      </p:sp>
      <p:pic>
        <p:nvPicPr>
          <p:cNvPr id="3" name="Picture 2">
            <a:extLst>
              <a:ext uri="{FF2B5EF4-FFF2-40B4-BE49-F238E27FC236}">
                <a16:creationId xmlns:a16="http://schemas.microsoft.com/office/drawing/2014/main" id="{0AE6C93B-98E2-1178-1AEF-C993A1D155F9}"/>
              </a:ext>
            </a:extLst>
          </p:cNvPr>
          <p:cNvPicPr>
            <a:picLocks noChangeAspect="1"/>
          </p:cNvPicPr>
          <p:nvPr/>
        </p:nvPicPr>
        <p:blipFill>
          <a:blip r:embed="rId2" cstate="print">
            <a:extLst>
              <a:ext uri="{28A0092B-C50C-407E-A947-70E740481C1C}">
                <a14:useLocalDpi xmlns:a14="http://schemas.microsoft.com/office/drawing/2010/main" val="0"/>
              </a:ext>
            </a:extLst>
          </a:blip>
          <a:srcRect b="6951"/>
          <a:stretch>
            <a:fillRect/>
          </a:stretch>
        </p:blipFill>
        <p:spPr>
          <a:xfrm>
            <a:off x="2182759" y="900000"/>
            <a:ext cx="7600000" cy="4465671"/>
          </a:xfrm>
          <a:prstGeom prst="rect">
            <a:avLst/>
          </a:prstGeom>
        </p:spPr>
      </p:pic>
      <p:sp>
        <p:nvSpPr>
          <p:cNvPr id="90003" name="TextBox 90002"/>
          <p:cNvSpPr txBox="1"/>
          <p:nvPr/>
        </p:nvSpPr>
        <p:spPr>
          <a:xfrm>
            <a:off x="280000" y="5425671"/>
            <a:ext cx="11632235" cy="1372329"/>
          </a:xfrm>
          <a:prstGeom prst="rect">
            <a:avLst/>
          </a:prstGeom>
          <a:noFill/>
        </p:spPr>
        <p:txBody>
          <a:bodyPr wrap="square">
            <a:spAutoFit/>
          </a:bodyPr>
          <a:lstStyle/>
          <a:p>
            <a:pPr algn="just"/>
            <a:r>
              <a:rPr sz="1400">
                <a:latin typeface="Cambria"/>
              </a:rPr>
              <a:t>Stages 4–9 (primary novelty, highlighted above): four parallel heads read one shared embedding — attack-type attribution, open-set novelty (Mahalanobis distance fit on real speech only), and MC-dropout uncertainty, next to the retained spoof-score head. A per-channel disagreement explainability layer and a risk-aware gateway (novelty checked before the probability thresholds) route every decision, and reviewer-confirmed samples feed the continual-learning loop. This jointly-routed combination is the claimed invention (Slides 11–13).</a:t>
            </a:r>
          </a:p>
        </p:txBody>
      </p:sp>
    </p:spTree>
    <p:extLst>
      <p:ext uri="{BB962C8B-B14F-4D97-AF65-F5344CB8AC3E}">
        <p14:creationId xmlns:p14="http://schemas.microsoft.com/office/powerpoint/2010/main" val="3990668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제목 1"/>
          <p:cNvSpPr>
            <a:spLocks noGrp="1"/>
          </p:cNvSpPr>
          <p:nvPr>
            <p:ph type="title" idx="4294967295"/>
          </p:nvPr>
        </p:nvSpPr>
        <p:spPr>
          <a:xfrm>
            <a:off x="222821" y="8032"/>
            <a:ext cx="11519877" cy="797169"/>
          </a:xfrm>
          <a:prstGeom prst="rect">
            <a:avLst/>
          </a:prstGeom>
        </p:spPr>
        <p:txBody>
          <a:bodyPr/>
          <a:lstStyle/>
          <a:p>
            <a:pPr algn="l"/>
            <a:r>
              <a:rPr lang="en-US" altLang="ko-KR" sz="2400" dirty="0">
                <a:solidFill>
                  <a:schemeClr val="tx1"/>
                </a:solidFill>
                <a:latin typeface="Cambria" panose="02040503050406030204" pitchFamily="18" charset="0"/>
                <a:ea typeface="Cambria" panose="02040503050406030204" pitchFamily="18" charset="0"/>
              </a:rPr>
              <a:t>Sample Results </a:t>
            </a:r>
            <a:endParaRPr lang="ko-KR" altLang="en-US" sz="2400" dirty="0">
              <a:solidFill>
                <a:schemeClr val="tx1"/>
              </a:solidFill>
              <a:latin typeface="Cambria" panose="02040503050406030204" pitchFamily="18" charset="0"/>
            </a:endParaRPr>
          </a:p>
        </p:txBody>
      </p:sp>
      <p:sp>
        <p:nvSpPr>
          <p:cNvPr id="3" name="Rectangle 2">
            <a:extLst>
              <a:ext uri="{FF2B5EF4-FFF2-40B4-BE49-F238E27FC236}">
                <a16:creationId xmlns:a16="http://schemas.microsoft.com/office/drawing/2014/main" id="{6C666B04-7D25-49B9-B8B2-B430F4B17FA0}"/>
              </a:ext>
            </a:extLst>
          </p:cNvPr>
          <p:cNvSpPr/>
          <p:nvPr/>
        </p:nvSpPr>
        <p:spPr>
          <a:xfrm>
            <a:off x="222821" y="870000"/>
            <a:ext cx="11519877" cy="330000"/>
          </a:xfrm>
          <a:prstGeom prst="rect">
            <a:avLst/>
          </a:prstGeom>
        </p:spPr>
        <p:txBody>
          <a:bodyPr wrap="none">
            <a:spAutoFit/>
          </a:bodyPr>
          <a:lstStyle/>
          <a:p>
            <a:pPr marL="330209" indent="-330209" algn="l">
              <a:defRPr/>
            </a:pPr>
            <a:r>
              <a:rPr lang="en-US" altLang="ko-KR" sz="1600" i="0" dirty="0" b="1">
                <a:latin typeface="Cambria" panose="02040503050406030204" pitchFamily="18" charset="0"/>
                <a:ea typeface="Cambria" panose="02040503050406030204" pitchFamily="18" charset="0"/>
                <a:cs typeface="Arial" pitchFamily="34" charset="0"/>
              </a:rPr>
              <a:t>Live Inference Examples — Production API (DeepShield V5, deployed)</a:t>
            </a:r>
          </a:p>
        </p:txBody>
      </p:sp>
      <p:sp>
        <p:nvSpPr>
          <p:cNvPr id="15363" name="TextBox 15362"/>
          <p:cNvSpPr txBox="1"/>
          <p:nvPr/>
        </p:nvSpPr>
        <p:spPr>
          <a:xfrm>
            <a:off x="222821" y="1280000"/>
            <a:ext cx="5600000" cy="1850000"/>
          </a:xfrm>
          <a:prstGeom prst="rect">
            <a:avLst/>
          </a:prstGeom>
          <a:noFill/>
        </p:spPr>
        <p:txBody>
          <a:bodyPr wrap="square">
            <a:spAutoFit/>
          </a:bodyPr>
          <a:lstStyle/>
          <a:p>
            <a:pPr algn="l"/>
            <a:r>
              <a:rPr b="1" sz="1300">
                <a:latin typeface="Cambria"/>
              </a:rPr>
              <a:t>Example A — authentic_sample.wav/.mp3 (genuine human speech)</a:t>
            </a:r>
          </a:p>
          <a:p>
            <a:pPr algn="l" marL="114300" indent="-114300">
              <a:buFont typeface="Arial"/>
              <a:buChar char="•"/>
            </a:pPr>
            <a:r>
              <a:rPr sz="1150">
                <a:latin typeface="Cambria"/>
              </a:rPr>
              <a:t>Verdict: AUTHENTIC — P(fake) = 0.00, confidence 1.00</a:t>
            </a:r>
          </a:p>
          <a:p>
            <a:pPr algn="l" marL="114300" indent="-114300">
              <a:buFont typeface="Arial"/>
              <a:buChar char="•"/>
            </a:pPr>
            <a:r>
              <a:rPr sz="1150">
                <a:latin typeface="Cambria"/>
              </a:rPr>
              <a:t>Attack-type head: “real” (97.2% probability)</a:t>
            </a:r>
          </a:p>
          <a:p>
            <a:pPr algn="l" marL="114300" indent="-114300">
              <a:buFont typeface="Arial"/>
              <a:buChar char="•"/>
            </a:pPr>
            <a:r>
              <a:rPr sz="1150">
                <a:latin typeface="Cambria"/>
              </a:rPr>
              <a:t>Novelty score: 11.96 (below 14.74 threshold)</a:t>
            </a:r>
          </a:p>
          <a:p>
            <a:pPr algn="l" marL="114300" indent="-114300">
              <a:buFont typeface="Arial"/>
              <a:buChar char="•"/>
            </a:pPr>
            <a:r>
              <a:rPr sz="1150">
                <a:latin typeface="Cambria"/>
              </a:rPr>
              <a:t>Gateway: Stage 1 – Pass (Automated Clearance)</a:t>
            </a:r>
          </a:p>
          <a:p>
            <a:pPr algn="l" marL="114300" indent="-114300">
              <a:buFont typeface="Arial"/>
              <a:buChar char="•"/>
            </a:pPr>
            <a:r>
              <a:rPr sz="1150">
                <a:latin typeface="Cambria"/>
              </a:rPr>
              <a:t>Rationale: “Cleared as authentic human speech (P=0.00, uncertainty=0.00).”</a:t>
            </a:r>
          </a:p>
          <a:p>
            <a:pPr algn="l" marL="114300" indent="-114300">
              <a:buFont typeface="Arial"/>
              <a:buChar char="•"/>
            </a:pPr>
            <a:r>
              <a:rPr sz="1150">
                <a:latin typeface="Cambria"/>
              </a:rPr>
              <a:t>Re-verified on the MP3-recompressed copy of the same clip — identical verdict.</a:t>
            </a:r>
          </a:p>
        </p:txBody>
      </p:sp>
      <p:sp>
        <p:nvSpPr>
          <p:cNvPr id="15364" name="TextBox 15363"/>
          <p:cNvSpPr txBox="1"/>
          <p:nvPr/>
        </p:nvSpPr>
        <p:spPr>
          <a:xfrm>
            <a:off x="6100000" y="1280000"/>
            <a:ext cx="5619877" cy="1850000"/>
          </a:xfrm>
          <a:prstGeom prst="rect">
            <a:avLst/>
          </a:prstGeom>
          <a:noFill/>
        </p:spPr>
        <p:txBody>
          <a:bodyPr wrap="square">
            <a:spAutoFit/>
          </a:bodyPr>
          <a:lstStyle/>
          <a:p>
            <a:pPr algn="l"/>
            <a:r>
              <a:rPr b="1" sz="1300">
                <a:latin typeface="Cambria"/>
              </a:rPr>
              <a:t>Example B — synthetic_sample.wav/.mp3 (vocoder deepfake)</a:t>
            </a:r>
          </a:p>
          <a:p>
            <a:pPr algn="l" marL="114300" indent="-114300">
              <a:buFont typeface="Arial"/>
              <a:buChar char="•"/>
            </a:pPr>
            <a:r>
              <a:rPr sz="1150">
                <a:latin typeface="Cambria"/>
              </a:rPr>
              <a:t>Verdict: SYNTHETIC — P(fake) = 0.9998, confidence 1.00</a:t>
            </a:r>
          </a:p>
          <a:p>
            <a:pPr algn="l" marL="114300" indent="-114300">
              <a:buFont typeface="Arial"/>
              <a:buChar char="•"/>
            </a:pPr>
            <a:r>
              <a:rPr sz="1150">
                <a:latin typeface="Cambria"/>
              </a:rPr>
              <a:t>Novelty score: 16.54 (above 14.74 threshold → flagged as novel)</a:t>
            </a:r>
          </a:p>
          <a:p>
            <a:pPr algn="l" marL="114300" indent="-114300">
              <a:buFont typeface="Arial"/>
              <a:buChar char="•"/>
            </a:pPr>
            <a:r>
              <a:rPr sz="1150">
                <a:latin typeface="Cambria"/>
              </a:rPr>
              <a:t>Gateway: Stage 4 – Unknown Pattern → Human Review (not an automatic Block)</a:t>
            </a:r>
          </a:p>
          <a:p>
            <a:pPr algn="l" marL="114300" indent="-114300">
              <a:buFont typeface="Arial"/>
              <a:buChar char="•"/>
            </a:pPr>
            <a:r>
              <a:rPr sz="1150">
                <a:latin typeface="Cambria"/>
              </a:rPr>
              <a:t>Rationale: “Unknown pattern (novelty=16.54 &gt; threshold 14.74): does not match the real-speech manifold or any known attack family. Routed to human review as an out-of-distribution sample.”</a:t>
            </a:r>
          </a:p>
          <a:p>
            <a:pPr algn="l" marL="114300" indent="-114300">
              <a:buFont typeface="Arial"/>
              <a:buChar char="•"/>
            </a:pPr>
            <a:r>
              <a:rPr sz="1150">
                <a:latin typeface="Cambria"/>
              </a:rPr>
              <a:t>Re-verified on the MP3-recompressed copy of the same clip — identical verdict.</a:t>
            </a:r>
          </a:p>
        </p:txBody>
      </p:sp>
      <p:pic>
        <p:nvPicPr>
          <p:cNvPr id="15365" name="Picture 15364" descr="evaluation_curves.png"/>
          <p:cNvPicPr>
            <a:picLocks noChangeAspect="1"/>
          </p:cNvPicPr>
          <p:nvPr/>
        </p:nvPicPr>
        <p:blipFill>
          <a:blip r:embed="rId3"/>
          <a:stretch>
            <a:fillRect/>
          </a:stretch>
        </p:blipFill>
        <p:spPr>
          <a:xfrm>
            <a:off x="782759" y="3380000"/>
            <a:ext cx="10400000" cy="2888888"/>
          </a:xfrm>
          <a:prstGeom prst="rect">
            <a:avLst/>
          </a:prstGeom>
        </p:spPr>
      </p:pic>
      <p:sp>
        <p:nvSpPr>
          <p:cNvPr id="15366" name="TextBox 15365"/>
          <p:cNvSpPr txBox="1"/>
          <p:nvPr/>
        </p:nvSpPr>
        <p:spPr>
          <a:xfrm>
            <a:off x="222821" y="6308888"/>
            <a:ext cx="11519877" cy="500000"/>
          </a:xfrm>
          <a:prstGeom prst="rect">
            <a:avLst/>
          </a:prstGeom>
          <a:noFill/>
        </p:spPr>
        <p:txBody>
          <a:bodyPr wrap="square">
            <a:spAutoFit/>
          </a:bodyPr>
          <a:lstStyle/>
          <a:p>
            <a:pPr algn="just"/>
            <a:r>
              <a:rPr sz="1400">
                <a:latin typeface="Cambria"/>
              </a:rPr>
              <a:t>Held-out validation (N ≈ 6,000 clips): ROC-AUC 0.996 · Accuracy 97.73% · PR-AUC 0.996. Robustness suite (300 clips/condition): 87–99% accuracy retained under MP3 32–128 kbps, additive noise 0–20 dB SNR, reverberation, and 8 kHz telephone-band audio.</a:t>
            </a:r>
          </a:p>
        </p:txBody>
      </p:sp>
    </p:spTree>
    <p:extLst>
      <p:ext uri="{BB962C8B-B14F-4D97-AF65-F5344CB8AC3E}">
        <p14:creationId xmlns:p14="http://schemas.microsoft.com/office/powerpoint/2010/main" val="3136704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제목 1"/>
          <p:cNvSpPr>
            <a:spLocks noGrp="1"/>
          </p:cNvSpPr>
          <p:nvPr>
            <p:ph type="title" idx="4294967295"/>
          </p:nvPr>
        </p:nvSpPr>
        <p:spPr>
          <a:xfrm>
            <a:off x="3359697" y="2852936"/>
            <a:ext cx="4248471" cy="797169"/>
          </a:xfrm>
          <a:prstGeom prst="rect">
            <a:avLst/>
          </a:prstGeom>
        </p:spPr>
        <p:txBody>
          <a:bodyPr/>
          <a:lstStyle/>
          <a:p>
            <a:r>
              <a:rPr lang="en-US" altLang="ko-KR" sz="4400" dirty="0">
                <a:solidFill>
                  <a:schemeClr val="tx1"/>
                </a:solidFill>
                <a:latin typeface="Cambria" panose="02040503050406030204" pitchFamily="18" charset="0"/>
                <a:ea typeface="Cambria" panose="02040503050406030204" pitchFamily="18" charset="0"/>
              </a:rPr>
              <a:t>THANK YOU</a:t>
            </a:r>
            <a:endParaRPr lang="ko-KR" altLang="en-US" sz="4400" dirty="0">
              <a:solidFill>
                <a:schemeClr val="tx1"/>
              </a:solidFill>
              <a:latin typeface="Cambria" panose="02040503050406030204" pitchFamily="18" charset="0"/>
            </a:endParaRPr>
          </a:p>
        </p:txBody>
      </p:sp>
    </p:spTree>
    <p:extLst>
      <p:ext uri="{BB962C8B-B14F-4D97-AF65-F5344CB8AC3E}">
        <p14:creationId xmlns:p14="http://schemas.microsoft.com/office/powerpoint/2010/main" val="2456836922"/>
      </p:ext>
    </p:extLst>
  </p:cSld>
  <p:clrMapOvr>
    <a:masterClrMapping/>
  </p:clrMapOvr>
</p:sld>
</file>

<file path=ppt/theme/theme1.xml><?xml version="1.0" encoding="utf-8"?>
<a:theme xmlns:a="http://schemas.openxmlformats.org/drawingml/2006/main" name="1_Master Slide Rev1.0">
  <a:themeElements>
    <a:clrScheme name="1_Master Slide Rev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Master Slide Rev1.0">
      <a:majorFont>
        <a:latin typeface="Arial"/>
        <a:ea typeface="굴림"/>
        <a:cs typeface=""/>
      </a:majorFont>
      <a:minorFont>
        <a:latin typeface="Arial"/>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굴림" pitchFamily="50" charset="-127"/>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굴림" pitchFamily="50" charset="-127"/>
            <a:ea typeface="굴림" pitchFamily="50" charset="-127"/>
          </a:defRPr>
        </a:defPPr>
      </a:lstStyle>
    </a:lnDef>
  </a:objectDefaults>
  <a:extraClrSchemeLst>
    <a:extraClrScheme>
      <a:clrScheme name="1_Master Slide Rev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Master Slide Rev1.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Master Slide Rev1.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Master Slide Rev1.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Master Slide Rev1.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Master Slide Rev1.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Master Slide Rev1.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Master Slide Rev1.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Master Slide Rev1.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Master Slide Rev1.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Master Slide Rev1.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Master Slide Rev1.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Slide Rev2.0(Internal)</Template>
  <TotalTime>57625</TotalTime>
  <Words>2204</Words>
  <Application>Microsoft Office PowerPoint</Application>
  <PresentationFormat>Widescreen</PresentationFormat>
  <Paragraphs>231</Paragraphs>
  <Slides>22</Slides>
  <Notes>21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Gulim</vt:lpstr>
      <vt:lpstr>Malgun Gothic</vt:lpstr>
      <vt:lpstr>Arial</vt:lpstr>
      <vt:lpstr>Calibri</vt:lpstr>
      <vt:lpstr>Cambria</vt:lpstr>
      <vt:lpstr>Segoe UI</vt:lpstr>
      <vt:lpstr>SinMyungJo Symbol</vt:lpstr>
      <vt:lpstr>Wingdings</vt:lpstr>
      <vt:lpstr>1_Master Slide Rev1.0</vt:lpstr>
      <vt:lpstr>디자인 사용자 지정</vt:lpstr>
      <vt:lpstr>TITLE of Invention..</vt:lpstr>
      <vt:lpstr>PowerPoint Presentation</vt:lpstr>
      <vt:lpstr>PowerPoint Presentation</vt:lpstr>
      <vt:lpstr>Recommendation Summary</vt:lpstr>
      <vt:lpstr>Opportunity Review: Significance</vt:lpstr>
      <vt:lpstr>Opportunity Review: Current Solution</vt:lpstr>
      <vt:lpstr>Opportunity Review: Current Solution</vt:lpstr>
      <vt:lpstr>Opportunity Review: Proposed</vt:lpstr>
      <vt:lpstr>Opportunity Review: Why the new engine works?</vt:lpstr>
      <vt:lpstr>Recommendation</vt:lpstr>
      <vt:lpstr>Independent Claims </vt:lpstr>
      <vt:lpstr>Dependent Claims </vt:lpstr>
      <vt:lpstr>Main Patentable Points</vt:lpstr>
      <vt:lpstr>Prior Arts Comparision</vt:lpstr>
      <vt:lpstr>Difference from Closest Prior Art</vt:lpstr>
      <vt:lpstr>System Architecture  &amp; Module Description</vt:lpstr>
      <vt:lpstr>6. Systems and Methods … </vt:lpstr>
      <vt:lpstr>PowerPoint Presentation</vt:lpstr>
      <vt:lpstr>6. Each Module Description &amp; Novelty Block Explanation</vt:lpstr>
      <vt:lpstr>PowerPoint Presentation</vt:lpstr>
      <vt:lpstr>Sample Results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Pre-DOI SRI-B</dc:title>
  <dc:creator>sundar</dc:creator>
  <cp:lastModifiedBy>Hamsini Goel</cp:lastModifiedBy>
  <cp:revision>1351</cp:revision>
  <dcterms:created xsi:type="dcterms:W3CDTF">2003-11-18T02:54:31Z</dcterms:created>
  <dcterms:modified xsi:type="dcterms:W3CDTF">2026-10-06T11:42:20Z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