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ddcc97e-76fa-ec1c-c66a-1c2f5ac33c42}">
          <p14:sldIdLst>
            <p14:sldId id="256"/>
            <p14:sldId id="257"/>
            <p14:sldId id="258"/>
            <p14:sldId id="259"/>
          </p14:sldIdLst>
        </p14:section>
        <p14:section name="How it works" id="{3bc1506f-a1dd-349a-9cd1-1fc394d3e020}">
          <p14:sldIdLst>
            <p14:sldId id="260"/>
            <p14:sldId id="261"/>
            <p14:sldId id="262"/>
            <p14:sldId id="263"/>
            <p14:sldId id="264"/>
            <p14:sldId id="265"/>
            <p14:sldId id="266"/>
          </p14:sldIdLst>
        </p14:section>
        <p14:section name="Proof" id="{6a162e6f-6630-e4a6-6f8a-e057a41d0ae2}">
          <p14:sldIdLst>
            <p14:sldId id="267"/>
            <p14:sldId id="268"/>
            <p14:sldId id="269"/>
          </p14:sldIdLst>
        </p14:section>
        <p14:section name="New in October" id="{6c8f498b-c2c9-b978-2580-7ee54ff01588}">
          <p14:sldIdLst>
            <p14:sldId id="270"/>
            <p14:sldId id="271"/>
          </p14:sldIdLst>
        </p14:section>
        <p14:section name="Live demo" id="{1159690f-6c77-4854-5337-ef5909eaddd1}">
          <p14:sldIdLst>
            <p14:sldId id="272"/>
          </p14:sldIdLst>
        </p14:section>
        <p14:section name="Wrap-up" id="{877f5da3-59fb-b909-7a88-ecdeb8ad1833}">
          <p14:sldIdLst>
            <p14:sldId id="273"/>
            <p14:sldId id="274"/>
          </p14:sldIdLst>
        </p14:section>
        <p14:section name="Appendix" id="{479411b7-c74b-b460-1539-5a29db12ff12}">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172A"/>
                </a:solidFill>
                <a:latin typeface="+mn-lt"/>
              </a:defRPr>
            </a:pPr>
            <a:r>
              <a:rPr sz="1600" b="0" i="0" u="none" strike="noStrike">
                <a:solidFill>
                  <a:srgbClr val="0F172A"/>
                </a:solidFill>
                <a:latin typeface="+mn-lt"/>
              </a:rPr>
              <a:t>Fakes wrongly let through (%)</a:t>
            </a:r>
          </a:p>
        </c:rich>
      </c:tx>
      <c:layout/>
      <c:overlay val="0"/>
    </c:title>
    <c:autoTitleDeleted val="0"/>
    <c:plotArea>
      <c:layout/>
      <c:barChart>
        <c:barDir val="col"/>
        <c:grouping val="clustered"/>
        <c:varyColors val="0"/>
        <c:ser>
          <c:idx val="0"/>
          <c:order val="0"/>
          <c:tx>
            <c:strRef>
              <c:f>Sheet1!$B$1</c:f>
              <c:strCache>
                <c:ptCount val="1"/>
                <c:pt idx="0">
                  <c:v>Detector score alone</c:v>
                </c:pt>
              </c:strCache>
            </c:strRef>
          </c:tx>
          <c:spPr>
            <a:solidFill>
              <a:srgbClr val="94A3B8"/>
            </a:solidFill>
            <a:effectLst/>
          </c:spPr>
          <c:invertIfNegative val="0"/>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Strict test</c:v>
                  </c:pt>
                  <c:pt idx="1">
                    <c:v>Never-seen AI tools</c:v>
                  </c:pt>
                  <c:pt idx="2">
                    <c:v>Real-world clips</c:v>
                  </c:pt>
                </c:lvl>
              </c:multiLvlStrCache>
            </c:multiLvlStrRef>
          </c:cat>
          <c:val>
            <c:numRef>
              <c:f>Sheet1!$B$2:$B$4</c:f>
              <c:numCache>
                <c:formatCode>General</c:formatCode>
                <c:ptCount val="3"/>
                <c:pt idx="0">
                  <c:v>6.5</c:v>
                </c:pt>
                <c:pt idx="1">
                  <c:v>30.5</c:v>
                </c:pt>
                <c:pt idx="2">
                  <c:v>35.2</c:v>
                </c:pt>
              </c:numCache>
            </c:numRef>
          </c:val>
        </c:ser>
        <c:ser>
          <c:idx val="1"/>
          <c:order val="1"/>
          <c:tx>
            <c:strRef>
              <c:f>Sheet1!$C$1</c:f>
              <c:strCache>
                <c:ptCount val="1"/>
                <c:pt idx="0">
                  <c:v>With DeepShield review lane</c:v>
                </c:pt>
              </c:strCache>
            </c:strRef>
          </c:tx>
          <c:spPr>
            <a:solidFill>
              <a:srgbClr val="0D9488"/>
            </a:solidFill>
            <a:effectLst/>
          </c:spPr>
          <c:invertIfNegative val="0"/>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Strict test</c:v>
                  </c:pt>
                  <c:pt idx="1">
                    <c:v>Never-seen AI tools</c:v>
                  </c:pt>
                  <c:pt idx="2">
                    <c:v>Real-world clips</c:v>
                  </c:pt>
                </c:lvl>
              </c:multiLvlStrCache>
            </c:multiLvlStrRef>
          </c:cat>
          <c:val>
            <c:numRef>
              <c:f>Sheet1!$C$2:$C$4</c:f>
              <c:numCache>
                <c:formatCode>General</c:formatCode>
                <c:ptCount val="3"/>
                <c:pt idx="0">
                  <c:v>2.8</c:v>
                </c:pt>
                <c:pt idx="1">
                  <c:v>19.3</c:v>
                </c:pt>
                <c:pt idx="2">
                  <c:v>16.4</c:v>
                </c:pt>
              </c:numCache>
            </c:numRef>
          </c:val>
        </c:ser>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4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172A"/>
                </a:solidFill>
                <a:latin typeface="+mn-lt"/>
              </a:defRPr>
            </a:pPr>
            <a:r>
              <a:rPr sz="1600" b="0" i="0" u="none" strike="noStrike">
                <a:solidFill>
                  <a:srgbClr val="0F172A"/>
                </a:solidFill>
                <a:latin typeface="+mn-lt"/>
              </a:rPr>
              <a:t>Genuine voices wrongly blocked (%)</a:t>
            </a:r>
          </a:p>
        </c:rich>
      </c:tx>
      <c:layout/>
      <c:overlay val="0"/>
    </c:title>
    <c:autoTitleDeleted val="0"/>
    <c:plotArea>
      <c:layout/>
      <c:barChart>
        <c:barDir val="col"/>
        <c:grouping val="clustered"/>
        <c:varyColors val="0"/>
        <c:ser>
          <c:idx val="0"/>
          <c:order val="0"/>
          <c:tx>
            <c:strRef>
              <c:f>Sheet1!$B$1</c:f>
              <c:strCache>
                <c:ptCount val="1"/>
                <c:pt idx="0">
                  <c:v>Detector score alone</c:v>
                </c:pt>
              </c:strCache>
            </c:strRef>
          </c:tx>
          <c:spPr>
            <a:solidFill>
              <a:srgbClr val="94A3B8"/>
            </a:solidFill>
            <a:effectLst/>
          </c:spPr>
          <c:invertIfNegative val="0"/>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Strict test</c:v>
                  </c:pt>
                  <c:pt idx="1">
                    <c:v>Never-seen AI tools</c:v>
                  </c:pt>
                  <c:pt idx="2">
                    <c:v>Real-world clips</c:v>
                  </c:pt>
                </c:lvl>
              </c:multiLvlStrCache>
            </c:multiLvlStrRef>
          </c:cat>
          <c:val>
            <c:numRef>
              <c:f>Sheet1!$B$2:$B$4</c:f>
              <c:numCache>
                <c:formatCode>General</c:formatCode>
                <c:ptCount val="3"/>
                <c:pt idx="0">
                  <c:v>7</c:v>
                </c:pt>
                <c:pt idx="1">
                  <c:v>8.4</c:v>
                </c:pt>
                <c:pt idx="2">
                  <c:v>18.1</c:v>
                </c:pt>
              </c:numCache>
            </c:numRef>
          </c:val>
        </c:ser>
        <c:ser>
          <c:idx val="1"/>
          <c:order val="1"/>
          <c:tx>
            <c:strRef>
              <c:f>Sheet1!$C$1</c:f>
              <c:strCache>
                <c:ptCount val="1"/>
                <c:pt idx="0">
                  <c:v>With DeepShield review lane</c:v>
                </c:pt>
              </c:strCache>
            </c:strRef>
          </c:tx>
          <c:spPr>
            <a:solidFill>
              <a:srgbClr val="0D9488"/>
            </a:solidFill>
            <a:effectLst/>
          </c:spPr>
          <c:invertIfNegative val="0"/>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Strict test</c:v>
                  </c:pt>
                  <c:pt idx="1">
                    <c:v>Never-seen AI tools</c:v>
                  </c:pt>
                  <c:pt idx="2">
                    <c:v>Real-world clips</c:v>
                  </c:pt>
                </c:lvl>
              </c:multiLvlStrCache>
            </c:multiLvlStrRef>
          </c:cat>
          <c:val>
            <c:numRef>
              <c:f>Sheet1!$C$2:$C$4</c:f>
              <c:numCache>
                <c:formatCode>General</c:formatCode>
                <c:ptCount val="3"/>
                <c:pt idx="0">
                  <c:v>3.8</c:v>
                </c:pt>
                <c:pt idx="1">
                  <c:v>3.8</c:v>
                </c:pt>
                <c:pt idx="2">
                  <c:v>9.7</c:v>
                </c:pt>
              </c:numCache>
            </c:numRef>
          </c:val>
        </c:ser>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4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172A"/>
                </a:solidFill>
                <a:latin typeface="+mn-lt"/>
              </a:defRPr>
            </a:pPr>
            <a:r>
              <a:rPr sz="1600" b="0" i="0" u="none" strike="noStrike">
                <a:solidFill>
                  <a:srgbClr val="0F172A"/>
                </a:solidFill>
                <a:latin typeface="+mn-lt"/>
              </a:rPr>
              <a:t>Correct verdicts (%)</a:t>
            </a:r>
          </a:p>
        </c:rich>
      </c:tx>
      <c:layout/>
      <c:overlay val="0"/>
    </c:title>
    <c:autoTitleDeleted val="0"/>
    <c:plotArea>
      <c:layout/>
      <c:barChart>
        <c:barDir val="col"/>
        <c:grouping val="clustered"/>
        <c:varyColors val="0"/>
        <c:ser>
          <c:idx val="0"/>
          <c:order val="0"/>
          <c:tx>
            <c:strRef>
              <c:f>Sheet1!$B$1</c:f>
              <c:strCache>
                <c:ptCount val="1"/>
                <c:pt idx="0">
                  <c:v>Detector alone</c:v>
                </c:pt>
              </c:strCache>
            </c:strRef>
          </c:tx>
          <c:spPr>
            <a:solidFill>
              <a:srgbClr val="94A3B8"/>
            </a:solidFill>
            <a:effectLst/>
          </c:spPr>
          <c:invertIfNegative val="0"/>
          <c:dLbls>
            <c:numFmt formatCode="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New speakers, real-world clips</c:v>
                  </c:pt>
                  <c:pt idx="1">
                    <c:v>Demo speakers (held out)</c:v>
                  </c:pt>
                  <c:pt idx="2">
                    <c:v>The 24 demo clips</c:v>
                  </c:pt>
                </c:lvl>
              </c:multiLvlStrCache>
            </c:multiLvlStrRef>
          </c:cat>
          <c:val>
            <c:numRef>
              <c:f>Sheet1!$B$2:$B$4</c:f>
              <c:numCache>
                <c:formatCode>General</c:formatCode>
                <c:ptCount val="3"/>
                <c:pt idx="0">
                  <c:v>80.3</c:v>
                </c:pt>
                <c:pt idx="1">
                  <c:v>64.1</c:v>
                </c:pt>
                <c:pt idx="2">
                  <c:v>54.2</c:v>
                </c:pt>
              </c:numCache>
            </c:numRef>
          </c:val>
        </c:ser>
        <c:ser>
          <c:idx val="1"/>
          <c:order val="1"/>
          <c:tx>
            <c:strRef>
              <c:f>Sheet1!$C$1</c:f>
              <c:strCache>
                <c:ptCount val="1"/>
                <c:pt idx="0">
                  <c:v>+ Reference bank</c:v>
                </c:pt>
              </c:strCache>
            </c:strRef>
          </c:tx>
          <c:spPr>
            <a:solidFill>
              <a:srgbClr val="0D9488"/>
            </a:solidFill>
            <a:effectLst/>
          </c:spPr>
          <c:invertIfNegative val="0"/>
          <c:dLbls>
            <c:numFmt formatCode="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New speakers, real-world clips</c:v>
                  </c:pt>
                  <c:pt idx="1">
                    <c:v>Demo speakers (held out)</c:v>
                  </c:pt>
                  <c:pt idx="2">
                    <c:v>The 24 demo clips</c:v>
                  </c:pt>
                </c:lvl>
              </c:multiLvlStrCache>
            </c:multiLvlStrRef>
          </c:cat>
          <c:val>
            <c:numRef>
              <c:f>Sheet1!$C$2:$C$4</c:f>
              <c:numCache>
                <c:formatCode>General</c:formatCode>
                <c:ptCount val="3"/>
                <c:pt idx="0">
                  <c:v>91.8</c:v>
                </c:pt>
                <c:pt idx="1">
                  <c:v>84.6</c:v>
                </c:pt>
                <c:pt idx="2">
                  <c:v>87.5</c:v>
                </c:pt>
              </c:numCache>
            </c:numRef>
          </c:val>
        </c:ser>
        <c:ser>
          <c:idx val="2"/>
          <c:order val="2"/>
          <c:tx>
            <c:strRef>
              <c:f>Sheet1!$D$1</c:f>
              <c:strCache>
                <c:ptCount val="1"/>
                <c:pt idx="0">
                  <c:v>+ Speaker check</c:v>
                </c:pt>
              </c:strCache>
            </c:strRef>
          </c:tx>
          <c:spPr>
            <a:solidFill>
              <a:srgbClr val="6366F1"/>
            </a:solidFill>
            <a:effectLst/>
          </c:spPr>
          <c:invertIfNegative val="0"/>
          <c:dLbls>
            <c:numFmt formatCode="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New speakers, real-world clips</c:v>
                  </c:pt>
                  <c:pt idx="1">
                    <c:v>Demo speakers (held out)</c:v>
                  </c:pt>
                  <c:pt idx="2">
                    <c:v>The 24 demo clips</c:v>
                  </c:pt>
                </c:lvl>
              </c:multiLvlStrCache>
            </c:multiLvlStrRef>
          </c:cat>
          <c:val>
            <c:numRef>
              <c:f>Sheet1!$D$2:$D$4</c:f>
              <c:numCache>
                <c:formatCode>General</c:formatCode>
                <c:ptCount val="3"/>
                <c:pt idx="0">
                  <c:v>89.1</c:v>
                </c:pt>
                <c:pt idx="1">
                  <c:v>84.6</c:v>
                </c:pt>
                <c:pt idx="2">
                  <c:v>62.5</c:v>
                </c:pt>
              </c:numCache>
            </c:numRef>
          </c:val>
        </c:ser>
        <c:dLbls>
          <c:numFmt formatCode="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I'll show you DeepShield, a system that listens to a voice recording and tells us whether it is a real person or an AI-generated voice. I'll keep it simple: first the problem, then how the system works block by block, then what our tests show, and finally a live demo on this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simple to state. AI can now copy a person's voice and make it say anything, and it sounds real. That opens the door to fraud calls, fooling voice verification, and fake recordings used as evidence. The hard part is that new cloning tools keep coming out, so a useful detector has to cope with tools it has never seen, and be honest when it is not 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detectors only say 'real' or 'fake'. DeepShield asks five questions: is it fake, what kind of fake, how sure are we, have we seen anything like it before, and why. Then, like a traffic light, it makes one of three decisions: green means pass, red means block, and amber means a human should check it. That amber lane is the important part: when the system is unsure, it says so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application the student team built. It runs completely on this laptop, so nothing is uploaded to the internet and no audio is stored. You upload a recording or speak into the microphone, and within a second you get the decision and the reason behind it. I'll show it live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in six steps, left to right. One: prepare the recording. Two: turn the sound into two kinds of pictures. Three: an AI pattern recogniser reads those pictures and boils them down to a 128-number 'voice fingerprint'. Four: four specialists each look at that fingerprint and answer one question. Five: a risk gateway combines their answers into pass, review or block. Six: it writes the reason in plain English. Steps one to three are well-known techniques we chose carefully. Steps four to six, shown in red, are DeepShield's own design and the focus of the patent.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is housekeeping. Every recording is converted to the same format and checked in overlapping three-second pieces, a new one every half second, and the clip is scored from its most suspicious third, so one fake sentence in a long call isn't missed. Since October the same file always gets exactly the same answer; before, borderline clips could switch between block and review on a second upload. Very short clips, under two seconds, go straight to a human, because there simply isn't enough speech to judge. During training we deliberately degraded recordings with compression, noise, echo and phone-line effects, like practising in the rain before match day, so it copes with real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can't 'hear', so we turn each three-second piece into pictures. The top pictures show the fine detail of the sound; the bottom pictures show the shape of the voice. On the left is a real voice, on the right an AI voice. Notice the AI voice has perfectly black, unnaturally clean silences between words; real recordings always have some background. Using two views is like checking a banknote under normal light and under UV: each one catches tricks the other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an AI pattern recogniser studies the two pictures. It's a residual network, the same family of design used widely for image recognition, with an 'attention' part that works like a highlighter on the most useful clues. It's deliberately compact, about 341,000 learned settings, so it runs on a normal laptop in a fraction of a second. Its output is a 'voice fingerprint': 128 numbers that summarise the clip. Everything after this works from that fingerprint.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DeepShield differs from ordinary detectors. Instead of one answer, four specialists look at the same fingerprint. The fake score says how likely it is to be AI. The attack-type specialist says which family of AI tool made it, which is useful for investigators. The uncertainty specialist checks how sure the system is: it asks itself the same question many times with small variations, and if the answers disagree, it's unsure. The novelty specialist checks whether this voice looks unlike the real voices it has learned. On AI tools it has never seen, uncertainty and novelty pick up warning signs the fake score alone misses. The gain is modest so far, and making better use of it is part of our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gateway is the decision maker. It takes all four specialists' answers together. If the voice looks unfamiliar or the system is unsure, it goes to a person. If it's clearly real, it passes; if it's clearly AI, it's blocked. We tuned the gateway so that only about fifteen percent of genuine calls need a human look, which is a manageable workload, and in exchange both kinds of mistakes are roughly halved. I'll show the numbers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every decision comes with an explanation a reviewer can act on. This is a real screenshot: an AI-generated Obama clip, blocked. It shows the decision and risk level, the scores as simple bars, which family of AI tool most likely made it, the most suspicious part of the recording, and a one-line reason. The reason is built directly from the scores. It is never made up, which matters if a decision is ever 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this carefully. We used eleven public datasets, about 44,000 clips, and over forty different AI voice tools. First, no cheating: the same recording or speaker never appears in both training and testing. The students' earlier 97.7% figure was inflated by exactly that; the honest figure is 93%. Second, we hid entire families of AI tools during training and tested on them, to simulate tomorrow's tools. Third, we tested on 4,000 real-world clips of public figures from the internet. Fourth, we tested on messy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headline results. On the strict test it is correct 93% of the time, and it identifies the type of AI tool 91% of the time. Encouragingly, it catches about four out of five of the newest commercial AI voices even though it never trained on them. Real-world internet clips are the hardest test, at 73%, and that's where we have room to improve. On its own, the detector wrongly flags about seven genuine recordings in a hundred and misses about seven fakes in a hundred. The gateway improves both, as the next slide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practical result. Grey bars are the detector on its own; teal bars are with DeepShield's gateway, which sends doubtful cases to a person. On the left: fakes wrongly let through. On the strict test it drops from 6.5% to 2.8%; on AI tools it has never seen, from 30% to 19%; on real-world clips, from 35% to 16%. On the right: genuine voices wrongly blocked, which also roughly halves. The price is that about fifteen percent of genuine recordings get a quick human check. That's the trade-off: a small, predictable review workload for far fewer mistakes. To be precise: most of this gain comes from having a human review lane at all. The four specialists add a smaller extra benefit on never-seen AI tools, and improving that is part of the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month we added two things on top of the existing AI, without retraining it. The first is a reference bank: a small extra layer tuned on a few hundred labelled examples of the kind of audio we deal with. On real-world clips from speakers it was never tuned on, accuracy goes from 80% to 92%; on the 24 demo clips, from 13 to 21 correct. It was tuned on one public collection, so before any pilot we would retune it on our own labelled audio. The second is a speaker check: when a caller claims to be a known person, we compare the voice with a few verified recordings of that person. It lets far fewer fakes through, at the cost of sending more genuine calls to a person. We kept the demo speakers and clips completely out of the tuning, so these numbers are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other changes this month. First, the system now gives exactly the same answer every time for the same file; before, a borderline clip could flip between block and review. Second, it now checks every half second of a recording instead of a few spaced-out pieces. That closed blind spots: an Indian-English AI voice it used to miss is now caught. Overall accuracy is about the same; the benefit is consistency. Third, we tested a spliced fake, a short AI sentence dropped into a real recording. The detector alone missed it; with the reference bank it goes to a person. And we tried one idea that did not help, so we dropped it. The full retraining, which should give the biggest accuracy gain, is built and tested on the laptop; it needs a few hours of cloud GPU time, or about an hour and a half if the data preparation is first done on ordinary processors.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switch to the live system. [Switch to the browser: double-click start_demo.bat if it isn't already open, then go to http://localhost:8080 and click Detector.] I'll upload three clips from the folder demo\clips\in_the_wild, in this order: Mark_Zuckerberg_GENUINE_31559, Barack_Obama_DEEPFAKE_23208, Mark_Zuckerberg_DEEPFAKE_11316. First, a genuine Zuckerberg interview: it passes. Second, an AI-generated Obama clip: it's blocked. Third, an AI-generated Zuckerberg clip that sits right on the line, so instead of guessing it sends it to a human. That third case is the whole point of DeepShield. These three always give the same result now. If the live system has any problem, these screenshots show the same three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transparent about the limits: brand-new AI tools still get through more often than we'd like, heavy noise hurts accuracy, very short clips can't be judged, and spliced recordings fool the AI on its own; the reference bank caught our test case, but that is one example. Next steps: run the retraining, which is ready; retune the add-ons on our own audio and test the speaker check with recordings from separate calls; pilot on real call-centre audio; and file the patent on the risk gateway. The key message: no detector is perfect, but DeepShield knows when it's unsure and asks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I'm happy to take questions, and anyone who wants to can try the demo with their own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each building block, the technique used, why it was chosen, and a plain-English comparison. Use it if someone asks a technical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the reference table, covering the four specialists, the risk gateway and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for the October additions: overlapping windows, fixed-seed uncertainty, the reference bank, the speaker check, and the prepared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731520" y="3611880"/>
            <a:ext cx="10698480" cy="1188720"/>
          </a:xfrm>
          <a:prstGeom prst="rect">
            <a:avLst/>
          </a:prstGeom>
          <a:noFill/>
          <a:ln/>
        </p:spPr>
        <p:txBody>
          <a:bodyPr wrap="square" rtlCol="0"/>
          <a:lstStyle>
            <a:lvl1pPr algn="l" indent="0" marL="0">
              <a:buNone/>
              <a:defRPr lang="en-US" sz="2200" dirty="0">
                <a:solidFill>
                  <a:srgbClr val="CBD5E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DeepShield · Senior management briefing</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lvl1pPr algn="l" indent="0" marL="0">
              <a:buNone/>
              <a:defRPr lang="en-US" sz="2000" dirty="0">
                <a:solidFill>
                  <a:srgbClr val="CBD5E1"/>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3.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DeepShield</a:t>
            </a:r>
            <a:endParaRPr lang="en-US" sz="4800" dirty="0"/>
          </a:p>
        </p:txBody>
      </p:sp>
      <p:sp>
        <p:nvSpPr>
          <p:cNvPr id="3" name="Text 0"/>
          <p:cNvSpPr/>
          <p:nvPr>
            <p:ph idx="101" type="body" hasCustomPrompt="1"/>
          </p:nvPr>
        </p:nvSpPr>
        <p:spPr>
          <a:xfrm>
            <a:off x="731520" y="3611880"/>
            <a:ext cx="10698480" cy="1188720"/>
          </a:xfrm>
          <a:prstGeom prst="rect">
            <a:avLst/>
          </a:prstGeom>
          <a:noFill/>
          <a:ln/>
        </p:spPr>
        <p:txBody>
          <a:bodyPr wrap="square" rtlCol="0" anchor="t"/>
          <a:lstStyle/>
          <a:p>
            <a:pPr algn="l" indent="0" marL="0">
              <a:buNone/>
            </a:pPr>
            <a:r>
              <a:rPr lang="en-US" sz="2200" dirty="0">
                <a:solidFill>
                  <a:srgbClr val="CBD5E1"/>
                </a:solidFill>
                <a:latin typeface="Calibri" pitchFamily="34" charset="0"/>
                <a:ea typeface="Calibri" pitchFamily="34" charset="-122"/>
                <a:cs typeface="Calibri" pitchFamily="34" charset="-120"/>
              </a:rPr>
              <a:t>Telling real human voices from AI-generated ones, with a human safety net for the hard cases</a:t>
            </a:r>
            <a:endParaRPr lang="en-US" sz="2200" dirty="0"/>
          </a:p>
        </p:txBody>
      </p:sp>
      <p:sp>
        <p:nvSpPr>
          <p:cNvPr id="4" name="Shape 2"/>
          <p:cNvSpPr/>
          <p:nvPr/>
        </p:nvSpPr>
        <p:spPr>
          <a:xfrm>
            <a:off x="731520" y="960120"/>
            <a:ext cx="914400" cy="914400"/>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950976" y="1179576"/>
            <a:ext cx="475488" cy="475488"/>
          </a:xfrm>
          <a:prstGeom prst="rect">
            <a:avLst/>
          </a:prstGeom>
        </p:spPr>
      </p:pic>
      <p:sp>
        <p:nvSpPr>
          <p:cNvPr id="6" name="Text 3"/>
          <p:cNvSpPr txBox="1"/>
          <p:nvPr/>
        </p:nvSpPr>
        <p:spPr>
          <a:xfrm>
            <a:off x="731520" y="5852160"/>
            <a:ext cx="7315200" cy="36576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Senior management briefing · live demo · updated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Anyone's voice can now be copied by AI</a:t>
            </a:r>
            <a:endParaRPr lang="en-US" sz="3200" dirty="0"/>
          </a:p>
        </p:txBody>
      </p:sp>
      <p:sp>
        <p:nvSpPr>
          <p:cNvPr id="3" name="Text 1"/>
          <p:cNvSpPr txBox="1"/>
          <p:nvPr/>
        </p:nvSpPr>
        <p:spPr>
          <a:xfrm>
            <a:off x="548640" y="1280160"/>
            <a:ext cx="5486400" cy="1188720"/>
          </a:xfrm>
          <a:prstGeom prst="rect">
            <a:avLst/>
          </a:prstGeom>
          <a:noFill/>
          <a:ln/>
        </p:spPr>
        <p:txBody>
          <a:bodyPr wrap="square" lIns="0" tIns="0" rIns="0" bIns="0" rtlCol="0" anchor="t"/>
          <a:lstStyle/>
          <a:p>
            <a:pPr indent="0" marL="0">
              <a:buNone/>
            </a:pPr>
            <a:r>
              <a:rPr lang="en-US" sz="1800" dirty="0">
                <a:solidFill>
                  <a:srgbClr val="334155"/>
                </a:solidFill>
                <a:latin typeface="Calibri" pitchFamily="34" charset="0"/>
                <a:ea typeface="Calibri" pitchFamily="34" charset="-122"/>
                <a:cs typeface="Calibri" pitchFamily="34" charset="-120"/>
              </a:rPr>
              <a:t>Modern AI tools can clone a voice from a short recording and make it say anything. To a listener, the result often sounds completely real.</a:t>
            </a:r>
            <a:endParaRPr lang="en-US" sz="1800" dirty="0"/>
          </a:p>
        </p:txBody>
      </p:sp>
      <p:sp>
        <p:nvSpPr>
          <p:cNvPr id="4" name="Shape 2"/>
          <p:cNvSpPr/>
          <p:nvPr/>
        </p:nvSpPr>
        <p:spPr>
          <a:xfrm>
            <a:off x="548640" y="2651760"/>
            <a:ext cx="777240" cy="777240"/>
          </a:xfrm>
          <a:prstGeom prst="ellipse">
            <a:avLst/>
          </a:prstGeom>
          <a:solidFill>
            <a:srgbClr val="E5484D"/>
          </a:solidFill>
          <a:ln/>
        </p:spPr>
      </p:sp>
      <p:pic>
        <p:nvPicPr>
          <p:cNvPr id="5" name="Image 0" descr="preencoded.png">    </p:cNvPr>
          <p:cNvPicPr>
            <a:picLocks noChangeAspect="1"/>
          </p:cNvPicPr>
          <p:nvPr/>
        </p:nvPicPr>
        <p:blipFill>
          <a:blip r:embed="rId1"/>
          <a:stretch>
            <a:fillRect/>
          </a:stretch>
        </p:blipFill>
        <p:spPr>
          <a:xfrm>
            <a:off x="735178" y="2838298"/>
            <a:ext cx="404165" cy="404165"/>
          </a:xfrm>
          <a:prstGeom prst="rect">
            <a:avLst/>
          </a:prstGeom>
        </p:spPr>
      </p:pic>
      <p:sp>
        <p:nvSpPr>
          <p:cNvPr id="6" name="Text 3"/>
          <p:cNvSpPr txBox="1"/>
          <p:nvPr/>
        </p:nvSpPr>
        <p:spPr>
          <a:xfrm>
            <a:off x="1508760" y="2670048"/>
            <a:ext cx="4480560" cy="36576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Fraud calls</a:t>
            </a:r>
            <a:endParaRPr lang="en-US" sz="1800" dirty="0"/>
          </a:p>
        </p:txBody>
      </p:sp>
      <p:sp>
        <p:nvSpPr>
          <p:cNvPr id="7" name="Text 4"/>
          <p:cNvSpPr txBox="1"/>
          <p:nvPr/>
        </p:nvSpPr>
        <p:spPr>
          <a:xfrm>
            <a:off x="1508760" y="3035808"/>
            <a:ext cx="4480560" cy="5486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 ‘manager’ or ‘family member’ asking for an urgent payment</a:t>
            </a:r>
            <a:endParaRPr lang="en-US" sz="1500" dirty="0"/>
          </a:p>
        </p:txBody>
      </p:sp>
      <p:sp>
        <p:nvSpPr>
          <p:cNvPr id="8" name="Shape 5"/>
          <p:cNvSpPr/>
          <p:nvPr/>
        </p:nvSpPr>
        <p:spPr>
          <a:xfrm>
            <a:off x="548640" y="3794760"/>
            <a:ext cx="777240" cy="777240"/>
          </a:xfrm>
          <a:prstGeom prst="ellipse">
            <a:avLst/>
          </a:prstGeom>
          <a:solidFill>
            <a:srgbClr val="E5484D"/>
          </a:solidFill>
          <a:ln/>
        </p:spPr>
      </p:sp>
      <p:pic>
        <p:nvPicPr>
          <p:cNvPr id="9" name="Image 1" descr="preencoded.png">    </p:cNvPr>
          <p:cNvPicPr>
            <a:picLocks noChangeAspect="1"/>
          </p:cNvPicPr>
          <p:nvPr/>
        </p:nvPicPr>
        <p:blipFill>
          <a:blip r:embed="rId2"/>
          <a:stretch>
            <a:fillRect/>
          </a:stretch>
        </p:blipFill>
        <p:spPr>
          <a:xfrm>
            <a:off x="735178" y="3981298"/>
            <a:ext cx="404165" cy="404165"/>
          </a:xfrm>
          <a:prstGeom prst="rect">
            <a:avLst/>
          </a:prstGeom>
        </p:spPr>
      </p:pic>
      <p:sp>
        <p:nvSpPr>
          <p:cNvPr id="10" name="Text 6"/>
          <p:cNvSpPr txBox="1"/>
          <p:nvPr/>
        </p:nvSpPr>
        <p:spPr>
          <a:xfrm>
            <a:off x="1508760" y="3813048"/>
            <a:ext cx="4480560" cy="36576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Account takeover</a:t>
            </a:r>
            <a:endParaRPr lang="en-US" sz="1800" dirty="0"/>
          </a:p>
        </p:txBody>
      </p:sp>
      <p:sp>
        <p:nvSpPr>
          <p:cNvPr id="11" name="Text 7"/>
          <p:cNvSpPr txBox="1"/>
          <p:nvPr/>
        </p:nvSpPr>
        <p:spPr>
          <a:xfrm>
            <a:off x="1508760" y="4178808"/>
            <a:ext cx="4480560" cy="5486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Fooling voice-based verification at banks and call centres</a:t>
            </a:r>
            <a:endParaRPr lang="en-US" sz="1500" dirty="0"/>
          </a:p>
        </p:txBody>
      </p:sp>
      <p:sp>
        <p:nvSpPr>
          <p:cNvPr id="12" name="Shape 8"/>
          <p:cNvSpPr/>
          <p:nvPr/>
        </p:nvSpPr>
        <p:spPr>
          <a:xfrm>
            <a:off x="548640" y="4937760"/>
            <a:ext cx="777240" cy="777240"/>
          </a:xfrm>
          <a:prstGeom prst="ellipse">
            <a:avLst/>
          </a:prstGeom>
          <a:solidFill>
            <a:srgbClr val="E5484D"/>
          </a:solidFill>
          <a:ln/>
        </p:spPr>
      </p:sp>
      <p:pic>
        <p:nvPicPr>
          <p:cNvPr id="13" name="Image 2" descr="preencoded.png">    </p:cNvPr>
          <p:cNvPicPr>
            <a:picLocks noChangeAspect="1"/>
          </p:cNvPicPr>
          <p:nvPr/>
        </p:nvPicPr>
        <p:blipFill>
          <a:blip r:embed="rId3"/>
          <a:stretch>
            <a:fillRect/>
          </a:stretch>
        </p:blipFill>
        <p:spPr>
          <a:xfrm>
            <a:off x="735178" y="5124298"/>
            <a:ext cx="404165" cy="404165"/>
          </a:xfrm>
          <a:prstGeom prst="rect">
            <a:avLst/>
          </a:prstGeom>
        </p:spPr>
      </p:pic>
      <p:sp>
        <p:nvSpPr>
          <p:cNvPr id="14" name="Text 9"/>
          <p:cNvSpPr txBox="1"/>
          <p:nvPr/>
        </p:nvSpPr>
        <p:spPr>
          <a:xfrm>
            <a:off x="1508760" y="4956048"/>
            <a:ext cx="4480560" cy="36576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Fake evidence</a:t>
            </a:r>
            <a:endParaRPr lang="en-US" sz="1800" dirty="0"/>
          </a:p>
        </p:txBody>
      </p:sp>
      <p:sp>
        <p:nvSpPr>
          <p:cNvPr id="15" name="Text 10"/>
          <p:cNvSpPr txBox="1"/>
          <p:nvPr/>
        </p:nvSpPr>
        <p:spPr>
          <a:xfrm>
            <a:off x="1508760" y="5321808"/>
            <a:ext cx="4480560" cy="5486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Doctored recordings used to mislead or defame</a:t>
            </a:r>
            <a:endParaRPr lang="en-US" sz="1500" dirty="0"/>
          </a:p>
        </p:txBody>
      </p:sp>
      <p:sp>
        <p:nvSpPr>
          <p:cNvPr id="16" name="Shape 11"/>
          <p:cNvSpPr/>
          <p:nvPr/>
        </p:nvSpPr>
        <p:spPr>
          <a:xfrm>
            <a:off x="6492240" y="1280160"/>
            <a:ext cx="5120640" cy="4754880"/>
          </a:xfrm>
          <a:prstGeom prst="roundRect">
            <a:avLst>
              <a:gd name="adj" fmla="val 2308"/>
            </a:avLst>
          </a:prstGeom>
          <a:solidFill>
            <a:srgbClr val="0F172A"/>
          </a:solidFill>
          <a:ln/>
        </p:spPr>
      </p:sp>
      <p:sp>
        <p:nvSpPr>
          <p:cNvPr id="17" name="Shape 12"/>
          <p:cNvSpPr/>
          <p:nvPr/>
        </p:nvSpPr>
        <p:spPr>
          <a:xfrm>
            <a:off x="8458200" y="1691640"/>
            <a:ext cx="1188720" cy="1188720"/>
          </a:xfrm>
          <a:prstGeom prst="ellipse">
            <a:avLst/>
          </a:prstGeom>
          <a:solidFill>
            <a:srgbClr val="E5484D"/>
          </a:solidFill>
          <a:ln/>
        </p:spPr>
      </p:sp>
      <p:pic>
        <p:nvPicPr>
          <p:cNvPr id="18" name="Image 3" descr="preencoded.png">    </p:cNvPr>
          <p:cNvPicPr>
            <a:picLocks noChangeAspect="1"/>
          </p:cNvPicPr>
          <p:nvPr/>
        </p:nvPicPr>
        <p:blipFill>
          <a:blip r:embed="rId4"/>
          <a:stretch>
            <a:fillRect/>
          </a:stretch>
        </p:blipFill>
        <p:spPr>
          <a:xfrm>
            <a:off x="8743493" y="1976933"/>
            <a:ext cx="618134" cy="618134"/>
          </a:xfrm>
          <a:prstGeom prst="rect">
            <a:avLst/>
          </a:prstGeom>
        </p:spPr>
      </p:pic>
      <p:sp>
        <p:nvSpPr>
          <p:cNvPr id="19" name="Text 13"/>
          <p:cNvSpPr txBox="1"/>
          <p:nvPr/>
        </p:nvSpPr>
        <p:spPr>
          <a:xfrm>
            <a:off x="6858000" y="3154680"/>
            <a:ext cx="438912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Calibri" pitchFamily="34" charset="0"/>
                <a:ea typeface="Calibri" pitchFamily="34" charset="-122"/>
                <a:cs typeface="Calibri" pitchFamily="34" charset="-120"/>
              </a:rPr>
              <a:t>The challenge</a:t>
            </a:r>
            <a:endParaRPr lang="en-US" sz="2000" dirty="0"/>
          </a:p>
        </p:txBody>
      </p:sp>
      <p:sp>
        <p:nvSpPr>
          <p:cNvPr id="20" name="Text 14"/>
          <p:cNvSpPr txBox="1"/>
          <p:nvPr/>
        </p:nvSpPr>
        <p:spPr>
          <a:xfrm>
            <a:off x="6858000" y="3657600"/>
            <a:ext cx="4389120" cy="2011680"/>
          </a:xfrm>
          <a:prstGeom prst="rect">
            <a:avLst/>
          </a:prstGeom>
          <a:noFill/>
          <a:ln/>
        </p:spPr>
        <p:txBody>
          <a:bodyPr wrap="square" lIns="0" tIns="0" rIns="0" bIns="0" rtlCol="0" anchor="t"/>
          <a:lstStyle/>
          <a:p>
            <a:pPr algn="ctr" indent="0" marL="0">
              <a:buNone/>
            </a:pPr>
            <a:r>
              <a:rPr lang="en-US" sz="1600" dirty="0">
                <a:solidFill>
                  <a:srgbClr val="CBD5E1"/>
                </a:solidFill>
                <a:latin typeface="Calibri" pitchFamily="34" charset="0"/>
                <a:ea typeface="Calibri" pitchFamily="34" charset="-122"/>
                <a:cs typeface="Calibri" pitchFamily="34" charset="-120"/>
              </a:rPr>
              <a:t>New voice-cloning tools appear every few months. A detector that only knows yesterday's tools will be fooled by tomorrow's, so it must also know when it is unsure.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DeepShield answers five questions, not just one</a:t>
            </a:r>
            <a:endParaRPr lang="en-US" sz="3200" dirty="0"/>
          </a:p>
        </p:txBody>
      </p:sp>
      <p:sp>
        <p:nvSpPr>
          <p:cNvPr id="3" name="Shape 1"/>
          <p:cNvSpPr/>
          <p:nvPr/>
        </p:nvSpPr>
        <p:spPr>
          <a:xfrm>
            <a:off x="548640" y="1325880"/>
            <a:ext cx="2084832" cy="2331720"/>
          </a:xfrm>
          <a:prstGeom prst="roundRect">
            <a:avLst>
              <a:gd name="adj" fmla="val 5263"/>
            </a:avLst>
          </a:prstGeom>
          <a:solidFill>
            <a:srgbClr val="F1F5F9"/>
          </a:solidFill>
          <a:ln/>
        </p:spPr>
      </p:sp>
      <p:sp>
        <p:nvSpPr>
          <p:cNvPr id="4" name="Shape 2"/>
          <p:cNvSpPr/>
          <p:nvPr/>
        </p:nvSpPr>
        <p:spPr>
          <a:xfrm>
            <a:off x="1225296" y="1554480"/>
            <a:ext cx="731520" cy="731520"/>
          </a:xfrm>
          <a:prstGeom prst="ellipse">
            <a:avLst/>
          </a:prstGeom>
          <a:solidFill>
            <a:srgbClr val="6366F1"/>
          </a:solidFill>
          <a:ln/>
        </p:spPr>
      </p:sp>
      <p:pic>
        <p:nvPicPr>
          <p:cNvPr id="5" name="Image 0" descr="preencoded.png">    </p:cNvPr>
          <p:cNvPicPr>
            <a:picLocks noChangeAspect="1"/>
          </p:cNvPicPr>
          <p:nvPr/>
        </p:nvPicPr>
        <p:blipFill>
          <a:blip r:embed="rId1"/>
          <a:stretch>
            <a:fillRect/>
          </a:stretch>
        </p:blipFill>
        <p:spPr>
          <a:xfrm>
            <a:off x="1400861" y="1730045"/>
            <a:ext cx="380390" cy="380390"/>
          </a:xfrm>
          <a:prstGeom prst="rect">
            <a:avLst/>
          </a:prstGeom>
        </p:spPr>
      </p:pic>
      <p:sp>
        <p:nvSpPr>
          <p:cNvPr id="6" name="Text 3"/>
          <p:cNvSpPr txBox="1"/>
          <p:nvPr/>
        </p:nvSpPr>
        <p:spPr>
          <a:xfrm>
            <a:off x="685800" y="2423160"/>
            <a:ext cx="1810512" cy="411480"/>
          </a:xfrm>
          <a:prstGeom prst="rect">
            <a:avLst/>
          </a:prstGeom>
          <a:noFill/>
          <a:ln/>
        </p:spPr>
        <p:txBody>
          <a:bodyPr wrap="square" lIns="0" tIns="0" rIns="0" bIns="0" rtlCol="0" anchor="t"/>
          <a:lstStyle/>
          <a:p>
            <a:pPr algn="ctr" indent="0" marL="0">
              <a:buNone/>
            </a:pPr>
            <a:r>
              <a:rPr lang="en-US" sz="1700" b="1" dirty="0">
                <a:solidFill>
                  <a:srgbClr val="0F172A"/>
                </a:solidFill>
                <a:latin typeface="Calibri" pitchFamily="34" charset="0"/>
                <a:ea typeface="Calibri" pitchFamily="34" charset="-122"/>
                <a:cs typeface="Calibri" pitchFamily="34" charset="-120"/>
              </a:rPr>
              <a:t>Is it fake?</a:t>
            </a:r>
            <a:endParaRPr lang="en-US" sz="1700" dirty="0"/>
          </a:p>
        </p:txBody>
      </p:sp>
      <p:sp>
        <p:nvSpPr>
          <p:cNvPr id="7" name="Text 4"/>
          <p:cNvSpPr txBox="1"/>
          <p:nvPr/>
        </p:nvSpPr>
        <p:spPr>
          <a:xfrm>
            <a:off x="685800" y="2834640"/>
            <a:ext cx="1810512" cy="731520"/>
          </a:xfrm>
          <a:prstGeom prst="rect">
            <a:avLst/>
          </a:prstGeom>
          <a:noFill/>
          <a:ln/>
        </p:spPr>
        <p:txBody>
          <a:bodyPr wrap="square" lIns="0" tIns="0" rIns="0" bIns="0" rtlCol="0" anchor="t"/>
          <a:lstStyle/>
          <a:p>
            <a:pPr algn="ctr" indent="0" marL="0">
              <a:buNone/>
            </a:pPr>
            <a:r>
              <a:rPr lang="en-US" sz="1400" dirty="0">
                <a:solidFill>
                  <a:srgbClr val="334155"/>
                </a:solidFill>
                <a:latin typeface="Calibri" pitchFamily="34" charset="0"/>
                <a:ea typeface="Calibri" pitchFamily="34" charset="-122"/>
                <a:cs typeface="Calibri" pitchFamily="34" charset="-120"/>
              </a:rPr>
              <a:t>Real voice or AI voice</a:t>
            </a:r>
            <a:endParaRPr lang="en-US" sz="1400" dirty="0"/>
          </a:p>
        </p:txBody>
      </p:sp>
      <p:sp>
        <p:nvSpPr>
          <p:cNvPr id="8" name="Shape 5"/>
          <p:cNvSpPr/>
          <p:nvPr/>
        </p:nvSpPr>
        <p:spPr>
          <a:xfrm>
            <a:off x="2816352" y="1325880"/>
            <a:ext cx="2084832" cy="2331720"/>
          </a:xfrm>
          <a:prstGeom prst="roundRect">
            <a:avLst>
              <a:gd name="adj" fmla="val 5263"/>
            </a:avLst>
          </a:prstGeom>
          <a:solidFill>
            <a:srgbClr val="F1F5F9"/>
          </a:solidFill>
          <a:ln/>
        </p:spPr>
      </p:sp>
      <p:sp>
        <p:nvSpPr>
          <p:cNvPr id="9" name="Shape 6"/>
          <p:cNvSpPr/>
          <p:nvPr/>
        </p:nvSpPr>
        <p:spPr>
          <a:xfrm>
            <a:off x="3493008" y="1554480"/>
            <a:ext cx="731520" cy="731520"/>
          </a:xfrm>
          <a:prstGeom prst="ellipse">
            <a:avLst/>
          </a:prstGeom>
          <a:solidFill>
            <a:srgbClr val="6366F1"/>
          </a:solidFill>
          <a:ln/>
        </p:spPr>
      </p:sp>
      <p:pic>
        <p:nvPicPr>
          <p:cNvPr id="10" name="Image 1" descr="preencoded.png">    </p:cNvPr>
          <p:cNvPicPr>
            <a:picLocks noChangeAspect="1"/>
          </p:cNvPicPr>
          <p:nvPr/>
        </p:nvPicPr>
        <p:blipFill>
          <a:blip r:embed="rId2"/>
          <a:stretch>
            <a:fillRect/>
          </a:stretch>
        </p:blipFill>
        <p:spPr>
          <a:xfrm>
            <a:off x="3668573" y="1730045"/>
            <a:ext cx="380390" cy="380390"/>
          </a:xfrm>
          <a:prstGeom prst="rect">
            <a:avLst/>
          </a:prstGeom>
        </p:spPr>
      </p:pic>
      <p:sp>
        <p:nvSpPr>
          <p:cNvPr id="11" name="Text 7"/>
          <p:cNvSpPr txBox="1"/>
          <p:nvPr/>
        </p:nvSpPr>
        <p:spPr>
          <a:xfrm>
            <a:off x="2953512" y="2423160"/>
            <a:ext cx="1810512" cy="411480"/>
          </a:xfrm>
          <a:prstGeom prst="rect">
            <a:avLst/>
          </a:prstGeom>
          <a:noFill/>
          <a:ln/>
        </p:spPr>
        <p:txBody>
          <a:bodyPr wrap="square" lIns="0" tIns="0" rIns="0" bIns="0" rtlCol="0" anchor="t"/>
          <a:lstStyle/>
          <a:p>
            <a:pPr algn="ctr" indent="0" marL="0">
              <a:buNone/>
            </a:pPr>
            <a:r>
              <a:rPr lang="en-US" sz="1700" b="1" dirty="0">
                <a:solidFill>
                  <a:srgbClr val="0F172A"/>
                </a:solidFill>
                <a:latin typeface="Calibri" pitchFamily="34" charset="0"/>
                <a:ea typeface="Calibri" pitchFamily="34" charset="-122"/>
                <a:cs typeface="Calibri" pitchFamily="34" charset="-120"/>
              </a:rPr>
              <a:t>What kind of fake?</a:t>
            </a:r>
            <a:endParaRPr lang="en-US" sz="1700" dirty="0"/>
          </a:p>
        </p:txBody>
      </p:sp>
      <p:sp>
        <p:nvSpPr>
          <p:cNvPr id="12" name="Text 8"/>
          <p:cNvSpPr txBox="1"/>
          <p:nvPr/>
        </p:nvSpPr>
        <p:spPr>
          <a:xfrm>
            <a:off x="2953512" y="2834640"/>
            <a:ext cx="1810512" cy="731520"/>
          </a:xfrm>
          <a:prstGeom prst="rect">
            <a:avLst/>
          </a:prstGeom>
          <a:noFill/>
          <a:ln/>
        </p:spPr>
        <p:txBody>
          <a:bodyPr wrap="square" lIns="0" tIns="0" rIns="0" bIns="0" rtlCol="0" anchor="t"/>
          <a:lstStyle/>
          <a:p>
            <a:pPr algn="ctr" indent="0" marL="0">
              <a:buNone/>
            </a:pPr>
            <a:r>
              <a:rPr lang="en-US" sz="1400" dirty="0">
                <a:solidFill>
                  <a:srgbClr val="334155"/>
                </a:solidFill>
                <a:latin typeface="Calibri" pitchFamily="34" charset="0"/>
                <a:ea typeface="Calibri" pitchFamily="34" charset="-122"/>
                <a:cs typeface="Calibri" pitchFamily="34" charset="-120"/>
              </a:rPr>
              <a:t>Which family of AI tool made it</a:t>
            </a:r>
            <a:endParaRPr lang="en-US" sz="1400" dirty="0"/>
          </a:p>
        </p:txBody>
      </p:sp>
      <p:sp>
        <p:nvSpPr>
          <p:cNvPr id="13" name="Shape 9"/>
          <p:cNvSpPr/>
          <p:nvPr/>
        </p:nvSpPr>
        <p:spPr>
          <a:xfrm>
            <a:off x="5084064" y="1325880"/>
            <a:ext cx="2084832" cy="2331720"/>
          </a:xfrm>
          <a:prstGeom prst="roundRect">
            <a:avLst>
              <a:gd name="adj" fmla="val 5263"/>
            </a:avLst>
          </a:prstGeom>
          <a:solidFill>
            <a:srgbClr val="F1F5F9"/>
          </a:solidFill>
          <a:ln/>
        </p:spPr>
      </p:sp>
      <p:sp>
        <p:nvSpPr>
          <p:cNvPr id="14" name="Shape 10"/>
          <p:cNvSpPr/>
          <p:nvPr/>
        </p:nvSpPr>
        <p:spPr>
          <a:xfrm>
            <a:off x="5760720" y="1554480"/>
            <a:ext cx="731520" cy="731520"/>
          </a:xfrm>
          <a:prstGeom prst="ellipse">
            <a:avLst/>
          </a:prstGeom>
          <a:solidFill>
            <a:srgbClr val="6366F1"/>
          </a:solidFill>
          <a:ln/>
        </p:spPr>
      </p:sp>
      <p:pic>
        <p:nvPicPr>
          <p:cNvPr id="15" name="Image 2" descr="preencoded.png">    </p:cNvPr>
          <p:cNvPicPr>
            <a:picLocks noChangeAspect="1"/>
          </p:cNvPicPr>
          <p:nvPr/>
        </p:nvPicPr>
        <p:blipFill>
          <a:blip r:embed="rId3"/>
          <a:stretch>
            <a:fillRect/>
          </a:stretch>
        </p:blipFill>
        <p:spPr>
          <a:xfrm>
            <a:off x="5936285" y="1730045"/>
            <a:ext cx="380390" cy="380390"/>
          </a:xfrm>
          <a:prstGeom prst="rect">
            <a:avLst/>
          </a:prstGeom>
        </p:spPr>
      </p:pic>
      <p:sp>
        <p:nvSpPr>
          <p:cNvPr id="16" name="Text 11"/>
          <p:cNvSpPr txBox="1"/>
          <p:nvPr/>
        </p:nvSpPr>
        <p:spPr>
          <a:xfrm>
            <a:off x="5221224" y="2423160"/>
            <a:ext cx="1810512" cy="411480"/>
          </a:xfrm>
          <a:prstGeom prst="rect">
            <a:avLst/>
          </a:prstGeom>
          <a:noFill/>
          <a:ln/>
        </p:spPr>
        <p:txBody>
          <a:bodyPr wrap="square" lIns="0" tIns="0" rIns="0" bIns="0" rtlCol="0" anchor="t"/>
          <a:lstStyle/>
          <a:p>
            <a:pPr algn="ctr" indent="0" marL="0">
              <a:buNone/>
            </a:pPr>
            <a:r>
              <a:rPr lang="en-US" sz="1700" b="1" dirty="0">
                <a:solidFill>
                  <a:srgbClr val="0F172A"/>
                </a:solidFill>
                <a:latin typeface="Calibri" pitchFamily="34" charset="0"/>
                <a:ea typeface="Calibri" pitchFamily="34" charset="-122"/>
                <a:cs typeface="Calibri" pitchFamily="34" charset="-120"/>
              </a:rPr>
              <a:t>How sure are we?</a:t>
            </a:r>
            <a:endParaRPr lang="en-US" sz="1700" dirty="0"/>
          </a:p>
        </p:txBody>
      </p:sp>
      <p:sp>
        <p:nvSpPr>
          <p:cNvPr id="17" name="Text 12"/>
          <p:cNvSpPr txBox="1"/>
          <p:nvPr/>
        </p:nvSpPr>
        <p:spPr>
          <a:xfrm>
            <a:off x="5221224" y="2834640"/>
            <a:ext cx="1810512" cy="731520"/>
          </a:xfrm>
          <a:prstGeom prst="rect">
            <a:avLst/>
          </a:prstGeom>
          <a:noFill/>
          <a:ln/>
        </p:spPr>
        <p:txBody>
          <a:bodyPr wrap="square" lIns="0" tIns="0" rIns="0" bIns="0" rtlCol="0" anchor="t"/>
          <a:lstStyle/>
          <a:p>
            <a:pPr algn="ctr" indent="0" marL="0">
              <a:buNone/>
            </a:pPr>
            <a:r>
              <a:rPr lang="en-US" sz="1400" dirty="0">
                <a:solidFill>
                  <a:srgbClr val="334155"/>
                </a:solidFill>
                <a:latin typeface="Calibri" pitchFamily="34" charset="0"/>
                <a:ea typeface="Calibri" pitchFamily="34" charset="-122"/>
                <a:cs typeface="Calibri" pitchFamily="34" charset="-120"/>
              </a:rPr>
              <a:t>Confidence in its own answer</a:t>
            </a:r>
            <a:endParaRPr lang="en-US" sz="1400" dirty="0"/>
          </a:p>
        </p:txBody>
      </p:sp>
      <p:sp>
        <p:nvSpPr>
          <p:cNvPr id="18" name="Shape 13"/>
          <p:cNvSpPr/>
          <p:nvPr/>
        </p:nvSpPr>
        <p:spPr>
          <a:xfrm>
            <a:off x="7351776" y="1325880"/>
            <a:ext cx="2084832" cy="2331720"/>
          </a:xfrm>
          <a:prstGeom prst="roundRect">
            <a:avLst>
              <a:gd name="adj" fmla="val 5263"/>
            </a:avLst>
          </a:prstGeom>
          <a:solidFill>
            <a:srgbClr val="F1F5F9"/>
          </a:solidFill>
          <a:ln/>
        </p:spPr>
      </p:sp>
      <p:sp>
        <p:nvSpPr>
          <p:cNvPr id="19" name="Shape 14"/>
          <p:cNvSpPr/>
          <p:nvPr/>
        </p:nvSpPr>
        <p:spPr>
          <a:xfrm>
            <a:off x="8028432" y="1554480"/>
            <a:ext cx="731520" cy="731520"/>
          </a:xfrm>
          <a:prstGeom prst="ellipse">
            <a:avLst/>
          </a:prstGeom>
          <a:solidFill>
            <a:srgbClr val="6366F1"/>
          </a:solidFill>
          <a:ln/>
        </p:spPr>
      </p:sp>
      <p:pic>
        <p:nvPicPr>
          <p:cNvPr id="20" name="Image 3" descr="preencoded.png">    </p:cNvPr>
          <p:cNvPicPr>
            <a:picLocks noChangeAspect="1"/>
          </p:cNvPicPr>
          <p:nvPr/>
        </p:nvPicPr>
        <p:blipFill>
          <a:blip r:embed="rId4"/>
          <a:stretch>
            <a:fillRect/>
          </a:stretch>
        </p:blipFill>
        <p:spPr>
          <a:xfrm>
            <a:off x="8203997" y="1730045"/>
            <a:ext cx="380390" cy="380390"/>
          </a:xfrm>
          <a:prstGeom prst="rect">
            <a:avLst/>
          </a:prstGeom>
        </p:spPr>
      </p:pic>
      <p:sp>
        <p:nvSpPr>
          <p:cNvPr id="21" name="Text 15"/>
          <p:cNvSpPr txBox="1"/>
          <p:nvPr/>
        </p:nvSpPr>
        <p:spPr>
          <a:xfrm>
            <a:off x="7488936" y="2423160"/>
            <a:ext cx="1810512" cy="411480"/>
          </a:xfrm>
          <a:prstGeom prst="rect">
            <a:avLst/>
          </a:prstGeom>
          <a:noFill/>
          <a:ln/>
        </p:spPr>
        <p:txBody>
          <a:bodyPr wrap="square" lIns="0" tIns="0" rIns="0" bIns="0" rtlCol="0" anchor="t"/>
          <a:lstStyle/>
          <a:p>
            <a:pPr algn="ctr" indent="0" marL="0">
              <a:buNone/>
            </a:pPr>
            <a:r>
              <a:rPr lang="en-US" sz="1700" b="1" dirty="0">
                <a:solidFill>
                  <a:srgbClr val="0F172A"/>
                </a:solidFill>
                <a:latin typeface="Calibri" pitchFamily="34" charset="0"/>
                <a:ea typeface="Calibri" pitchFamily="34" charset="-122"/>
                <a:cs typeface="Calibri" pitchFamily="34" charset="-120"/>
              </a:rPr>
              <a:t>Seen it before?</a:t>
            </a:r>
            <a:endParaRPr lang="en-US" sz="1700" dirty="0"/>
          </a:p>
        </p:txBody>
      </p:sp>
      <p:sp>
        <p:nvSpPr>
          <p:cNvPr id="22" name="Text 16"/>
          <p:cNvSpPr txBox="1"/>
          <p:nvPr/>
        </p:nvSpPr>
        <p:spPr>
          <a:xfrm>
            <a:off x="7488936" y="2834640"/>
            <a:ext cx="1810512" cy="731520"/>
          </a:xfrm>
          <a:prstGeom prst="rect">
            <a:avLst/>
          </a:prstGeom>
          <a:noFill/>
          <a:ln/>
        </p:spPr>
        <p:txBody>
          <a:bodyPr wrap="square" lIns="0" tIns="0" rIns="0" bIns="0" rtlCol="0" anchor="t"/>
          <a:lstStyle/>
          <a:p>
            <a:pPr algn="ctr" indent="0" marL="0">
              <a:buNone/>
            </a:pPr>
            <a:r>
              <a:rPr lang="en-US" sz="1400" dirty="0">
                <a:solidFill>
                  <a:srgbClr val="334155"/>
                </a:solidFill>
                <a:latin typeface="Calibri" pitchFamily="34" charset="0"/>
                <a:ea typeface="Calibri" pitchFamily="34" charset="-122"/>
                <a:cs typeface="Calibri" pitchFamily="34" charset="-120"/>
              </a:rPr>
              <a:t>Is this unlike anything it knows</a:t>
            </a:r>
            <a:endParaRPr lang="en-US" sz="1400" dirty="0"/>
          </a:p>
        </p:txBody>
      </p:sp>
      <p:sp>
        <p:nvSpPr>
          <p:cNvPr id="23" name="Shape 17"/>
          <p:cNvSpPr/>
          <p:nvPr/>
        </p:nvSpPr>
        <p:spPr>
          <a:xfrm>
            <a:off x="9619488" y="1325880"/>
            <a:ext cx="2084832" cy="2331720"/>
          </a:xfrm>
          <a:prstGeom prst="roundRect">
            <a:avLst>
              <a:gd name="adj" fmla="val 5263"/>
            </a:avLst>
          </a:prstGeom>
          <a:solidFill>
            <a:srgbClr val="F1F5F9"/>
          </a:solidFill>
          <a:ln/>
        </p:spPr>
      </p:sp>
      <p:sp>
        <p:nvSpPr>
          <p:cNvPr id="24" name="Shape 18"/>
          <p:cNvSpPr/>
          <p:nvPr/>
        </p:nvSpPr>
        <p:spPr>
          <a:xfrm>
            <a:off x="10296144" y="1554480"/>
            <a:ext cx="731520" cy="731520"/>
          </a:xfrm>
          <a:prstGeom prst="ellipse">
            <a:avLst/>
          </a:prstGeom>
          <a:solidFill>
            <a:srgbClr val="6366F1"/>
          </a:solidFill>
          <a:ln/>
        </p:spPr>
      </p:sp>
      <p:pic>
        <p:nvPicPr>
          <p:cNvPr id="25" name="Image 4" descr="preencoded.png">    </p:cNvPr>
          <p:cNvPicPr>
            <a:picLocks noChangeAspect="1"/>
          </p:cNvPicPr>
          <p:nvPr/>
        </p:nvPicPr>
        <p:blipFill>
          <a:blip r:embed="rId5"/>
          <a:stretch>
            <a:fillRect/>
          </a:stretch>
        </p:blipFill>
        <p:spPr>
          <a:xfrm>
            <a:off x="10471709" y="1730045"/>
            <a:ext cx="380390" cy="380390"/>
          </a:xfrm>
          <a:prstGeom prst="rect">
            <a:avLst/>
          </a:prstGeom>
        </p:spPr>
      </p:pic>
      <p:sp>
        <p:nvSpPr>
          <p:cNvPr id="26" name="Text 19"/>
          <p:cNvSpPr txBox="1"/>
          <p:nvPr/>
        </p:nvSpPr>
        <p:spPr>
          <a:xfrm>
            <a:off x="9756648" y="2423160"/>
            <a:ext cx="1810512" cy="411480"/>
          </a:xfrm>
          <a:prstGeom prst="rect">
            <a:avLst/>
          </a:prstGeom>
          <a:noFill/>
          <a:ln/>
        </p:spPr>
        <p:txBody>
          <a:bodyPr wrap="square" lIns="0" tIns="0" rIns="0" bIns="0" rtlCol="0" anchor="t"/>
          <a:lstStyle/>
          <a:p>
            <a:pPr algn="ctr" indent="0" marL="0">
              <a:buNone/>
            </a:pPr>
            <a:r>
              <a:rPr lang="en-US" sz="1700" b="1" dirty="0">
                <a:solidFill>
                  <a:srgbClr val="0F172A"/>
                </a:solidFill>
                <a:latin typeface="Calibri" pitchFamily="34" charset="0"/>
                <a:ea typeface="Calibri" pitchFamily="34" charset="-122"/>
                <a:cs typeface="Calibri" pitchFamily="34" charset="-120"/>
              </a:rPr>
              <a:t>Why?</a:t>
            </a:r>
            <a:endParaRPr lang="en-US" sz="1700" dirty="0"/>
          </a:p>
        </p:txBody>
      </p:sp>
      <p:sp>
        <p:nvSpPr>
          <p:cNvPr id="27" name="Text 20"/>
          <p:cNvSpPr txBox="1"/>
          <p:nvPr/>
        </p:nvSpPr>
        <p:spPr>
          <a:xfrm>
            <a:off x="9756648" y="2834640"/>
            <a:ext cx="1810512" cy="731520"/>
          </a:xfrm>
          <a:prstGeom prst="rect">
            <a:avLst/>
          </a:prstGeom>
          <a:noFill/>
          <a:ln/>
        </p:spPr>
        <p:txBody>
          <a:bodyPr wrap="square" lIns="0" tIns="0" rIns="0" bIns="0" rtlCol="0" anchor="t"/>
          <a:lstStyle/>
          <a:p>
            <a:pPr algn="ctr" indent="0" marL="0">
              <a:buNone/>
            </a:pPr>
            <a:r>
              <a:rPr lang="en-US" sz="1400" dirty="0">
                <a:solidFill>
                  <a:srgbClr val="334155"/>
                </a:solidFill>
                <a:latin typeface="Calibri" pitchFamily="34" charset="0"/>
                <a:ea typeface="Calibri" pitchFamily="34" charset="-122"/>
                <a:cs typeface="Calibri" pitchFamily="34" charset="-120"/>
              </a:rPr>
              <a:t>A plain-English reason</a:t>
            </a:r>
            <a:endParaRPr lang="en-US" sz="1400" dirty="0"/>
          </a:p>
        </p:txBody>
      </p:sp>
      <p:sp>
        <p:nvSpPr>
          <p:cNvPr id="28" name="Text 21"/>
          <p:cNvSpPr txBox="1"/>
          <p:nvPr/>
        </p:nvSpPr>
        <p:spPr>
          <a:xfrm>
            <a:off x="548640" y="3931920"/>
            <a:ext cx="1097280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…and then makes one of three decisions:</a:t>
            </a:r>
            <a:endParaRPr lang="en-US" sz="1800" dirty="0"/>
          </a:p>
        </p:txBody>
      </p:sp>
      <p:sp>
        <p:nvSpPr>
          <p:cNvPr id="29" name="Shape 22"/>
          <p:cNvSpPr/>
          <p:nvPr/>
        </p:nvSpPr>
        <p:spPr>
          <a:xfrm>
            <a:off x="548640" y="4480560"/>
            <a:ext cx="3611880" cy="1554480"/>
          </a:xfrm>
          <a:prstGeom prst="roundRect">
            <a:avLst>
              <a:gd name="adj" fmla="val 7059"/>
            </a:avLst>
          </a:prstGeom>
          <a:solidFill>
            <a:srgbClr val="FFFFFF"/>
          </a:solidFill>
          <a:ln w="25400">
            <a:solidFill>
              <a:srgbClr val="10B981"/>
            </a:solidFill>
            <a:prstDash val="solid"/>
          </a:ln>
        </p:spPr>
      </p:sp>
      <p:sp>
        <p:nvSpPr>
          <p:cNvPr id="30" name="Shape 23"/>
          <p:cNvSpPr/>
          <p:nvPr/>
        </p:nvSpPr>
        <p:spPr>
          <a:xfrm>
            <a:off x="777240" y="4846320"/>
            <a:ext cx="822960" cy="822960"/>
          </a:xfrm>
          <a:prstGeom prst="ellipse">
            <a:avLst/>
          </a:prstGeom>
          <a:solidFill>
            <a:srgbClr val="10B981"/>
          </a:solidFill>
          <a:ln/>
        </p:spPr>
      </p:sp>
      <p:pic>
        <p:nvPicPr>
          <p:cNvPr id="31" name="Image 5" descr="preencoded.png">    </p:cNvPr>
          <p:cNvPicPr>
            <a:picLocks noChangeAspect="1"/>
          </p:cNvPicPr>
          <p:nvPr/>
        </p:nvPicPr>
        <p:blipFill>
          <a:blip r:embed="rId6"/>
          <a:stretch>
            <a:fillRect/>
          </a:stretch>
        </p:blipFill>
        <p:spPr>
          <a:xfrm>
            <a:off x="974750" y="5043830"/>
            <a:ext cx="427939" cy="427939"/>
          </a:xfrm>
          <a:prstGeom prst="rect">
            <a:avLst/>
          </a:prstGeom>
        </p:spPr>
      </p:pic>
      <p:sp>
        <p:nvSpPr>
          <p:cNvPr id="32" name="Text 24"/>
          <p:cNvSpPr txBox="1"/>
          <p:nvPr/>
        </p:nvSpPr>
        <p:spPr>
          <a:xfrm>
            <a:off x="1783080" y="4800600"/>
            <a:ext cx="2240280" cy="411480"/>
          </a:xfrm>
          <a:prstGeom prst="rect">
            <a:avLst/>
          </a:prstGeom>
          <a:noFill/>
          <a:ln/>
        </p:spPr>
        <p:txBody>
          <a:bodyPr wrap="square" lIns="0" tIns="0" rIns="0" bIns="0" rtlCol="0" anchor="t"/>
          <a:lstStyle/>
          <a:p>
            <a:pPr indent="0" marL="0">
              <a:buNone/>
            </a:pPr>
            <a:r>
              <a:rPr lang="en-US" sz="2000" b="1" dirty="0">
                <a:solidFill>
                  <a:srgbClr val="10B981"/>
                </a:solidFill>
                <a:latin typeface="Calibri" pitchFamily="34" charset="0"/>
                <a:ea typeface="Calibri" pitchFamily="34" charset="-122"/>
                <a:cs typeface="Calibri" pitchFamily="34" charset="-120"/>
              </a:rPr>
              <a:t>Pass</a:t>
            </a:r>
            <a:endParaRPr lang="en-US" sz="2000" dirty="0"/>
          </a:p>
        </p:txBody>
      </p:sp>
      <p:sp>
        <p:nvSpPr>
          <p:cNvPr id="33" name="Text 25"/>
          <p:cNvSpPr txBox="1"/>
          <p:nvPr/>
        </p:nvSpPr>
        <p:spPr>
          <a:xfrm>
            <a:off x="1783080" y="5230368"/>
            <a:ext cx="2240280" cy="68580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Clearly a real voice: no action needed</a:t>
            </a:r>
            <a:endParaRPr lang="en-US" sz="1400" dirty="0"/>
          </a:p>
        </p:txBody>
      </p:sp>
      <p:sp>
        <p:nvSpPr>
          <p:cNvPr id="34" name="Shape 26"/>
          <p:cNvSpPr/>
          <p:nvPr/>
        </p:nvSpPr>
        <p:spPr>
          <a:xfrm>
            <a:off x="4343400" y="4480560"/>
            <a:ext cx="3611880" cy="1554480"/>
          </a:xfrm>
          <a:prstGeom prst="roundRect">
            <a:avLst>
              <a:gd name="adj" fmla="val 7059"/>
            </a:avLst>
          </a:prstGeom>
          <a:solidFill>
            <a:srgbClr val="FFFFFF"/>
          </a:solidFill>
          <a:ln w="25400">
            <a:solidFill>
              <a:srgbClr val="F59E0B"/>
            </a:solidFill>
            <a:prstDash val="solid"/>
          </a:ln>
        </p:spPr>
      </p:sp>
      <p:sp>
        <p:nvSpPr>
          <p:cNvPr id="35" name="Shape 27"/>
          <p:cNvSpPr/>
          <p:nvPr/>
        </p:nvSpPr>
        <p:spPr>
          <a:xfrm>
            <a:off x="4572000" y="4846320"/>
            <a:ext cx="822960" cy="822960"/>
          </a:xfrm>
          <a:prstGeom prst="ellipse">
            <a:avLst/>
          </a:prstGeom>
          <a:solidFill>
            <a:srgbClr val="F59E0B"/>
          </a:solidFill>
          <a:ln/>
        </p:spPr>
      </p:sp>
      <p:pic>
        <p:nvPicPr>
          <p:cNvPr id="36" name="Image 6" descr="preencoded.png">    </p:cNvPr>
          <p:cNvPicPr>
            <a:picLocks noChangeAspect="1"/>
          </p:cNvPicPr>
          <p:nvPr/>
        </p:nvPicPr>
        <p:blipFill>
          <a:blip r:embed="rId7"/>
          <a:stretch>
            <a:fillRect/>
          </a:stretch>
        </p:blipFill>
        <p:spPr>
          <a:xfrm>
            <a:off x="4769510" y="5043830"/>
            <a:ext cx="427939" cy="427939"/>
          </a:xfrm>
          <a:prstGeom prst="rect">
            <a:avLst/>
          </a:prstGeom>
        </p:spPr>
      </p:pic>
      <p:sp>
        <p:nvSpPr>
          <p:cNvPr id="37" name="Text 28"/>
          <p:cNvSpPr txBox="1"/>
          <p:nvPr/>
        </p:nvSpPr>
        <p:spPr>
          <a:xfrm>
            <a:off x="5577840" y="4800600"/>
            <a:ext cx="2240280" cy="411480"/>
          </a:xfrm>
          <a:prstGeom prst="rect">
            <a:avLst/>
          </a:prstGeom>
          <a:noFill/>
          <a:ln/>
        </p:spPr>
        <p:txBody>
          <a:bodyPr wrap="square" lIns="0" tIns="0" rIns="0" bIns="0" rtlCol="0" anchor="t"/>
          <a:lstStyle/>
          <a:p>
            <a:pPr indent="0" marL="0">
              <a:buNone/>
            </a:pPr>
            <a:r>
              <a:rPr lang="en-US" sz="2000" b="1" dirty="0">
                <a:solidFill>
                  <a:srgbClr val="F59E0B"/>
                </a:solidFill>
                <a:latin typeface="Calibri" pitchFamily="34" charset="0"/>
                <a:ea typeface="Calibri" pitchFamily="34" charset="-122"/>
                <a:cs typeface="Calibri" pitchFamily="34" charset="-120"/>
              </a:rPr>
              <a:t>Human review</a:t>
            </a:r>
            <a:endParaRPr lang="en-US" sz="2000" dirty="0"/>
          </a:p>
        </p:txBody>
      </p:sp>
      <p:sp>
        <p:nvSpPr>
          <p:cNvPr id="38" name="Text 29"/>
          <p:cNvSpPr txBox="1"/>
          <p:nvPr/>
        </p:nvSpPr>
        <p:spPr>
          <a:xfrm>
            <a:off x="5577840" y="5230368"/>
            <a:ext cx="2240280" cy="68580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Unsure or unfamiliar: a person checks it</a:t>
            </a:r>
            <a:endParaRPr lang="en-US" sz="1400" dirty="0"/>
          </a:p>
        </p:txBody>
      </p:sp>
      <p:sp>
        <p:nvSpPr>
          <p:cNvPr id="39" name="Shape 30"/>
          <p:cNvSpPr/>
          <p:nvPr/>
        </p:nvSpPr>
        <p:spPr>
          <a:xfrm>
            <a:off x="8138160" y="4480560"/>
            <a:ext cx="3611880" cy="1554480"/>
          </a:xfrm>
          <a:prstGeom prst="roundRect">
            <a:avLst>
              <a:gd name="adj" fmla="val 7059"/>
            </a:avLst>
          </a:prstGeom>
          <a:solidFill>
            <a:srgbClr val="FFFFFF"/>
          </a:solidFill>
          <a:ln w="25400">
            <a:solidFill>
              <a:srgbClr val="E5484D"/>
            </a:solidFill>
            <a:prstDash val="solid"/>
          </a:ln>
        </p:spPr>
      </p:sp>
      <p:sp>
        <p:nvSpPr>
          <p:cNvPr id="40" name="Shape 31"/>
          <p:cNvSpPr/>
          <p:nvPr/>
        </p:nvSpPr>
        <p:spPr>
          <a:xfrm>
            <a:off x="8366760" y="4846320"/>
            <a:ext cx="822960" cy="822960"/>
          </a:xfrm>
          <a:prstGeom prst="ellipse">
            <a:avLst/>
          </a:prstGeom>
          <a:solidFill>
            <a:srgbClr val="E5484D"/>
          </a:solidFill>
          <a:ln/>
        </p:spPr>
      </p:sp>
      <p:pic>
        <p:nvPicPr>
          <p:cNvPr id="41" name="Image 7" descr="preencoded.png">    </p:cNvPr>
          <p:cNvPicPr>
            <a:picLocks noChangeAspect="1"/>
          </p:cNvPicPr>
          <p:nvPr/>
        </p:nvPicPr>
        <p:blipFill>
          <a:blip r:embed="rId8"/>
          <a:stretch>
            <a:fillRect/>
          </a:stretch>
        </p:blipFill>
        <p:spPr>
          <a:xfrm>
            <a:off x="8564270" y="5043830"/>
            <a:ext cx="427939" cy="427939"/>
          </a:xfrm>
          <a:prstGeom prst="rect">
            <a:avLst/>
          </a:prstGeom>
        </p:spPr>
      </p:pic>
      <p:sp>
        <p:nvSpPr>
          <p:cNvPr id="42" name="Text 32"/>
          <p:cNvSpPr txBox="1"/>
          <p:nvPr/>
        </p:nvSpPr>
        <p:spPr>
          <a:xfrm>
            <a:off x="9372600" y="4800600"/>
            <a:ext cx="2240280" cy="411480"/>
          </a:xfrm>
          <a:prstGeom prst="rect">
            <a:avLst/>
          </a:prstGeom>
          <a:noFill/>
          <a:ln/>
        </p:spPr>
        <p:txBody>
          <a:bodyPr wrap="square" lIns="0" tIns="0" rIns="0" bIns="0" rtlCol="0" anchor="t"/>
          <a:lstStyle/>
          <a:p>
            <a:pPr indent="0" marL="0">
              <a:buNone/>
            </a:pPr>
            <a:r>
              <a:rPr lang="en-US" sz="2000" b="1" dirty="0">
                <a:solidFill>
                  <a:srgbClr val="E5484D"/>
                </a:solidFill>
                <a:latin typeface="Calibri" pitchFamily="34" charset="0"/>
                <a:ea typeface="Calibri" pitchFamily="34" charset="-122"/>
                <a:cs typeface="Calibri" pitchFamily="34" charset="-120"/>
              </a:rPr>
              <a:t>Block</a:t>
            </a:r>
            <a:endParaRPr lang="en-US" sz="2000" dirty="0"/>
          </a:p>
        </p:txBody>
      </p:sp>
      <p:sp>
        <p:nvSpPr>
          <p:cNvPr id="43" name="Text 33"/>
          <p:cNvSpPr txBox="1"/>
          <p:nvPr/>
        </p:nvSpPr>
        <p:spPr>
          <a:xfrm>
            <a:off x="9372600" y="5230368"/>
            <a:ext cx="2240280" cy="68580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Clearly AI-generated: stop it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What you will see in the live demo</a:t>
            </a:r>
            <a:endParaRPr lang="en-US" sz="3200" dirty="0"/>
          </a:p>
        </p:txBody>
      </p:sp>
      <p:sp>
        <p:nvSpPr>
          <p:cNvPr id="3" name="Shape 1"/>
          <p:cNvSpPr/>
          <p:nvPr/>
        </p:nvSpPr>
        <p:spPr>
          <a:xfrm>
            <a:off x="548640" y="1280160"/>
            <a:ext cx="7223760" cy="4800600"/>
          </a:xfrm>
          <a:prstGeom prst="roundRect">
            <a:avLst>
              <a:gd name="adj" fmla="val 2286"/>
            </a:avLst>
          </a:prstGeom>
          <a:solidFill>
            <a:srgbClr val="0F172A"/>
          </a:solidFill>
          <a:ln/>
        </p:spPr>
      </p:sp>
      <p:pic>
        <p:nvPicPr>
          <p:cNvPr id="4" name="Image 0" descr="D:\Claude\deepshield-package\deliverables\_work\screens\landing_hero.png">    </p:cNvPr>
          <p:cNvPicPr>
            <a:picLocks noChangeAspect="1"/>
          </p:cNvPicPr>
          <p:nvPr/>
        </p:nvPicPr>
        <p:blipFill>
          <a:blip r:embed="rId1"/>
          <a:stretch>
            <a:fillRect/>
          </a:stretch>
        </p:blipFill>
        <p:spPr>
          <a:xfrm>
            <a:off x="685800" y="1508760"/>
            <a:ext cx="6949440" cy="4343400"/>
          </a:xfrm>
          <a:prstGeom prst="rect">
            <a:avLst/>
          </a:prstGeom>
        </p:spPr>
      </p:pic>
      <p:sp>
        <p:nvSpPr>
          <p:cNvPr id="5" name="Shape 2"/>
          <p:cNvSpPr/>
          <p:nvPr/>
        </p:nvSpPr>
        <p:spPr>
          <a:xfrm>
            <a:off x="8183880" y="1463040"/>
            <a:ext cx="548640" cy="548640"/>
          </a:xfrm>
          <a:prstGeom prst="ellipse">
            <a:avLst/>
          </a:prstGeom>
          <a:solidFill>
            <a:srgbClr val="0D9488"/>
          </a:solidFill>
          <a:ln/>
        </p:spPr>
      </p:sp>
      <p:sp>
        <p:nvSpPr>
          <p:cNvPr id="6" name="Text 3"/>
          <p:cNvSpPr txBox="1"/>
          <p:nvPr/>
        </p:nvSpPr>
        <p:spPr>
          <a:xfrm>
            <a:off x="8183880" y="1463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8915400" y="1444752"/>
            <a:ext cx="2743200" cy="1188720"/>
          </a:xfrm>
          <a:prstGeom prst="rect">
            <a:avLst/>
          </a:prstGeom>
          <a:noFill/>
          <a:ln/>
        </p:spPr>
        <p:txBody>
          <a:bodyPr wrap="square" lIns="0" tIns="0" rIns="0" bIns="0" rtlCol="0" anchor="t"/>
          <a:lstStyle/>
          <a:p>
            <a:pPr indent="0" marL="0">
              <a:buNone/>
            </a:pPr>
            <a:r>
              <a:rPr lang="en-US" sz="1600" dirty="0">
                <a:solidFill>
                  <a:srgbClr val="0F172A"/>
                </a:solidFill>
                <a:latin typeface="Calibri" pitchFamily="34" charset="0"/>
                <a:ea typeface="Calibri" pitchFamily="34" charset="-122"/>
                <a:cs typeface="Calibri" pitchFamily="34" charset="-120"/>
              </a:rPr>
              <a:t>Runs entirely on this laptop: no internet needed, no audio stored</a:t>
            </a:r>
            <a:endParaRPr lang="en-US" sz="1600" dirty="0"/>
          </a:p>
        </p:txBody>
      </p:sp>
      <p:sp>
        <p:nvSpPr>
          <p:cNvPr id="8" name="Shape 5"/>
          <p:cNvSpPr/>
          <p:nvPr/>
        </p:nvSpPr>
        <p:spPr>
          <a:xfrm>
            <a:off x="8183880" y="2926080"/>
            <a:ext cx="548640" cy="548640"/>
          </a:xfrm>
          <a:prstGeom prst="ellipse">
            <a:avLst/>
          </a:prstGeom>
          <a:solidFill>
            <a:srgbClr val="0D9488"/>
          </a:solidFill>
          <a:ln/>
        </p:spPr>
      </p:sp>
      <p:sp>
        <p:nvSpPr>
          <p:cNvPr id="9" name="Text 6"/>
          <p:cNvSpPr txBox="1"/>
          <p:nvPr/>
        </p:nvSpPr>
        <p:spPr>
          <a:xfrm>
            <a:off x="8183880" y="2926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8915400" y="2907792"/>
            <a:ext cx="2743200" cy="1188720"/>
          </a:xfrm>
          <a:prstGeom prst="rect">
            <a:avLst/>
          </a:prstGeom>
          <a:noFill/>
          <a:ln/>
        </p:spPr>
        <p:txBody>
          <a:bodyPr wrap="square" lIns="0" tIns="0" rIns="0" bIns="0" rtlCol="0" anchor="t"/>
          <a:lstStyle/>
          <a:p>
            <a:pPr indent="0" marL="0">
              <a:buNone/>
            </a:pPr>
            <a:r>
              <a:rPr lang="en-US" sz="1600" dirty="0">
                <a:solidFill>
                  <a:srgbClr val="0F172A"/>
                </a:solidFill>
                <a:latin typeface="Calibri" pitchFamily="34" charset="0"/>
                <a:ea typeface="Calibri" pitchFamily="34" charset="-122"/>
                <a:cs typeface="Calibri" pitchFamily="34" charset="-120"/>
              </a:rPr>
              <a:t>Upload a recording, or record from the microphone</a:t>
            </a:r>
            <a:endParaRPr lang="en-US" sz="1600" dirty="0"/>
          </a:p>
        </p:txBody>
      </p:sp>
      <p:sp>
        <p:nvSpPr>
          <p:cNvPr id="11" name="Shape 8"/>
          <p:cNvSpPr/>
          <p:nvPr/>
        </p:nvSpPr>
        <p:spPr>
          <a:xfrm>
            <a:off x="8183880" y="4389120"/>
            <a:ext cx="548640" cy="548640"/>
          </a:xfrm>
          <a:prstGeom prst="ellipse">
            <a:avLst/>
          </a:prstGeom>
          <a:solidFill>
            <a:srgbClr val="0D9488"/>
          </a:solidFill>
          <a:ln/>
        </p:spPr>
      </p:sp>
      <p:sp>
        <p:nvSpPr>
          <p:cNvPr id="12" name="Text 9"/>
          <p:cNvSpPr txBox="1"/>
          <p:nvPr/>
        </p:nvSpPr>
        <p:spPr>
          <a:xfrm>
            <a:off x="818388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8915400" y="4370832"/>
            <a:ext cx="2743200" cy="1188720"/>
          </a:xfrm>
          <a:prstGeom prst="rect">
            <a:avLst/>
          </a:prstGeom>
          <a:noFill/>
          <a:ln/>
        </p:spPr>
        <p:txBody>
          <a:bodyPr wrap="square" lIns="0" tIns="0" rIns="0" bIns="0" rtlCol="0" anchor="t"/>
          <a:lstStyle/>
          <a:p>
            <a:pPr indent="0" marL="0">
              <a:buNone/>
            </a:pPr>
            <a:r>
              <a:rPr lang="en-US" sz="1600" dirty="0">
                <a:solidFill>
                  <a:srgbClr val="0F172A"/>
                </a:solidFill>
                <a:latin typeface="Calibri" pitchFamily="34" charset="0"/>
                <a:ea typeface="Calibri" pitchFamily="34" charset="-122"/>
                <a:cs typeface="Calibri" pitchFamily="34" charset="-120"/>
              </a:rPr>
              <a:t>Result in under a second, with the decision and the reason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How it works: six steps from recording to decision</a:t>
            </a:r>
            <a:endParaRPr lang="en-US" sz="3200" dirty="0"/>
          </a:p>
        </p:txBody>
      </p:sp>
      <p:sp>
        <p:nvSpPr>
          <p:cNvPr id="3" name="Shape 1"/>
          <p:cNvSpPr/>
          <p:nvPr/>
        </p:nvSpPr>
        <p:spPr>
          <a:xfrm>
            <a:off x="548640" y="1874520"/>
            <a:ext cx="1664208" cy="2743200"/>
          </a:xfrm>
          <a:prstGeom prst="roundRect">
            <a:avLst>
              <a:gd name="adj" fmla="val 6593"/>
            </a:avLst>
          </a:prstGeom>
          <a:solidFill>
            <a:srgbClr val="F1F5F9"/>
          </a:solidFill>
          <a:ln/>
        </p:spPr>
      </p:sp>
      <p:sp>
        <p:nvSpPr>
          <p:cNvPr id="4" name="Shape 2"/>
          <p:cNvSpPr/>
          <p:nvPr/>
        </p:nvSpPr>
        <p:spPr>
          <a:xfrm>
            <a:off x="992124" y="2103120"/>
            <a:ext cx="777240" cy="777240"/>
          </a:xfrm>
          <a:prstGeom prst="ellipse">
            <a:avLst/>
          </a:prstGeom>
          <a:solidFill>
            <a:srgbClr val="334155"/>
          </a:solidFill>
          <a:ln/>
        </p:spPr>
      </p:sp>
      <p:pic>
        <p:nvPicPr>
          <p:cNvPr id="5" name="Image 0" descr="preencoded.png">    </p:cNvPr>
          <p:cNvPicPr>
            <a:picLocks noChangeAspect="1"/>
          </p:cNvPicPr>
          <p:nvPr/>
        </p:nvPicPr>
        <p:blipFill>
          <a:blip r:embed="rId1"/>
          <a:stretch>
            <a:fillRect/>
          </a:stretch>
        </p:blipFill>
        <p:spPr>
          <a:xfrm>
            <a:off x="1178662" y="2289658"/>
            <a:ext cx="404165" cy="404165"/>
          </a:xfrm>
          <a:prstGeom prst="rect">
            <a:avLst/>
          </a:prstGeom>
        </p:spPr>
      </p:pic>
      <p:sp>
        <p:nvSpPr>
          <p:cNvPr id="6" name="Text 3"/>
          <p:cNvSpPr txBox="1"/>
          <p:nvPr/>
        </p:nvSpPr>
        <p:spPr>
          <a:xfrm>
            <a:off x="640080" y="3017520"/>
            <a:ext cx="1481328" cy="64008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1. Prepare</a:t>
            </a:r>
            <a:endParaRPr lang="en-US" sz="1500" dirty="0"/>
          </a:p>
        </p:txBody>
      </p:sp>
      <p:sp>
        <p:nvSpPr>
          <p:cNvPr id="7" name="Text 4"/>
          <p:cNvSpPr txBox="1"/>
          <p:nvPr/>
        </p:nvSpPr>
        <p:spPr>
          <a:xfrm>
            <a:off x="640080" y="3657600"/>
            <a:ext cx="1481328" cy="86868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Clean up and cut into 3-second pieces</a:t>
            </a:r>
            <a:endParaRPr lang="en-US" sz="1300" dirty="0"/>
          </a:p>
        </p:txBody>
      </p:sp>
      <p:sp>
        <p:nvSpPr>
          <p:cNvPr id="8" name="Shape 5"/>
          <p:cNvSpPr/>
          <p:nvPr/>
        </p:nvSpPr>
        <p:spPr>
          <a:xfrm>
            <a:off x="2231136" y="3246120"/>
            <a:ext cx="164592" cy="0"/>
          </a:xfrm>
          <a:prstGeom prst="line">
            <a:avLst/>
          </a:prstGeom>
          <a:noFill/>
          <a:ln w="25400">
            <a:solidFill>
              <a:srgbClr val="94A3B8"/>
            </a:solidFill>
            <a:prstDash val="solid"/>
            <a:tailEnd type="triangle"/>
          </a:ln>
        </p:spPr>
      </p:sp>
      <p:sp>
        <p:nvSpPr>
          <p:cNvPr id="9" name="Shape 6"/>
          <p:cNvSpPr/>
          <p:nvPr/>
        </p:nvSpPr>
        <p:spPr>
          <a:xfrm>
            <a:off x="2414016" y="1874520"/>
            <a:ext cx="1664208" cy="2743200"/>
          </a:xfrm>
          <a:prstGeom prst="roundRect">
            <a:avLst>
              <a:gd name="adj" fmla="val 6593"/>
            </a:avLst>
          </a:prstGeom>
          <a:solidFill>
            <a:srgbClr val="F1F5F9"/>
          </a:solidFill>
          <a:ln/>
        </p:spPr>
      </p:sp>
      <p:sp>
        <p:nvSpPr>
          <p:cNvPr id="10" name="Shape 7"/>
          <p:cNvSpPr/>
          <p:nvPr/>
        </p:nvSpPr>
        <p:spPr>
          <a:xfrm>
            <a:off x="2857500" y="2103120"/>
            <a:ext cx="777240" cy="777240"/>
          </a:xfrm>
          <a:prstGeom prst="ellipse">
            <a:avLst/>
          </a:prstGeom>
          <a:solidFill>
            <a:srgbClr val="334155"/>
          </a:solidFill>
          <a:ln/>
        </p:spPr>
      </p:sp>
      <p:pic>
        <p:nvPicPr>
          <p:cNvPr id="11" name="Image 1" descr="preencoded.png">    </p:cNvPr>
          <p:cNvPicPr>
            <a:picLocks noChangeAspect="1"/>
          </p:cNvPicPr>
          <p:nvPr/>
        </p:nvPicPr>
        <p:blipFill>
          <a:blip r:embed="rId2"/>
          <a:stretch>
            <a:fillRect/>
          </a:stretch>
        </p:blipFill>
        <p:spPr>
          <a:xfrm>
            <a:off x="3044038" y="2289658"/>
            <a:ext cx="404165" cy="404165"/>
          </a:xfrm>
          <a:prstGeom prst="rect">
            <a:avLst/>
          </a:prstGeom>
        </p:spPr>
      </p:pic>
      <p:sp>
        <p:nvSpPr>
          <p:cNvPr id="12" name="Text 8"/>
          <p:cNvSpPr txBox="1"/>
          <p:nvPr/>
        </p:nvSpPr>
        <p:spPr>
          <a:xfrm>
            <a:off x="2505456" y="3017520"/>
            <a:ext cx="1481328" cy="64008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2. Two views of sound</a:t>
            </a:r>
            <a:endParaRPr lang="en-US" sz="1500" dirty="0"/>
          </a:p>
        </p:txBody>
      </p:sp>
      <p:sp>
        <p:nvSpPr>
          <p:cNvPr id="13" name="Text 9"/>
          <p:cNvSpPr txBox="1"/>
          <p:nvPr/>
        </p:nvSpPr>
        <p:spPr>
          <a:xfrm>
            <a:off x="2505456" y="3657600"/>
            <a:ext cx="1481328" cy="86868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Turn sound into two pictures</a:t>
            </a:r>
            <a:endParaRPr lang="en-US" sz="1300" dirty="0"/>
          </a:p>
        </p:txBody>
      </p:sp>
      <p:sp>
        <p:nvSpPr>
          <p:cNvPr id="14" name="Shape 10"/>
          <p:cNvSpPr/>
          <p:nvPr/>
        </p:nvSpPr>
        <p:spPr>
          <a:xfrm>
            <a:off x="4096512" y="3246120"/>
            <a:ext cx="164592" cy="0"/>
          </a:xfrm>
          <a:prstGeom prst="line">
            <a:avLst/>
          </a:prstGeom>
          <a:noFill/>
          <a:ln w="25400">
            <a:solidFill>
              <a:srgbClr val="94A3B8"/>
            </a:solidFill>
            <a:prstDash val="solid"/>
            <a:tailEnd type="triangle"/>
          </a:ln>
        </p:spPr>
      </p:sp>
      <p:sp>
        <p:nvSpPr>
          <p:cNvPr id="15" name="Shape 11"/>
          <p:cNvSpPr/>
          <p:nvPr/>
        </p:nvSpPr>
        <p:spPr>
          <a:xfrm>
            <a:off x="4279392" y="1874520"/>
            <a:ext cx="1664208" cy="2743200"/>
          </a:xfrm>
          <a:prstGeom prst="roundRect">
            <a:avLst>
              <a:gd name="adj" fmla="val 6593"/>
            </a:avLst>
          </a:prstGeom>
          <a:solidFill>
            <a:srgbClr val="F1F5F9"/>
          </a:solidFill>
          <a:ln/>
        </p:spPr>
      </p:sp>
      <p:sp>
        <p:nvSpPr>
          <p:cNvPr id="16" name="Shape 12"/>
          <p:cNvSpPr/>
          <p:nvPr/>
        </p:nvSpPr>
        <p:spPr>
          <a:xfrm>
            <a:off x="4722876" y="2103120"/>
            <a:ext cx="777240" cy="777240"/>
          </a:xfrm>
          <a:prstGeom prst="ellipse">
            <a:avLst/>
          </a:prstGeom>
          <a:solidFill>
            <a:srgbClr val="334155"/>
          </a:solidFill>
          <a:ln/>
        </p:spPr>
      </p:sp>
      <p:pic>
        <p:nvPicPr>
          <p:cNvPr id="17" name="Image 2" descr="preencoded.png">    </p:cNvPr>
          <p:cNvPicPr>
            <a:picLocks noChangeAspect="1"/>
          </p:cNvPicPr>
          <p:nvPr/>
        </p:nvPicPr>
        <p:blipFill>
          <a:blip r:embed="rId3"/>
          <a:stretch>
            <a:fillRect/>
          </a:stretch>
        </p:blipFill>
        <p:spPr>
          <a:xfrm>
            <a:off x="4909414" y="2289658"/>
            <a:ext cx="404165" cy="404165"/>
          </a:xfrm>
          <a:prstGeom prst="rect">
            <a:avLst/>
          </a:prstGeom>
        </p:spPr>
      </p:pic>
      <p:sp>
        <p:nvSpPr>
          <p:cNvPr id="18" name="Text 13"/>
          <p:cNvSpPr txBox="1"/>
          <p:nvPr/>
        </p:nvSpPr>
        <p:spPr>
          <a:xfrm>
            <a:off x="4370832" y="3017520"/>
            <a:ext cx="1481328" cy="64008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3. Pattern recogniser</a:t>
            </a:r>
            <a:endParaRPr lang="en-US" sz="1500" dirty="0"/>
          </a:p>
        </p:txBody>
      </p:sp>
      <p:sp>
        <p:nvSpPr>
          <p:cNvPr id="19" name="Text 14"/>
          <p:cNvSpPr txBox="1"/>
          <p:nvPr/>
        </p:nvSpPr>
        <p:spPr>
          <a:xfrm>
            <a:off x="4370832" y="3657600"/>
            <a:ext cx="1481328" cy="86868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AI reads the pictures → 128-number ‘voice fingerprint’</a:t>
            </a:r>
            <a:endParaRPr lang="en-US" sz="1300" dirty="0"/>
          </a:p>
        </p:txBody>
      </p:sp>
      <p:sp>
        <p:nvSpPr>
          <p:cNvPr id="20" name="Shape 15"/>
          <p:cNvSpPr/>
          <p:nvPr/>
        </p:nvSpPr>
        <p:spPr>
          <a:xfrm>
            <a:off x="5961888" y="3246120"/>
            <a:ext cx="164592" cy="0"/>
          </a:xfrm>
          <a:prstGeom prst="line">
            <a:avLst/>
          </a:prstGeom>
          <a:noFill/>
          <a:ln w="25400">
            <a:solidFill>
              <a:srgbClr val="94A3B8"/>
            </a:solidFill>
            <a:prstDash val="solid"/>
            <a:tailEnd type="triangle"/>
          </a:ln>
        </p:spPr>
      </p:sp>
      <p:sp>
        <p:nvSpPr>
          <p:cNvPr id="21" name="Shape 16"/>
          <p:cNvSpPr/>
          <p:nvPr/>
        </p:nvSpPr>
        <p:spPr>
          <a:xfrm>
            <a:off x="6144768" y="1874520"/>
            <a:ext cx="1664208" cy="2743200"/>
          </a:xfrm>
          <a:prstGeom prst="roundRect">
            <a:avLst>
              <a:gd name="adj" fmla="val 6593"/>
            </a:avLst>
          </a:prstGeom>
          <a:solidFill>
            <a:srgbClr val="FDECEC"/>
          </a:solidFill>
          <a:ln w="19050">
            <a:solidFill>
              <a:srgbClr val="E5484D"/>
            </a:solidFill>
            <a:prstDash val="solid"/>
          </a:ln>
        </p:spPr>
      </p:sp>
      <p:sp>
        <p:nvSpPr>
          <p:cNvPr id="22" name="Shape 17"/>
          <p:cNvSpPr/>
          <p:nvPr/>
        </p:nvSpPr>
        <p:spPr>
          <a:xfrm>
            <a:off x="6588252" y="2103120"/>
            <a:ext cx="777240" cy="777240"/>
          </a:xfrm>
          <a:prstGeom prst="ellipse">
            <a:avLst/>
          </a:prstGeom>
          <a:solidFill>
            <a:srgbClr val="E5484D"/>
          </a:solidFill>
          <a:ln/>
        </p:spPr>
      </p:sp>
      <p:pic>
        <p:nvPicPr>
          <p:cNvPr id="23" name="Image 3" descr="preencoded.png">    </p:cNvPr>
          <p:cNvPicPr>
            <a:picLocks noChangeAspect="1"/>
          </p:cNvPicPr>
          <p:nvPr/>
        </p:nvPicPr>
        <p:blipFill>
          <a:blip r:embed="rId4"/>
          <a:stretch>
            <a:fillRect/>
          </a:stretch>
        </p:blipFill>
        <p:spPr>
          <a:xfrm>
            <a:off x="6774790" y="2289658"/>
            <a:ext cx="404165" cy="404165"/>
          </a:xfrm>
          <a:prstGeom prst="rect">
            <a:avLst/>
          </a:prstGeom>
        </p:spPr>
      </p:pic>
      <p:sp>
        <p:nvSpPr>
          <p:cNvPr id="24" name="Text 18"/>
          <p:cNvSpPr txBox="1"/>
          <p:nvPr/>
        </p:nvSpPr>
        <p:spPr>
          <a:xfrm>
            <a:off x="6236208" y="3017520"/>
            <a:ext cx="1481328" cy="64008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4. Four specialists</a:t>
            </a:r>
            <a:endParaRPr lang="en-US" sz="1500" dirty="0"/>
          </a:p>
        </p:txBody>
      </p:sp>
      <p:sp>
        <p:nvSpPr>
          <p:cNvPr id="25" name="Text 19"/>
          <p:cNvSpPr txBox="1"/>
          <p:nvPr/>
        </p:nvSpPr>
        <p:spPr>
          <a:xfrm>
            <a:off x="6236208" y="3657600"/>
            <a:ext cx="1481328" cy="86868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Fake? Type? Sure? Familiar?</a:t>
            </a:r>
            <a:endParaRPr lang="en-US" sz="1300" dirty="0"/>
          </a:p>
        </p:txBody>
      </p:sp>
      <p:sp>
        <p:nvSpPr>
          <p:cNvPr id="26" name="Shape 20"/>
          <p:cNvSpPr/>
          <p:nvPr/>
        </p:nvSpPr>
        <p:spPr>
          <a:xfrm>
            <a:off x="7827264" y="3246120"/>
            <a:ext cx="164592" cy="0"/>
          </a:xfrm>
          <a:prstGeom prst="line">
            <a:avLst/>
          </a:prstGeom>
          <a:noFill/>
          <a:ln w="25400">
            <a:solidFill>
              <a:srgbClr val="94A3B8"/>
            </a:solidFill>
            <a:prstDash val="solid"/>
            <a:tailEnd type="triangle"/>
          </a:ln>
        </p:spPr>
      </p:sp>
      <p:sp>
        <p:nvSpPr>
          <p:cNvPr id="27" name="Shape 21"/>
          <p:cNvSpPr/>
          <p:nvPr/>
        </p:nvSpPr>
        <p:spPr>
          <a:xfrm>
            <a:off x="8010144" y="1874520"/>
            <a:ext cx="1664208" cy="2743200"/>
          </a:xfrm>
          <a:prstGeom prst="roundRect">
            <a:avLst>
              <a:gd name="adj" fmla="val 6593"/>
            </a:avLst>
          </a:prstGeom>
          <a:solidFill>
            <a:srgbClr val="FDECEC"/>
          </a:solidFill>
          <a:ln w="19050">
            <a:solidFill>
              <a:srgbClr val="E5484D"/>
            </a:solidFill>
            <a:prstDash val="solid"/>
          </a:ln>
        </p:spPr>
      </p:sp>
      <p:sp>
        <p:nvSpPr>
          <p:cNvPr id="28" name="Shape 22"/>
          <p:cNvSpPr/>
          <p:nvPr/>
        </p:nvSpPr>
        <p:spPr>
          <a:xfrm>
            <a:off x="8453628" y="2103120"/>
            <a:ext cx="777240" cy="777240"/>
          </a:xfrm>
          <a:prstGeom prst="ellipse">
            <a:avLst/>
          </a:prstGeom>
          <a:solidFill>
            <a:srgbClr val="E5484D"/>
          </a:solidFill>
          <a:ln/>
        </p:spPr>
      </p:sp>
      <p:pic>
        <p:nvPicPr>
          <p:cNvPr id="29" name="Image 4" descr="preencoded.png">    </p:cNvPr>
          <p:cNvPicPr>
            <a:picLocks noChangeAspect="1"/>
          </p:cNvPicPr>
          <p:nvPr/>
        </p:nvPicPr>
        <p:blipFill>
          <a:blip r:embed="rId5"/>
          <a:stretch>
            <a:fillRect/>
          </a:stretch>
        </p:blipFill>
        <p:spPr>
          <a:xfrm>
            <a:off x="8640166" y="2289658"/>
            <a:ext cx="404165" cy="404165"/>
          </a:xfrm>
          <a:prstGeom prst="rect">
            <a:avLst/>
          </a:prstGeom>
        </p:spPr>
      </p:pic>
      <p:sp>
        <p:nvSpPr>
          <p:cNvPr id="30" name="Text 23"/>
          <p:cNvSpPr txBox="1"/>
          <p:nvPr/>
        </p:nvSpPr>
        <p:spPr>
          <a:xfrm>
            <a:off x="8101584" y="3017520"/>
            <a:ext cx="1481328" cy="64008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5. Risk gateway</a:t>
            </a:r>
            <a:endParaRPr lang="en-US" sz="1500" dirty="0"/>
          </a:p>
        </p:txBody>
      </p:sp>
      <p:sp>
        <p:nvSpPr>
          <p:cNvPr id="31" name="Text 24"/>
          <p:cNvSpPr txBox="1"/>
          <p:nvPr/>
        </p:nvSpPr>
        <p:spPr>
          <a:xfrm>
            <a:off x="8101584" y="3657600"/>
            <a:ext cx="1481328" cy="86868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Pass / Review / Block</a:t>
            </a:r>
            <a:endParaRPr lang="en-US" sz="1300" dirty="0"/>
          </a:p>
        </p:txBody>
      </p:sp>
      <p:sp>
        <p:nvSpPr>
          <p:cNvPr id="32" name="Shape 25"/>
          <p:cNvSpPr/>
          <p:nvPr/>
        </p:nvSpPr>
        <p:spPr>
          <a:xfrm>
            <a:off x="9692640" y="3246120"/>
            <a:ext cx="164592" cy="0"/>
          </a:xfrm>
          <a:prstGeom prst="line">
            <a:avLst/>
          </a:prstGeom>
          <a:noFill/>
          <a:ln w="25400">
            <a:solidFill>
              <a:srgbClr val="94A3B8"/>
            </a:solidFill>
            <a:prstDash val="solid"/>
            <a:tailEnd type="triangle"/>
          </a:ln>
        </p:spPr>
      </p:sp>
      <p:sp>
        <p:nvSpPr>
          <p:cNvPr id="33" name="Shape 26"/>
          <p:cNvSpPr/>
          <p:nvPr/>
        </p:nvSpPr>
        <p:spPr>
          <a:xfrm>
            <a:off x="9875520" y="1874520"/>
            <a:ext cx="1664208" cy="2743200"/>
          </a:xfrm>
          <a:prstGeom prst="roundRect">
            <a:avLst>
              <a:gd name="adj" fmla="val 6593"/>
            </a:avLst>
          </a:prstGeom>
          <a:solidFill>
            <a:srgbClr val="FDECEC"/>
          </a:solidFill>
          <a:ln w="19050">
            <a:solidFill>
              <a:srgbClr val="E5484D"/>
            </a:solidFill>
            <a:prstDash val="solid"/>
          </a:ln>
        </p:spPr>
      </p:sp>
      <p:sp>
        <p:nvSpPr>
          <p:cNvPr id="34" name="Shape 27"/>
          <p:cNvSpPr/>
          <p:nvPr/>
        </p:nvSpPr>
        <p:spPr>
          <a:xfrm>
            <a:off x="10319004" y="2103120"/>
            <a:ext cx="777240" cy="777240"/>
          </a:xfrm>
          <a:prstGeom prst="ellipse">
            <a:avLst/>
          </a:prstGeom>
          <a:solidFill>
            <a:srgbClr val="E5484D"/>
          </a:solidFill>
          <a:ln/>
        </p:spPr>
      </p:sp>
      <p:pic>
        <p:nvPicPr>
          <p:cNvPr id="35" name="Image 5" descr="preencoded.png">    </p:cNvPr>
          <p:cNvPicPr>
            <a:picLocks noChangeAspect="1"/>
          </p:cNvPicPr>
          <p:nvPr/>
        </p:nvPicPr>
        <p:blipFill>
          <a:blip r:embed="rId6"/>
          <a:stretch>
            <a:fillRect/>
          </a:stretch>
        </p:blipFill>
        <p:spPr>
          <a:xfrm>
            <a:off x="10505542" y="2289658"/>
            <a:ext cx="404165" cy="404165"/>
          </a:xfrm>
          <a:prstGeom prst="rect">
            <a:avLst/>
          </a:prstGeom>
        </p:spPr>
      </p:pic>
      <p:sp>
        <p:nvSpPr>
          <p:cNvPr id="36" name="Text 28"/>
          <p:cNvSpPr txBox="1"/>
          <p:nvPr/>
        </p:nvSpPr>
        <p:spPr>
          <a:xfrm>
            <a:off x="9966960" y="3017520"/>
            <a:ext cx="1481328" cy="64008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6. Explanation</a:t>
            </a:r>
            <a:endParaRPr lang="en-US" sz="1500" dirty="0"/>
          </a:p>
        </p:txBody>
      </p:sp>
      <p:sp>
        <p:nvSpPr>
          <p:cNvPr id="37" name="Text 29"/>
          <p:cNvSpPr txBox="1"/>
          <p:nvPr/>
        </p:nvSpPr>
        <p:spPr>
          <a:xfrm>
            <a:off x="9966960" y="3657600"/>
            <a:ext cx="1481328" cy="86868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Reason in plain English</a:t>
            </a:r>
            <a:endParaRPr lang="en-US" sz="1300" dirty="0"/>
          </a:p>
        </p:txBody>
      </p:sp>
      <p:sp>
        <p:nvSpPr>
          <p:cNvPr id="38" name="Text 30"/>
          <p:cNvSpPr txBox="1"/>
          <p:nvPr/>
        </p:nvSpPr>
        <p:spPr>
          <a:xfrm>
            <a:off x="548640" y="1325880"/>
            <a:ext cx="2743200" cy="365760"/>
          </a:xfrm>
          <a:prstGeom prst="rect">
            <a:avLst/>
          </a:prstGeom>
          <a:noFill/>
          <a:ln/>
        </p:spPr>
        <p:txBody>
          <a:bodyPr wrap="square" lIns="0" tIns="0" rIns="0" bIns="0" rtlCol="0" anchor="t"/>
          <a:lstStyle/>
          <a:p>
            <a:pPr indent="0" marL="0">
              <a:buNone/>
            </a:pPr>
            <a:r>
              <a:rPr lang="en-US" sz="1400" i="1" dirty="0">
                <a:solidFill>
                  <a:srgbClr val="334155"/>
                </a:solidFill>
                <a:latin typeface="Calibri" pitchFamily="34" charset="0"/>
                <a:ea typeface="Calibri" pitchFamily="34" charset="-122"/>
                <a:cs typeface="Calibri" pitchFamily="34" charset="-120"/>
              </a:rPr>
              <a:t>Voice recording in</a:t>
            </a:r>
            <a:endParaRPr lang="en-US" sz="1400" dirty="0"/>
          </a:p>
        </p:txBody>
      </p:sp>
      <p:sp>
        <p:nvSpPr>
          <p:cNvPr id="39" name="Text 31"/>
          <p:cNvSpPr txBox="1"/>
          <p:nvPr/>
        </p:nvSpPr>
        <p:spPr>
          <a:xfrm>
            <a:off x="9418320" y="1325880"/>
            <a:ext cx="2194560" cy="365760"/>
          </a:xfrm>
          <a:prstGeom prst="rect">
            <a:avLst/>
          </a:prstGeom>
          <a:noFill/>
          <a:ln/>
        </p:spPr>
        <p:txBody>
          <a:bodyPr wrap="square" lIns="0" tIns="0" rIns="0" bIns="0" rtlCol="0" anchor="t"/>
          <a:lstStyle/>
          <a:p>
            <a:pPr algn="r" indent="0" marL="0">
              <a:buNone/>
            </a:pPr>
            <a:r>
              <a:rPr lang="en-US" sz="1400" i="1" dirty="0">
                <a:solidFill>
                  <a:srgbClr val="334155"/>
                </a:solidFill>
                <a:latin typeface="Calibri" pitchFamily="34" charset="0"/>
                <a:ea typeface="Calibri" pitchFamily="34" charset="-122"/>
                <a:cs typeface="Calibri" pitchFamily="34" charset="-120"/>
              </a:rPr>
              <a:t>Decision + reason out</a:t>
            </a:r>
            <a:endParaRPr lang="en-US" sz="1400" dirty="0"/>
          </a:p>
        </p:txBody>
      </p:sp>
      <p:sp>
        <p:nvSpPr>
          <p:cNvPr id="40" name="Shape 32"/>
          <p:cNvSpPr/>
          <p:nvPr/>
        </p:nvSpPr>
        <p:spPr>
          <a:xfrm>
            <a:off x="6071616" y="4800600"/>
            <a:ext cx="5541264" cy="502920"/>
          </a:xfrm>
          <a:prstGeom prst="roundRect">
            <a:avLst>
              <a:gd name="adj" fmla="val 18182"/>
            </a:avLst>
          </a:prstGeom>
          <a:solidFill>
            <a:srgbClr val="E5484D"/>
          </a:solidFill>
          <a:ln/>
        </p:spPr>
      </p:sp>
      <p:sp>
        <p:nvSpPr>
          <p:cNvPr id="41" name="Text 33"/>
          <p:cNvSpPr txBox="1"/>
          <p:nvPr/>
        </p:nvSpPr>
        <p:spPr>
          <a:xfrm>
            <a:off x="6071616" y="4800600"/>
            <a:ext cx="5541264"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DeepShield's own design: the patent candidate</a:t>
            </a:r>
            <a:endParaRPr lang="en-US" sz="1500" dirty="0"/>
          </a:p>
        </p:txBody>
      </p:sp>
      <p:sp>
        <p:nvSpPr>
          <p:cNvPr id="42" name="Shape 34"/>
          <p:cNvSpPr/>
          <p:nvPr/>
        </p:nvSpPr>
        <p:spPr>
          <a:xfrm>
            <a:off x="475488" y="4800600"/>
            <a:ext cx="5541264" cy="502920"/>
          </a:xfrm>
          <a:prstGeom prst="roundRect">
            <a:avLst>
              <a:gd name="adj" fmla="val 18182"/>
            </a:avLst>
          </a:prstGeom>
          <a:solidFill>
            <a:srgbClr val="F1F5F9"/>
          </a:solidFill>
          <a:ln/>
        </p:spPr>
      </p:sp>
      <p:sp>
        <p:nvSpPr>
          <p:cNvPr id="43" name="Text 35"/>
          <p:cNvSpPr txBox="1"/>
          <p:nvPr/>
        </p:nvSpPr>
        <p:spPr>
          <a:xfrm>
            <a:off x="475488" y="4800600"/>
            <a:ext cx="5541264" cy="502920"/>
          </a:xfrm>
          <a:prstGeom prst="rect">
            <a:avLst/>
          </a:prstGeom>
          <a:noFill/>
          <a:ln/>
        </p:spPr>
        <p:txBody>
          <a:bodyPr wrap="square" lIns="0" tIns="0" rIns="0" bIns="0" rtlCol="0" anchor="ctr"/>
          <a:lstStyle/>
          <a:p>
            <a:pPr algn="ctr" indent="0" marL="0">
              <a:buNone/>
            </a:pPr>
            <a:r>
              <a:rPr lang="en-US" sz="1500" b="1" dirty="0">
                <a:solidFill>
                  <a:srgbClr val="334155"/>
                </a:solidFill>
                <a:latin typeface="Calibri" pitchFamily="34" charset="0"/>
                <a:ea typeface="Calibri" pitchFamily="34" charset="-122"/>
                <a:cs typeface="Calibri" pitchFamily="34" charset="-120"/>
              </a:rPr>
              <a:t>Proven building blocks, chosen for the job</a:t>
            </a:r>
            <a:endParaRPr lang="en-US" sz="1500" dirty="0"/>
          </a:p>
        </p:txBody>
      </p:sp>
      <p:sp>
        <p:nvSpPr>
          <p:cNvPr id="44" name="Text 36"/>
          <p:cNvSpPr txBox="1"/>
          <p:nvPr/>
        </p:nvSpPr>
        <p:spPr>
          <a:xfrm>
            <a:off x="548640" y="5486400"/>
            <a:ext cx="11064240" cy="7315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Steps 1–3 use well-established techniques. What is new is steps 4–6: several specialists judging the same fingerprint, and a gateway that combines their opinions into a safe decision.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Step 1: Prepare the recording</a:t>
            </a:r>
            <a:endParaRPr lang="en-US" sz="3200" dirty="0"/>
          </a:p>
        </p:txBody>
      </p:sp>
      <p:sp>
        <p:nvSpPr>
          <p:cNvPr id="3" name="Text 1"/>
          <p:cNvSpPr txBox="1"/>
          <p:nvPr/>
        </p:nvSpPr>
        <p:spPr>
          <a:xfrm>
            <a:off x="548640" y="1280160"/>
            <a:ext cx="5486400" cy="365760"/>
          </a:xfrm>
          <a:prstGeom prst="rect">
            <a:avLst/>
          </a:prstGeom>
          <a:noFill/>
          <a:ln/>
        </p:spPr>
        <p:txBody>
          <a:bodyPr wrap="square" lIns="0" tIns="0" rIns="0" bIns="0" rtlCol="0" anchor="t"/>
          <a:lstStyle/>
          <a:p>
            <a:pPr indent="0" marL="0">
              <a:buNone/>
            </a:pPr>
            <a:r>
              <a:rPr lang="en-US" sz="1800" b="1" dirty="0">
                <a:solidFill>
                  <a:srgbClr val="0D9488"/>
                </a:solidFill>
                <a:latin typeface="Calibri" pitchFamily="34" charset="0"/>
                <a:ea typeface="Calibri" pitchFamily="34" charset="-122"/>
                <a:cs typeface="Calibri" pitchFamily="34" charset="-120"/>
              </a:rPr>
              <a:t>What it does</a:t>
            </a:r>
            <a:endParaRPr lang="en-US" sz="1800" dirty="0"/>
          </a:p>
        </p:txBody>
      </p:sp>
      <p:sp>
        <p:nvSpPr>
          <p:cNvPr id="4" name="Text 2"/>
          <p:cNvSpPr txBox="1"/>
          <p:nvPr/>
        </p:nvSpPr>
        <p:spPr>
          <a:xfrm>
            <a:off x="548640" y="1737360"/>
            <a:ext cx="557784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Converts any audio file to one standard format (16,000 samples per second)</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Checks the whole recording in overlapping 3-second pieces, a new one every half second</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Scores the clip from its most suspicious third, so a fake sentence hidden in a long call is not missed, and the same file always gets the same answer</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Clips shorter than 2 seconds go to human review: too little speech to judge safely</a:t>
            </a:r>
            <a:endParaRPr lang="en-US" sz="1600" dirty="0"/>
          </a:p>
        </p:txBody>
      </p:sp>
      <p:sp>
        <p:nvSpPr>
          <p:cNvPr id="5" name="Text 3"/>
          <p:cNvSpPr txBox="1"/>
          <p:nvPr/>
        </p:nvSpPr>
        <p:spPr>
          <a:xfrm>
            <a:off x="6492240" y="1280160"/>
            <a:ext cx="5120640" cy="365760"/>
          </a:xfrm>
          <a:prstGeom prst="rect">
            <a:avLst/>
          </a:prstGeom>
          <a:noFill/>
          <a:ln/>
        </p:spPr>
        <p:txBody>
          <a:bodyPr wrap="square" lIns="0" tIns="0" rIns="0" bIns="0" rtlCol="0" anchor="t"/>
          <a:lstStyle/>
          <a:p>
            <a:pPr indent="0" marL="0">
              <a:buNone/>
            </a:pPr>
            <a:r>
              <a:rPr lang="en-US" sz="1800" b="1" dirty="0">
                <a:solidFill>
                  <a:srgbClr val="0D9488"/>
                </a:solidFill>
                <a:latin typeface="Calibri" pitchFamily="34" charset="0"/>
                <a:ea typeface="Calibri" pitchFamily="34" charset="-122"/>
                <a:cs typeface="Calibri" pitchFamily="34" charset="-120"/>
              </a:rPr>
              <a:t>How we made it robust</a:t>
            </a:r>
            <a:endParaRPr lang="en-US" sz="1800" dirty="0"/>
          </a:p>
        </p:txBody>
      </p:sp>
      <p:sp>
        <p:nvSpPr>
          <p:cNvPr id="6" name="Text 4"/>
          <p:cNvSpPr txBox="1"/>
          <p:nvPr/>
        </p:nvSpPr>
        <p:spPr>
          <a:xfrm>
            <a:off x="6492240" y="1737360"/>
            <a:ext cx="5120640" cy="7315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During training, the system practised on recordings deliberately degraded the way real calls are:</a:t>
            </a:r>
            <a:endParaRPr lang="en-US" sz="1500" dirty="0"/>
          </a:p>
        </p:txBody>
      </p:sp>
      <p:sp>
        <p:nvSpPr>
          <p:cNvPr id="7" name="Shape 5"/>
          <p:cNvSpPr/>
          <p:nvPr/>
        </p:nvSpPr>
        <p:spPr>
          <a:xfrm>
            <a:off x="6492240" y="2606040"/>
            <a:ext cx="2468880" cy="1234440"/>
          </a:xfrm>
          <a:prstGeom prst="roundRect">
            <a:avLst>
              <a:gd name="adj" fmla="val 8889"/>
            </a:avLst>
          </a:prstGeom>
          <a:solidFill>
            <a:srgbClr val="F1F5F9"/>
          </a:solidFill>
          <a:ln/>
        </p:spPr>
      </p:sp>
      <p:sp>
        <p:nvSpPr>
          <p:cNvPr id="8" name="Shape 6"/>
          <p:cNvSpPr/>
          <p:nvPr/>
        </p:nvSpPr>
        <p:spPr>
          <a:xfrm>
            <a:off x="6629400" y="2834640"/>
            <a:ext cx="640080" cy="640080"/>
          </a:xfrm>
          <a:prstGeom prst="ellipse">
            <a:avLst/>
          </a:prstGeom>
          <a:solidFill>
            <a:srgbClr val="334155"/>
          </a:solidFill>
          <a:ln/>
        </p:spPr>
      </p:sp>
      <p:pic>
        <p:nvPicPr>
          <p:cNvPr id="9" name="Image 0" descr="preencoded.png">    </p:cNvPr>
          <p:cNvPicPr>
            <a:picLocks noChangeAspect="1"/>
          </p:cNvPicPr>
          <p:nvPr/>
        </p:nvPicPr>
        <p:blipFill>
          <a:blip r:embed="rId1"/>
          <a:stretch>
            <a:fillRect/>
          </a:stretch>
        </p:blipFill>
        <p:spPr>
          <a:xfrm>
            <a:off x="6783019" y="2988259"/>
            <a:ext cx="332842" cy="332842"/>
          </a:xfrm>
          <a:prstGeom prst="rect">
            <a:avLst/>
          </a:prstGeom>
        </p:spPr>
      </p:pic>
      <p:sp>
        <p:nvSpPr>
          <p:cNvPr id="10" name="Text 7"/>
          <p:cNvSpPr txBox="1"/>
          <p:nvPr/>
        </p:nvSpPr>
        <p:spPr>
          <a:xfrm>
            <a:off x="7406640" y="2807208"/>
            <a:ext cx="146304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Compression</a:t>
            </a:r>
            <a:endParaRPr lang="en-US" sz="1500" dirty="0"/>
          </a:p>
        </p:txBody>
      </p:sp>
      <p:sp>
        <p:nvSpPr>
          <p:cNvPr id="11" name="Text 8"/>
          <p:cNvSpPr txBox="1"/>
          <p:nvPr/>
        </p:nvSpPr>
        <p:spPr>
          <a:xfrm>
            <a:off x="7406640" y="3172968"/>
            <a:ext cx="1463040" cy="5486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like MP3 / messaging apps</a:t>
            </a:r>
            <a:endParaRPr lang="en-US" sz="1300" dirty="0"/>
          </a:p>
        </p:txBody>
      </p:sp>
      <p:sp>
        <p:nvSpPr>
          <p:cNvPr id="12" name="Shape 9"/>
          <p:cNvSpPr/>
          <p:nvPr/>
        </p:nvSpPr>
        <p:spPr>
          <a:xfrm>
            <a:off x="9098280" y="2606040"/>
            <a:ext cx="2468880" cy="1234440"/>
          </a:xfrm>
          <a:prstGeom prst="roundRect">
            <a:avLst>
              <a:gd name="adj" fmla="val 8889"/>
            </a:avLst>
          </a:prstGeom>
          <a:solidFill>
            <a:srgbClr val="F1F5F9"/>
          </a:solidFill>
          <a:ln/>
        </p:spPr>
      </p:sp>
      <p:sp>
        <p:nvSpPr>
          <p:cNvPr id="13" name="Shape 10"/>
          <p:cNvSpPr/>
          <p:nvPr/>
        </p:nvSpPr>
        <p:spPr>
          <a:xfrm>
            <a:off x="9235440" y="2834640"/>
            <a:ext cx="640080" cy="640080"/>
          </a:xfrm>
          <a:prstGeom prst="ellipse">
            <a:avLst/>
          </a:prstGeom>
          <a:solidFill>
            <a:srgbClr val="334155"/>
          </a:solidFill>
          <a:ln/>
        </p:spPr>
      </p:sp>
      <p:pic>
        <p:nvPicPr>
          <p:cNvPr id="14" name="Image 1" descr="preencoded.png">    </p:cNvPr>
          <p:cNvPicPr>
            <a:picLocks noChangeAspect="1"/>
          </p:cNvPicPr>
          <p:nvPr/>
        </p:nvPicPr>
        <p:blipFill>
          <a:blip r:embed="rId2"/>
          <a:stretch>
            <a:fillRect/>
          </a:stretch>
        </p:blipFill>
        <p:spPr>
          <a:xfrm>
            <a:off x="9389059" y="2988259"/>
            <a:ext cx="332842" cy="332842"/>
          </a:xfrm>
          <a:prstGeom prst="rect">
            <a:avLst/>
          </a:prstGeom>
        </p:spPr>
      </p:pic>
      <p:sp>
        <p:nvSpPr>
          <p:cNvPr id="15" name="Text 11"/>
          <p:cNvSpPr txBox="1"/>
          <p:nvPr/>
        </p:nvSpPr>
        <p:spPr>
          <a:xfrm>
            <a:off x="10012680" y="2807208"/>
            <a:ext cx="146304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Background noise</a:t>
            </a:r>
            <a:endParaRPr lang="en-US" sz="1500" dirty="0"/>
          </a:p>
        </p:txBody>
      </p:sp>
      <p:sp>
        <p:nvSpPr>
          <p:cNvPr id="16" name="Text 12"/>
          <p:cNvSpPr txBox="1"/>
          <p:nvPr/>
        </p:nvSpPr>
        <p:spPr>
          <a:xfrm>
            <a:off x="10012680" y="3172968"/>
            <a:ext cx="1463040" cy="5486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street, office, hum</a:t>
            </a:r>
            <a:endParaRPr lang="en-US" sz="1300" dirty="0"/>
          </a:p>
        </p:txBody>
      </p:sp>
      <p:sp>
        <p:nvSpPr>
          <p:cNvPr id="17" name="Shape 13"/>
          <p:cNvSpPr/>
          <p:nvPr/>
        </p:nvSpPr>
        <p:spPr>
          <a:xfrm>
            <a:off x="6492240" y="4023360"/>
            <a:ext cx="2468880" cy="1234440"/>
          </a:xfrm>
          <a:prstGeom prst="roundRect">
            <a:avLst>
              <a:gd name="adj" fmla="val 8889"/>
            </a:avLst>
          </a:prstGeom>
          <a:solidFill>
            <a:srgbClr val="F1F5F9"/>
          </a:solidFill>
          <a:ln/>
        </p:spPr>
      </p:sp>
      <p:sp>
        <p:nvSpPr>
          <p:cNvPr id="18" name="Shape 14"/>
          <p:cNvSpPr/>
          <p:nvPr/>
        </p:nvSpPr>
        <p:spPr>
          <a:xfrm>
            <a:off x="6629400" y="4251960"/>
            <a:ext cx="640080" cy="640080"/>
          </a:xfrm>
          <a:prstGeom prst="ellipse">
            <a:avLst/>
          </a:prstGeom>
          <a:solidFill>
            <a:srgbClr val="334155"/>
          </a:solidFill>
          <a:ln/>
        </p:spPr>
      </p:sp>
      <p:pic>
        <p:nvPicPr>
          <p:cNvPr id="19" name="Image 2" descr="preencoded.png">    </p:cNvPr>
          <p:cNvPicPr>
            <a:picLocks noChangeAspect="1"/>
          </p:cNvPicPr>
          <p:nvPr/>
        </p:nvPicPr>
        <p:blipFill>
          <a:blip r:embed="rId3"/>
          <a:stretch>
            <a:fillRect/>
          </a:stretch>
        </p:blipFill>
        <p:spPr>
          <a:xfrm>
            <a:off x="6783019" y="4405579"/>
            <a:ext cx="332842" cy="332842"/>
          </a:xfrm>
          <a:prstGeom prst="rect">
            <a:avLst/>
          </a:prstGeom>
        </p:spPr>
      </p:pic>
      <p:sp>
        <p:nvSpPr>
          <p:cNvPr id="20" name="Text 15"/>
          <p:cNvSpPr txBox="1"/>
          <p:nvPr/>
        </p:nvSpPr>
        <p:spPr>
          <a:xfrm>
            <a:off x="7406640" y="4224528"/>
            <a:ext cx="146304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Echo</a:t>
            </a:r>
            <a:endParaRPr lang="en-US" sz="1500" dirty="0"/>
          </a:p>
        </p:txBody>
      </p:sp>
      <p:sp>
        <p:nvSpPr>
          <p:cNvPr id="21" name="Text 16"/>
          <p:cNvSpPr txBox="1"/>
          <p:nvPr/>
        </p:nvSpPr>
        <p:spPr>
          <a:xfrm>
            <a:off x="7406640" y="4590288"/>
            <a:ext cx="1463040" cy="5486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large or empty rooms</a:t>
            </a:r>
            <a:endParaRPr lang="en-US" sz="1300" dirty="0"/>
          </a:p>
        </p:txBody>
      </p:sp>
      <p:sp>
        <p:nvSpPr>
          <p:cNvPr id="22" name="Shape 17"/>
          <p:cNvSpPr/>
          <p:nvPr/>
        </p:nvSpPr>
        <p:spPr>
          <a:xfrm>
            <a:off x="9098280" y="4023360"/>
            <a:ext cx="2468880" cy="1234440"/>
          </a:xfrm>
          <a:prstGeom prst="roundRect">
            <a:avLst>
              <a:gd name="adj" fmla="val 8889"/>
            </a:avLst>
          </a:prstGeom>
          <a:solidFill>
            <a:srgbClr val="F1F5F9"/>
          </a:solidFill>
          <a:ln/>
        </p:spPr>
      </p:sp>
      <p:sp>
        <p:nvSpPr>
          <p:cNvPr id="23" name="Shape 18"/>
          <p:cNvSpPr/>
          <p:nvPr/>
        </p:nvSpPr>
        <p:spPr>
          <a:xfrm>
            <a:off x="9235440" y="4251960"/>
            <a:ext cx="640080" cy="640080"/>
          </a:xfrm>
          <a:prstGeom prst="ellipse">
            <a:avLst/>
          </a:prstGeom>
          <a:solidFill>
            <a:srgbClr val="334155"/>
          </a:solidFill>
          <a:ln/>
        </p:spPr>
      </p:sp>
      <p:pic>
        <p:nvPicPr>
          <p:cNvPr id="24" name="Image 3" descr="preencoded.png">    </p:cNvPr>
          <p:cNvPicPr>
            <a:picLocks noChangeAspect="1"/>
          </p:cNvPicPr>
          <p:nvPr/>
        </p:nvPicPr>
        <p:blipFill>
          <a:blip r:embed="rId4"/>
          <a:stretch>
            <a:fillRect/>
          </a:stretch>
        </p:blipFill>
        <p:spPr>
          <a:xfrm>
            <a:off x="9389059" y="4405579"/>
            <a:ext cx="332842" cy="332842"/>
          </a:xfrm>
          <a:prstGeom prst="rect">
            <a:avLst/>
          </a:prstGeom>
        </p:spPr>
      </p:pic>
      <p:sp>
        <p:nvSpPr>
          <p:cNvPr id="25" name="Text 19"/>
          <p:cNvSpPr txBox="1"/>
          <p:nvPr/>
        </p:nvSpPr>
        <p:spPr>
          <a:xfrm>
            <a:off x="10012680" y="4224528"/>
            <a:ext cx="146304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Phone line</a:t>
            </a:r>
            <a:endParaRPr lang="en-US" sz="1500" dirty="0"/>
          </a:p>
        </p:txBody>
      </p:sp>
      <p:sp>
        <p:nvSpPr>
          <p:cNvPr id="26" name="Text 20"/>
          <p:cNvSpPr txBox="1"/>
          <p:nvPr/>
        </p:nvSpPr>
        <p:spPr>
          <a:xfrm>
            <a:off x="10012680" y="4590288"/>
            <a:ext cx="1463040" cy="5486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narrow, muffled audio</a:t>
            </a:r>
            <a:endParaRPr lang="en-US" sz="1300" dirty="0"/>
          </a:p>
        </p:txBody>
      </p:sp>
      <p:sp>
        <p:nvSpPr>
          <p:cNvPr id="27" name="Shape 21"/>
          <p:cNvSpPr/>
          <p:nvPr/>
        </p:nvSpPr>
        <p:spPr>
          <a:xfrm>
            <a:off x="548640" y="4892040"/>
            <a:ext cx="5577840" cy="1143000"/>
          </a:xfrm>
          <a:prstGeom prst="roundRect">
            <a:avLst>
              <a:gd name="adj" fmla="val 9600"/>
            </a:avLst>
          </a:prstGeom>
          <a:solidFill>
            <a:srgbClr val="E6F6F4"/>
          </a:solidFill>
          <a:ln/>
        </p:spPr>
      </p:sp>
      <p:sp>
        <p:nvSpPr>
          <p:cNvPr id="28" name="Text 22"/>
          <p:cNvSpPr txBox="1"/>
          <p:nvPr/>
        </p:nvSpPr>
        <p:spPr>
          <a:xfrm>
            <a:off x="731520" y="5029200"/>
            <a:ext cx="5212080" cy="914400"/>
          </a:xfrm>
          <a:prstGeom prst="rect">
            <a:avLst/>
          </a:prstGeom>
          <a:noFill/>
          <a:ln/>
        </p:spPr>
        <p:txBody>
          <a:bodyPr wrap="square" lIns="0" tIns="0" rIns="0" bIns="0" rtlCol="0" anchor="t"/>
          <a:lstStyle/>
          <a:p>
            <a:pPr indent="0" marL="0">
              <a:buNone/>
            </a:pPr>
            <a:r>
              <a:rPr lang="en-US" sz="1500" i="1" dirty="0">
                <a:solidFill>
                  <a:srgbClr val="0F172A"/>
                </a:solidFill>
                <a:latin typeface="Calibri" pitchFamily="34" charset="0"/>
                <a:ea typeface="Calibri" pitchFamily="34" charset="-122"/>
                <a:cs typeface="Calibri" pitchFamily="34" charset="-120"/>
              </a:rPr>
              <a:t>Why: real-world audio is messy. A detector trained only on clean studio recordings breaks as soon as it hears a phone call.</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Step 2: Look at the sound in two different ways</a:t>
            </a:r>
            <a:endParaRPr lang="en-US" sz="3200" dirty="0"/>
          </a:p>
        </p:txBody>
      </p:sp>
      <p:pic>
        <p:nvPicPr>
          <p:cNvPr id="3" name="Image 0" descr="D:\Claude\deepshield-package\deliverables\_work\figs\two_views_genuine_vs_fake.png">    </p:cNvPr>
          <p:cNvPicPr>
            <a:picLocks noChangeAspect="1"/>
          </p:cNvPicPr>
          <p:nvPr/>
        </p:nvPicPr>
        <p:blipFill>
          <a:blip r:embed="rId1"/>
          <a:stretch>
            <a:fillRect/>
          </a:stretch>
        </p:blipFill>
        <p:spPr>
          <a:xfrm>
            <a:off x="548640" y="1244346"/>
            <a:ext cx="7040880" cy="3637788"/>
          </a:xfrm>
          <a:prstGeom prst="rect">
            <a:avLst/>
          </a:prstGeom>
        </p:spPr>
      </p:pic>
      <p:sp>
        <p:nvSpPr>
          <p:cNvPr id="4" name="Shape 1"/>
          <p:cNvSpPr/>
          <p:nvPr/>
        </p:nvSpPr>
        <p:spPr>
          <a:xfrm>
            <a:off x="7863840" y="1234440"/>
            <a:ext cx="3749040" cy="1691640"/>
          </a:xfrm>
          <a:prstGeom prst="roundRect">
            <a:avLst>
              <a:gd name="adj" fmla="val 6486"/>
            </a:avLst>
          </a:prstGeom>
          <a:solidFill>
            <a:srgbClr val="F1F5F9"/>
          </a:solidFill>
          <a:ln/>
        </p:spPr>
      </p:sp>
      <p:sp>
        <p:nvSpPr>
          <p:cNvPr id="5" name="Text 2"/>
          <p:cNvSpPr txBox="1"/>
          <p:nvPr/>
        </p:nvSpPr>
        <p:spPr>
          <a:xfrm>
            <a:off x="8046720" y="1371600"/>
            <a:ext cx="3383280" cy="365760"/>
          </a:xfrm>
          <a:prstGeom prst="rect">
            <a:avLst/>
          </a:prstGeom>
          <a:noFill/>
          <a:ln/>
        </p:spPr>
        <p:txBody>
          <a:bodyPr wrap="square" lIns="0" tIns="0" rIns="0" bIns="0" rtlCol="0" anchor="t"/>
          <a:lstStyle/>
          <a:p>
            <a:pPr indent="0" marL="0">
              <a:buNone/>
            </a:pPr>
            <a:r>
              <a:rPr lang="en-US" sz="1600" b="1" dirty="0">
                <a:solidFill>
                  <a:srgbClr val="0D9488"/>
                </a:solidFill>
                <a:latin typeface="Calibri" pitchFamily="34" charset="0"/>
                <a:ea typeface="Calibri" pitchFamily="34" charset="-122"/>
                <a:cs typeface="Calibri" pitchFamily="34" charset="-120"/>
              </a:rPr>
              <a:t>View 1: Mel spectrogram</a:t>
            </a:r>
            <a:endParaRPr lang="en-US" sz="1600" dirty="0"/>
          </a:p>
        </p:txBody>
      </p:sp>
      <p:sp>
        <p:nvSpPr>
          <p:cNvPr id="6" name="Text 3"/>
          <p:cNvSpPr txBox="1"/>
          <p:nvPr/>
        </p:nvSpPr>
        <p:spPr>
          <a:xfrm>
            <a:off x="8046720" y="1764792"/>
            <a:ext cx="3383280" cy="109728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A detailed picture of the sound. Good at spotting the tiny digital ‘fingerprints’ that AI voice tools leave behind.</a:t>
            </a:r>
            <a:endParaRPr lang="en-US" sz="1400" dirty="0"/>
          </a:p>
        </p:txBody>
      </p:sp>
      <p:sp>
        <p:nvSpPr>
          <p:cNvPr id="7" name="Shape 4"/>
          <p:cNvSpPr/>
          <p:nvPr/>
        </p:nvSpPr>
        <p:spPr>
          <a:xfrm>
            <a:off x="7863840" y="3108960"/>
            <a:ext cx="3749040" cy="1691640"/>
          </a:xfrm>
          <a:prstGeom prst="roundRect">
            <a:avLst>
              <a:gd name="adj" fmla="val 6486"/>
            </a:avLst>
          </a:prstGeom>
          <a:solidFill>
            <a:srgbClr val="F1F5F9"/>
          </a:solidFill>
          <a:ln/>
        </p:spPr>
      </p:sp>
      <p:sp>
        <p:nvSpPr>
          <p:cNvPr id="8" name="Text 5"/>
          <p:cNvSpPr txBox="1"/>
          <p:nvPr/>
        </p:nvSpPr>
        <p:spPr>
          <a:xfrm>
            <a:off x="8046720" y="3246120"/>
            <a:ext cx="3383280" cy="365760"/>
          </a:xfrm>
          <a:prstGeom prst="rect">
            <a:avLst/>
          </a:prstGeom>
          <a:noFill/>
          <a:ln/>
        </p:spPr>
        <p:txBody>
          <a:bodyPr wrap="square" lIns="0" tIns="0" rIns="0" bIns="0" rtlCol="0" anchor="t"/>
          <a:lstStyle/>
          <a:p>
            <a:pPr indent="0" marL="0">
              <a:buNone/>
            </a:pPr>
            <a:r>
              <a:rPr lang="en-US" sz="1600" b="1" dirty="0">
                <a:solidFill>
                  <a:srgbClr val="0D9488"/>
                </a:solidFill>
                <a:latin typeface="Calibri" pitchFamily="34" charset="0"/>
                <a:ea typeface="Calibri" pitchFamily="34" charset="-122"/>
                <a:cs typeface="Calibri" pitchFamily="34" charset="-120"/>
              </a:rPr>
              <a:t>View 2: MFCC</a:t>
            </a:r>
            <a:endParaRPr lang="en-US" sz="1600" dirty="0"/>
          </a:p>
        </p:txBody>
      </p:sp>
      <p:sp>
        <p:nvSpPr>
          <p:cNvPr id="9" name="Text 6"/>
          <p:cNvSpPr txBox="1"/>
          <p:nvPr/>
        </p:nvSpPr>
        <p:spPr>
          <a:xfrm>
            <a:off x="8046720" y="3639312"/>
            <a:ext cx="3383280" cy="109728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A picture of the shape of the voice: how a human throat and mouth form sounds. Good at spotting voices no human body could make.</a:t>
            </a:r>
            <a:endParaRPr lang="en-US" sz="1400" dirty="0"/>
          </a:p>
        </p:txBody>
      </p:sp>
      <p:sp>
        <p:nvSpPr>
          <p:cNvPr id="10" name="Shape 7"/>
          <p:cNvSpPr/>
          <p:nvPr/>
        </p:nvSpPr>
        <p:spPr>
          <a:xfrm>
            <a:off x="548640" y="5120640"/>
            <a:ext cx="11064240" cy="960120"/>
          </a:xfrm>
          <a:prstGeom prst="roundRect">
            <a:avLst>
              <a:gd name="adj" fmla="val 11429"/>
            </a:avLst>
          </a:prstGeom>
          <a:solidFill>
            <a:srgbClr val="E6F6F4"/>
          </a:solidFill>
          <a:ln/>
        </p:spPr>
      </p:sp>
      <p:sp>
        <p:nvSpPr>
          <p:cNvPr id="11" name="Text 8"/>
          <p:cNvSpPr txBox="1"/>
          <p:nvPr/>
        </p:nvSpPr>
        <p:spPr>
          <a:xfrm>
            <a:off x="731520" y="5230368"/>
            <a:ext cx="10698480" cy="777240"/>
          </a:xfrm>
          <a:prstGeom prst="rect">
            <a:avLst/>
          </a:prstGeom>
          <a:noFill/>
          <a:ln/>
        </p:spPr>
        <p:txBody>
          <a:bodyPr wrap="square" lIns="0" tIns="0" rIns="0" bIns="0" rtlCol="0" anchor="ctr"/>
          <a:lstStyle/>
          <a:p>
            <a:pPr indent="0" marL="0">
              <a:buNone/>
            </a:pPr>
            <a:r>
              <a:rPr lang="en-US" sz="1600" i="1" dirty="0">
                <a:solidFill>
                  <a:srgbClr val="0F172A"/>
                </a:solidFill>
                <a:latin typeface="Calibri" pitchFamily="34" charset="0"/>
                <a:ea typeface="Calibri" pitchFamily="34" charset="-122"/>
                <a:cs typeface="Calibri" pitchFamily="34" charset="-120"/>
              </a:rPr>
              <a:t>Why two views: like checking a banknote under normal light and under UV light. Each view catches things the other misses, and the AI sees both together.</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Step 3: The AI builds a ‘voice fingerprint’</a:t>
            </a:r>
            <a:endParaRPr lang="en-US" sz="3200" dirty="0"/>
          </a:p>
        </p:txBody>
      </p:sp>
      <p:sp>
        <p:nvSpPr>
          <p:cNvPr id="3" name="Shape 1"/>
          <p:cNvSpPr/>
          <p:nvPr/>
        </p:nvSpPr>
        <p:spPr>
          <a:xfrm>
            <a:off x="548640" y="1463040"/>
            <a:ext cx="2468880" cy="2377440"/>
          </a:xfrm>
          <a:prstGeom prst="roundRect">
            <a:avLst>
              <a:gd name="adj" fmla="val 4615"/>
            </a:avLst>
          </a:prstGeom>
          <a:solidFill>
            <a:srgbClr val="F1F5F9"/>
          </a:solidFill>
          <a:ln/>
        </p:spPr>
      </p:sp>
      <p:sp>
        <p:nvSpPr>
          <p:cNvPr id="4" name="Shape 2"/>
          <p:cNvSpPr/>
          <p:nvPr/>
        </p:nvSpPr>
        <p:spPr>
          <a:xfrm>
            <a:off x="1325880" y="1691640"/>
            <a:ext cx="914400" cy="914400"/>
          </a:xfrm>
          <a:prstGeom prst="ellipse">
            <a:avLst/>
          </a:prstGeom>
          <a:solidFill>
            <a:srgbClr val="334155"/>
          </a:solidFill>
          <a:ln/>
        </p:spPr>
      </p:sp>
      <p:pic>
        <p:nvPicPr>
          <p:cNvPr id="5" name="Image 0" descr="preencoded.png">    </p:cNvPr>
          <p:cNvPicPr>
            <a:picLocks noChangeAspect="1"/>
          </p:cNvPicPr>
          <p:nvPr/>
        </p:nvPicPr>
        <p:blipFill>
          <a:blip r:embed="rId1"/>
          <a:stretch>
            <a:fillRect/>
          </a:stretch>
        </p:blipFill>
        <p:spPr>
          <a:xfrm>
            <a:off x="1545336" y="1911096"/>
            <a:ext cx="475488" cy="475488"/>
          </a:xfrm>
          <a:prstGeom prst="rect">
            <a:avLst/>
          </a:prstGeom>
        </p:spPr>
      </p:pic>
      <p:sp>
        <p:nvSpPr>
          <p:cNvPr id="6" name="Text 3"/>
          <p:cNvSpPr txBox="1"/>
          <p:nvPr/>
        </p:nvSpPr>
        <p:spPr>
          <a:xfrm>
            <a:off x="685800" y="2743200"/>
            <a:ext cx="2194560" cy="82296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Two pictures of the sound</a:t>
            </a:r>
            <a:endParaRPr lang="en-US" sz="1500" dirty="0"/>
          </a:p>
        </p:txBody>
      </p:sp>
      <p:sp>
        <p:nvSpPr>
          <p:cNvPr id="7" name="Shape 4"/>
          <p:cNvSpPr/>
          <p:nvPr/>
        </p:nvSpPr>
        <p:spPr>
          <a:xfrm>
            <a:off x="3108960" y="2651760"/>
            <a:ext cx="548640" cy="0"/>
          </a:xfrm>
          <a:prstGeom prst="line">
            <a:avLst/>
          </a:prstGeom>
          <a:noFill/>
          <a:ln w="25400">
            <a:solidFill>
              <a:srgbClr val="94A3B8"/>
            </a:solidFill>
            <a:prstDash val="solid"/>
            <a:tailEnd type="triangle"/>
          </a:ln>
        </p:spPr>
      </p:sp>
      <p:sp>
        <p:nvSpPr>
          <p:cNvPr id="8" name="Shape 5"/>
          <p:cNvSpPr/>
          <p:nvPr/>
        </p:nvSpPr>
        <p:spPr>
          <a:xfrm>
            <a:off x="3749040" y="1463040"/>
            <a:ext cx="3931920" cy="2377440"/>
          </a:xfrm>
          <a:prstGeom prst="roundRect">
            <a:avLst>
              <a:gd name="adj" fmla="val 4615"/>
            </a:avLst>
          </a:prstGeom>
          <a:solidFill>
            <a:srgbClr val="0F172A"/>
          </a:solidFill>
          <a:ln/>
        </p:spPr>
      </p:sp>
      <p:sp>
        <p:nvSpPr>
          <p:cNvPr id="9" name="Shape 6"/>
          <p:cNvSpPr/>
          <p:nvPr/>
        </p:nvSpPr>
        <p:spPr>
          <a:xfrm>
            <a:off x="5212080" y="1645920"/>
            <a:ext cx="1005840" cy="1005840"/>
          </a:xfrm>
          <a:prstGeom prst="ellipse">
            <a:avLst/>
          </a:prstGeom>
          <a:solidFill>
            <a:srgbClr val="0D9488"/>
          </a:solidFill>
          <a:ln/>
        </p:spPr>
      </p:sp>
      <p:pic>
        <p:nvPicPr>
          <p:cNvPr id="10" name="Image 1" descr="preencoded.png">    </p:cNvPr>
          <p:cNvPicPr>
            <a:picLocks noChangeAspect="1"/>
          </p:cNvPicPr>
          <p:nvPr/>
        </p:nvPicPr>
        <p:blipFill>
          <a:blip r:embed="rId2"/>
          <a:stretch>
            <a:fillRect/>
          </a:stretch>
        </p:blipFill>
        <p:spPr>
          <a:xfrm>
            <a:off x="5453482" y="1887322"/>
            <a:ext cx="523037" cy="523037"/>
          </a:xfrm>
          <a:prstGeom prst="rect">
            <a:avLst/>
          </a:prstGeom>
        </p:spPr>
      </p:pic>
      <p:sp>
        <p:nvSpPr>
          <p:cNvPr id="11" name="Text 7"/>
          <p:cNvSpPr txBox="1"/>
          <p:nvPr/>
        </p:nvSpPr>
        <p:spPr>
          <a:xfrm>
            <a:off x="3931920" y="2743200"/>
            <a:ext cx="3566160" cy="41148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ResNet-style network with attention</a:t>
            </a:r>
            <a:endParaRPr lang="en-US" sz="1600" dirty="0"/>
          </a:p>
        </p:txBody>
      </p:sp>
      <p:sp>
        <p:nvSpPr>
          <p:cNvPr id="12" name="Text 8"/>
          <p:cNvSpPr txBox="1"/>
          <p:nvPr/>
        </p:nvSpPr>
        <p:spPr>
          <a:xfrm>
            <a:off x="3931920" y="3154680"/>
            <a:ext cx="3566160" cy="548640"/>
          </a:xfrm>
          <a:prstGeom prst="rect">
            <a:avLst/>
          </a:prstGeom>
          <a:noFill/>
          <a:ln/>
        </p:spPr>
        <p:txBody>
          <a:bodyPr wrap="square" lIns="0" tIns="0" rIns="0" bIns="0" rtlCol="0" anchor="t"/>
          <a:lstStyle/>
          <a:p>
            <a:pPr algn="ctr" indent="0" marL="0">
              <a:buNone/>
            </a:pPr>
            <a:r>
              <a:rPr lang="en-US" sz="1300" dirty="0">
                <a:solidFill>
                  <a:srgbClr val="CBD5E1"/>
                </a:solidFill>
                <a:latin typeface="Calibri" pitchFamily="34" charset="0"/>
                <a:ea typeface="Calibri" pitchFamily="34" charset="-122"/>
                <a:cs typeface="Calibri" pitchFamily="34" charset="-120"/>
              </a:rPr>
              <a:t>About 341,000 learned settings · runs on a normal laptop</a:t>
            </a:r>
            <a:endParaRPr lang="en-US" sz="1300" dirty="0"/>
          </a:p>
        </p:txBody>
      </p:sp>
      <p:sp>
        <p:nvSpPr>
          <p:cNvPr id="13" name="Shape 9"/>
          <p:cNvSpPr/>
          <p:nvPr/>
        </p:nvSpPr>
        <p:spPr>
          <a:xfrm>
            <a:off x="7772400" y="2651760"/>
            <a:ext cx="548640" cy="0"/>
          </a:xfrm>
          <a:prstGeom prst="line">
            <a:avLst/>
          </a:prstGeom>
          <a:noFill/>
          <a:ln w="25400">
            <a:solidFill>
              <a:srgbClr val="94A3B8"/>
            </a:solidFill>
            <a:prstDash val="solid"/>
            <a:tailEnd type="triangle"/>
          </a:ln>
        </p:spPr>
      </p:sp>
      <p:sp>
        <p:nvSpPr>
          <p:cNvPr id="14" name="Shape 10"/>
          <p:cNvSpPr/>
          <p:nvPr/>
        </p:nvSpPr>
        <p:spPr>
          <a:xfrm>
            <a:off x="8412480" y="1463040"/>
            <a:ext cx="3200400" cy="2377440"/>
          </a:xfrm>
          <a:prstGeom prst="roundRect">
            <a:avLst>
              <a:gd name="adj" fmla="val 4615"/>
            </a:avLst>
          </a:prstGeom>
          <a:solidFill>
            <a:srgbClr val="F1F5F9"/>
          </a:solidFill>
          <a:ln/>
        </p:spPr>
      </p:sp>
      <p:sp>
        <p:nvSpPr>
          <p:cNvPr id="15" name="Shape 11"/>
          <p:cNvSpPr/>
          <p:nvPr/>
        </p:nvSpPr>
        <p:spPr>
          <a:xfrm>
            <a:off x="9555480" y="1691640"/>
            <a:ext cx="914400" cy="914400"/>
          </a:xfrm>
          <a:prstGeom prst="ellipse">
            <a:avLst/>
          </a:prstGeom>
          <a:solidFill>
            <a:srgbClr val="6366F1"/>
          </a:solidFill>
          <a:ln/>
        </p:spPr>
      </p:sp>
      <p:pic>
        <p:nvPicPr>
          <p:cNvPr id="16" name="Image 2" descr="preencoded.png">    </p:cNvPr>
          <p:cNvPicPr>
            <a:picLocks noChangeAspect="1"/>
          </p:cNvPicPr>
          <p:nvPr/>
        </p:nvPicPr>
        <p:blipFill>
          <a:blip r:embed="rId3"/>
          <a:stretch>
            <a:fillRect/>
          </a:stretch>
        </p:blipFill>
        <p:spPr>
          <a:xfrm>
            <a:off x="9774936" y="1911096"/>
            <a:ext cx="475488" cy="475488"/>
          </a:xfrm>
          <a:prstGeom prst="rect">
            <a:avLst/>
          </a:prstGeom>
        </p:spPr>
      </p:pic>
      <p:sp>
        <p:nvSpPr>
          <p:cNvPr id="17" name="Text 12"/>
          <p:cNvSpPr txBox="1"/>
          <p:nvPr/>
        </p:nvSpPr>
        <p:spPr>
          <a:xfrm>
            <a:off x="8549640" y="2743200"/>
            <a:ext cx="2926080" cy="82296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Voice fingerprint: 128 numbers that summarise the clip</a:t>
            </a:r>
            <a:endParaRPr lang="en-US" sz="1500" dirty="0"/>
          </a:p>
        </p:txBody>
      </p:sp>
      <p:sp>
        <p:nvSpPr>
          <p:cNvPr id="18" name="Shape 13"/>
          <p:cNvSpPr/>
          <p:nvPr/>
        </p:nvSpPr>
        <p:spPr>
          <a:xfrm>
            <a:off x="548640" y="4206240"/>
            <a:ext cx="594360" cy="594360"/>
          </a:xfrm>
          <a:prstGeom prst="ellipse">
            <a:avLst/>
          </a:prstGeom>
          <a:solidFill>
            <a:srgbClr val="0D9488"/>
          </a:solidFill>
          <a:ln/>
        </p:spPr>
      </p:sp>
      <p:pic>
        <p:nvPicPr>
          <p:cNvPr id="19" name="Image 3" descr="preencoded.png">    </p:cNvPr>
          <p:cNvPicPr>
            <a:picLocks noChangeAspect="1"/>
          </p:cNvPicPr>
          <p:nvPr/>
        </p:nvPicPr>
        <p:blipFill>
          <a:blip r:embed="rId4"/>
          <a:stretch>
            <a:fillRect/>
          </a:stretch>
        </p:blipFill>
        <p:spPr>
          <a:xfrm>
            <a:off x="691286" y="4348886"/>
            <a:ext cx="309067" cy="309067"/>
          </a:xfrm>
          <a:prstGeom prst="rect">
            <a:avLst/>
          </a:prstGeom>
        </p:spPr>
      </p:pic>
      <p:sp>
        <p:nvSpPr>
          <p:cNvPr id="20" name="Text 14"/>
          <p:cNvSpPr txBox="1"/>
          <p:nvPr/>
        </p:nvSpPr>
        <p:spPr>
          <a:xfrm>
            <a:off x="1280160" y="4187952"/>
            <a:ext cx="2834640" cy="64008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Residual network (ResNet)</a:t>
            </a:r>
            <a:endParaRPr lang="en-US" sz="1500" dirty="0"/>
          </a:p>
        </p:txBody>
      </p:sp>
      <p:sp>
        <p:nvSpPr>
          <p:cNvPr id="21" name="Text 15"/>
          <p:cNvSpPr txBox="1"/>
          <p:nvPr/>
        </p:nvSpPr>
        <p:spPr>
          <a:xfrm>
            <a:off x="1280160" y="4800600"/>
            <a:ext cx="2834640" cy="137160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 proven design for reading image-like data. Its ‘shortcut’ connections let it learn deep patterns without losing fine detail.</a:t>
            </a:r>
            <a:endParaRPr lang="en-US" sz="1300" dirty="0"/>
          </a:p>
        </p:txBody>
      </p:sp>
      <p:sp>
        <p:nvSpPr>
          <p:cNvPr id="22" name="Shape 16"/>
          <p:cNvSpPr/>
          <p:nvPr/>
        </p:nvSpPr>
        <p:spPr>
          <a:xfrm>
            <a:off x="4297680" y="4206240"/>
            <a:ext cx="594360" cy="594360"/>
          </a:xfrm>
          <a:prstGeom prst="ellipse">
            <a:avLst/>
          </a:prstGeom>
          <a:solidFill>
            <a:srgbClr val="0D9488"/>
          </a:solidFill>
          <a:ln/>
        </p:spPr>
      </p:sp>
      <p:pic>
        <p:nvPicPr>
          <p:cNvPr id="23" name="Image 4" descr="preencoded.png">    </p:cNvPr>
          <p:cNvPicPr>
            <a:picLocks noChangeAspect="1"/>
          </p:cNvPicPr>
          <p:nvPr/>
        </p:nvPicPr>
        <p:blipFill>
          <a:blip r:embed="rId5"/>
          <a:stretch>
            <a:fillRect/>
          </a:stretch>
        </p:blipFill>
        <p:spPr>
          <a:xfrm>
            <a:off x="4440326" y="4348886"/>
            <a:ext cx="309067" cy="309067"/>
          </a:xfrm>
          <a:prstGeom prst="rect">
            <a:avLst/>
          </a:prstGeom>
        </p:spPr>
      </p:pic>
      <p:sp>
        <p:nvSpPr>
          <p:cNvPr id="24" name="Text 17"/>
          <p:cNvSpPr txBox="1"/>
          <p:nvPr/>
        </p:nvSpPr>
        <p:spPr>
          <a:xfrm>
            <a:off x="5029200" y="4187952"/>
            <a:ext cx="2834640" cy="64008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Attention (‘Squeeze-and-Excitation’)</a:t>
            </a:r>
            <a:endParaRPr lang="en-US" sz="1500" dirty="0"/>
          </a:p>
        </p:txBody>
      </p:sp>
      <p:sp>
        <p:nvSpPr>
          <p:cNvPr id="25" name="Text 18"/>
          <p:cNvSpPr txBox="1"/>
          <p:nvPr/>
        </p:nvSpPr>
        <p:spPr>
          <a:xfrm>
            <a:off x="5029200" y="4800600"/>
            <a:ext cx="2834640" cy="137160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Works like a highlighter: it learns which features matter most for spotting fakes and turns those up.</a:t>
            </a:r>
            <a:endParaRPr lang="en-US" sz="1300" dirty="0"/>
          </a:p>
        </p:txBody>
      </p:sp>
      <p:sp>
        <p:nvSpPr>
          <p:cNvPr id="26" name="Shape 19"/>
          <p:cNvSpPr/>
          <p:nvPr/>
        </p:nvSpPr>
        <p:spPr>
          <a:xfrm>
            <a:off x="8046720" y="4206240"/>
            <a:ext cx="594360" cy="594360"/>
          </a:xfrm>
          <a:prstGeom prst="ellipse">
            <a:avLst/>
          </a:prstGeom>
          <a:solidFill>
            <a:srgbClr val="0D9488"/>
          </a:solidFill>
          <a:ln/>
        </p:spPr>
      </p:sp>
      <p:pic>
        <p:nvPicPr>
          <p:cNvPr id="27" name="Image 5" descr="preencoded.png">    </p:cNvPr>
          <p:cNvPicPr>
            <a:picLocks noChangeAspect="1"/>
          </p:cNvPicPr>
          <p:nvPr/>
        </p:nvPicPr>
        <p:blipFill>
          <a:blip r:embed="rId6"/>
          <a:stretch>
            <a:fillRect/>
          </a:stretch>
        </p:blipFill>
        <p:spPr>
          <a:xfrm>
            <a:off x="8189366" y="4348886"/>
            <a:ext cx="309067" cy="309067"/>
          </a:xfrm>
          <a:prstGeom prst="rect">
            <a:avLst/>
          </a:prstGeom>
        </p:spPr>
      </p:pic>
      <p:sp>
        <p:nvSpPr>
          <p:cNvPr id="28" name="Text 20"/>
          <p:cNvSpPr txBox="1"/>
          <p:nvPr/>
        </p:nvSpPr>
        <p:spPr>
          <a:xfrm>
            <a:off x="8778240" y="4187952"/>
            <a:ext cx="2834640" cy="64008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One shared fingerprint</a:t>
            </a:r>
            <a:endParaRPr lang="en-US" sz="1500" dirty="0"/>
          </a:p>
        </p:txBody>
      </p:sp>
      <p:sp>
        <p:nvSpPr>
          <p:cNvPr id="29" name="Text 21"/>
          <p:cNvSpPr txBox="1"/>
          <p:nvPr/>
        </p:nvSpPr>
        <p:spPr>
          <a:xfrm>
            <a:off x="8778240" y="4800600"/>
            <a:ext cx="2834640" cy="137160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Every specialist in the next step reads the same fingerprint, so their answers are consistent and the system stays fast.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Step 4: Four specialists judge the same fingerprint</a:t>
            </a:r>
            <a:endParaRPr lang="en-US" sz="3200" dirty="0"/>
          </a:p>
        </p:txBody>
      </p:sp>
      <p:sp>
        <p:nvSpPr>
          <p:cNvPr id="3" name="Shape 1"/>
          <p:cNvSpPr/>
          <p:nvPr/>
        </p:nvSpPr>
        <p:spPr>
          <a:xfrm>
            <a:off x="548640" y="1280160"/>
            <a:ext cx="5440680" cy="2194560"/>
          </a:xfrm>
          <a:prstGeom prst="roundRect">
            <a:avLst>
              <a:gd name="adj" fmla="val 5000"/>
            </a:avLst>
          </a:prstGeom>
          <a:solidFill>
            <a:srgbClr val="F1F5F9"/>
          </a:solidFill>
          <a:ln/>
        </p:spPr>
      </p:sp>
      <p:sp>
        <p:nvSpPr>
          <p:cNvPr id="4" name="Shape 2"/>
          <p:cNvSpPr/>
          <p:nvPr/>
        </p:nvSpPr>
        <p:spPr>
          <a:xfrm>
            <a:off x="777240" y="1554480"/>
            <a:ext cx="822960" cy="822960"/>
          </a:xfrm>
          <a:prstGeom prst="ellipse">
            <a:avLst/>
          </a:prstGeom>
          <a:solidFill>
            <a:srgbClr val="6366F1"/>
          </a:solidFill>
          <a:ln/>
        </p:spPr>
      </p:sp>
      <p:pic>
        <p:nvPicPr>
          <p:cNvPr id="5" name="Image 0" descr="preencoded.png">    </p:cNvPr>
          <p:cNvPicPr>
            <a:picLocks noChangeAspect="1"/>
          </p:cNvPicPr>
          <p:nvPr/>
        </p:nvPicPr>
        <p:blipFill>
          <a:blip r:embed="rId1"/>
          <a:stretch>
            <a:fillRect/>
          </a:stretch>
        </p:blipFill>
        <p:spPr>
          <a:xfrm>
            <a:off x="974750" y="1751990"/>
            <a:ext cx="427939" cy="427939"/>
          </a:xfrm>
          <a:prstGeom prst="rect">
            <a:avLst/>
          </a:prstGeom>
        </p:spPr>
      </p:pic>
      <p:sp>
        <p:nvSpPr>
          <p:cNvPr id="6" name="Text 3"/>
          <p:cNvSpPr txBox="1"/>
          <p:nvPr/>
        </p:nvSpPr>
        <p:spPr>
          <a:xfrm>
            <a:off x="1783080" y="1508760"/>
            <a:ext cx="4023360" cy="411480"/>
          </a:xfrm>
          <a:prstGeom prst="rect">
            <a:avLst/>
          </a:prstGeom>
          <a:noFill/>
          <a:ln/>
        </p:spPr>
        <p:txBody>
          <a:bodyPr wrap="square" lIns="0" tIns="0" rIns="0" bIns="0" rtlCol="0" anchor="t"/>
          <a:lstStyle/>
          <a:p>
            <a:pPr indent="0" marL="0">
              <a:buNone/>
            </a:pPr>
            <a:r>
              <a:rPr lang="en-US" sz="1900" b="1" dirty="0">
                <a:solidFill>
                  <a:srgbClr val="0F172A"/>
                </a:solidFill>
                <a:latin typeface="Calibri" pitchFamily="34" charset="0"/>
                <a:ea typeface="Calibri" pitchFamily="34" charset="-122"/>
                <a:cs typeface="Calibri" pitchFamily="34" charset="-120"/>
              </a:rPr>
              <a:t>Fake score</a:t>
            </a:r>
            <a:endParaRPr lang="en-US" sz="1900" dirty="0"/>
          </a:p>
        </p:txBody>
      </p:sp>
      <p:sp>
        <p:nvSpPr>
          <p:cNvPr id="7" name="Text 4"/>
          <p:cNvSpPr txBox="1"/>
          <p:nvPr/>
        </p:nvSpPr>
        <p:spPr>
          <a:xfrm>
            <a:off x="1783080" y="1938528"/>
            <a:ext cx="4023360" cy="594360"/>
          </a:xfrm>
          <a:prstGeom prst="rect">
            <a:avLst/>
          </a:prstGeom>
          <a:noFill/>
          <a:ln/>
        </p:spPr>
        <p:txBody>
          <a:bodyPr wrap="square" lIns="0" tIns="0" rIns="0" bIns="0" rtlCol="0" anchor="t"/>
          <a:lstStyle/>
          <a:p>
            <a:pPr indent="0" marL="0">
              <a:buNone/>
            </a:pPr>
            <a:r>
              <a:rPr lang="en-US" sz="1500" i="1" dirty="0">
                <a:solidFill>
                  <a:srgbClr val="6366F1"/>
                </a:solidFill>
                <a:latin typeface="Calibri" pitchFamily="34" charset="0"/>
                <a:ea typeface="Calibri" pitchFamily="34" charset="-122"/>
                <a:cs typeface="Calibri" pitchFamily="34" charset="-120"/>
              </a:rPr>
              <a:t>How likely is this to be AI-generated? (0–100%)</a:t>
            </a:r>
            <a:endParaRPr lang="en-US" sz="1500" dirty="0"/>
          </a:p>
        </p:txBody>
      </p:sp>
      <p:sp>
        <p:nvSpPr>
          <p:cNvPr id="8" name="Text 5"/>
          <p:cNvSpPr txBox="1"/>
          <p:nvPr/>
        </p:nvSpPr>
        <p:spPr>
          <a:xfrm>
            <a:off x="1783080" y="2542032"/>
            <a:ext cx="4023360" cy="9601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The core detector, trained on tens of thousands of real and AI voices.</a:t>
            </a:r>
            <a:endParaRPr lang="en-US" sz="1400" dirty="0"/>
          </a:p>
        </p:txBody>
      </p:sp>
      <p:sp>
        <p:nvSpPr>
          <p:cNvPr id="9" name="Shape 6"/>
          <p:cNvSpPr/>
          <p:nvPr/>
        </p:nvSpPr>
        <p:spPr>
          <a:xfrm>
            <a:off x="6172200" y="1280160"/>
            <a:ext cx="5440680" cy="2194560"/>
          </a:xfrm>
          <a:prstGeom prst="roundRect">
            <a:avLst>
              <a:gd name="adj" fmla="val 5000"/>
            </a:avLst>
          </a:prstGeom>
          <a:solidFill>
            <a:srgbClr val="F1F5F9"/>
          </a:solidFill>
          <a:ln/>
        </p:spPr>
      </p:sp>
      <p:sp>
        <p:nvSpPr>
          <p:cNvPr id="10" name="Shape 7"/>
          <p:cNvSpPr/>
          <p:nvPr/>
        </p:nvSpPr>
        <p:spPr>
          <a:xfrm>
            <a:off x="6400800" y="1554480"/>
            <a:ext cx="822960" cy="822960"/>
          </a:xfrm>
          <a:prstGeom prst="ellipse">
            <a:avLst/>
          </a:prstGeom>
          <a:solidFill>
            <a:srgbClr val="6366F1"/>
          </a:solidFill>
          <a:ln/>
        </p:spPr>
      </p:sp>
      <p:pic>
        <p:nvPicPr>
          <p:cNvPr id="11" name="Image 1" descr="preencoded.png">    </p:cNvPr>
          <p:cNvPicPr>
            <a:picLocks noChangeAspect="1"/>
          </p:cNvPicPr>
          <p:nvPr/>
        </p:nvPicPr>
        <p:blipFill>
          <a:blip r:embed="rId2"/>
          <a:stretch>
            <a:fillRect/>
          </a:stretch>
        </p:blipFill>
        <p:spPr>
          <a:xfrm>
            <a:off x="6598310" y="1751990"/>
            <a:ext cx="427939" cy="427939"/>
          </a:xfrm>
          <a:prstGeom prst="rect">
            <a:avLst/>
          </a:prstGeom>
        </p:spPr>
      </p:pic>
      <p:sp>
        <p:nvSpPr>
          <p:cNvPr id="12" name="Text 8"/>
          <p:cNvSpPr txBox="1"/>
          <p:nvPr/>
        </p:nvSpPr>
        <p:spPr>
          <a:xfrm>
            <a:off x="7406640" y="1508760"/>
            <a:ext cx="4023360" cy="411480"/>
          </a:xfrm>
          <a:prstGeom prst="rect">
            <a:avLst/>
          </a:prstGeom>
          <a:noFill/>
          <a:ln/>
        </p:spPr>
        <p:txBody>
          <a:bodyPr wrap="square" lIns="0" tIns="0" rIns="0" bIns="0" rtlCol="0" anchor="t"/>
          <a:lstStyle/>
          <a:p>
            <a:pPr indent="0" marL="0">
              <a:buNone/>
            </a:pPr>
            <a:r>
              <a:rPr lang="en-US" sz="1900" b="1" dirty="0">
                <a:solidFill>
                  <a:srgbClr val="0F172A"/>
                </a:solidFill>
                <a:latin typeface="Calibri" pitchFamily="34" charset="0"/>
                <a:ea typeface="Calibri" pitchFamily="34" charset="-122"/>
                <a:cs typeface="Calibri" pitchFamily="34" charset="-120"/>
              </a:rPr>
              <a:t>Attack type</a:t>
            </a:r>
            <a:endParaRPr lang="en-US" sz="1900" dirty="0"/>
          </a:p>
        </p:txBody>
      </p:sp>
      <p:sp>
        <p:nvSpPr>
          <p:cNvPr id="13" name="Text 9"/>
          <p:cNvSpPr txBox="1"/>
          <p:nvPr/>
        </p:nvSpPr>
        <p:spPr>
          <a:xfrm>
            <a:off x="7406640" y="1938528"/>
            <a:ext cx="4023360" cy="594360"/>
          </a:xfrm>
          <a:prstGeom prst="rect">
            <a:avLst/>
          </a:prstGeom>
          <a:noFill/>
          <a:ln/>
        </p:spPr>
        <p:txBody>
          <a:bodyPr wrap="square" lIns="0" tIns="0" rIns="0" bIns="0" rtlCol="0" anchor="t"/>
          <a:lstStyle/>
          <a:p>
            <a:pPr indent="0" marL="0">
              <a:buNone/>
            </a:pPr>
            <a:r>
              <a:rPr lang="en-US" sz="1500" i="1" dirty="0">
                <a:solidFill>
                  <a:srgbClr val="6366F1"/>
                </a:solidFill>
                <a:latin typeface="Calibri" pitchFamily="34" charset="0"/>
                <a:ea typeface="Calibri" pitchFamily="34" charset="-122"/>
                <a:cs typeface="Calibri" pitchFamily="34" charset="-120"/>
              </a:rPr>
              <a:t>Which family of AI tool made it?</a:t>
            </a:r>
            <a:endParaRPr lang="en-US" sz="1500" dirty="0"/>
          </a:p>
        </p:txBody>
      </p:sp>
      <p:sp>
        <p:nvSpPr>
          <p:cNvPr id="14" name="Text 10"/>
          <p:cNvSpPr txBox="1"/>
          <p:nvPr/>
        </p:nvSpPr>
        <p:spPr>
          <a:xfrm>
            <a:off x="7406640" y="2542032"/>
            <a:ext cx="4023360" cy="9601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Tells investigators what they are dealing with: 91% correct in tests.</a:t>
            </a:r>
            <a:endParaRPr lang="en-US" sz="1400" dirty="0"/>
          </a:p>
        </p:txBody>
      </p:sp>
      <p:sp>
        <p:nvSpPr>
          <p:cNvPr id="15" name="Shape 11"/>
          <p:cNvSpPr/>
          <p:nvPr/>
        </p:nvSpPr>
        <p:spPr>
          <a:xfrm>
            <a:off x="548640" y="3611880"/>
            <a:ext cx="5440680" cy="2194560"/>
          </a:xfrm>
          <a:prstGeom prst="roundRect">
            <a:avLst>
              <a:gd name="adj" fmla="val 5000"/>
            </a:avLst>
          </a:prstGeom>
          <a:solidFill>
            <a:srgbClr val="F1F5F9"/>
          </a:solidFill>
          <a:ln/>
        </p:spPr>
      </p:sp>
      <p:sp>
        <p:nvSpPr>
          <p:cNvPr id="16" name="Shape 12"/>
          <p:cNvSpPr/>
          <p:nvPr/>
        </p:nvSpPr>
        <p:spPr>
          <a:xfrm>
            <a:off x="777240" y="3886200"/>
            <a:ext cx="822960" cy="822960"/>
          </a:xfrm>
          <a:prstGeom prst="ellipse">
            <a:avLst/>
          </a:prstGeom>
          <a:solidFill>
            <a:srgbClr val="6366F1"/>
          </a:solidFill>
          <a:ln/>
        </p:spPr>
      </p:sp>
      <p:pic>
        <p:nvPicPr>
          <p:cNvPr id="17" name="Image 2" descr="preencoded.png">    </p:cNvPr>
          <p:cNvPicPr>
            <a:picLocks noChangeAspect="1"/>
          </p:cNvPicPr>
          <p:nvPr/>
        </p:nvPicPr>
        <p:blipFill>
          <a:blip r:embed="rId3"/>
          <a:stretch>
            <a:fillRect/>
          </a:stretch>
        </p:blipFill>
        <p:spPr>
          <a:xfrm>
            <a:off x="974750" y="4083710"/>
            <a:ext cx="427939" cy="427939"/>
          </a:xfrm>
          <a:prstGeom prst="rect">
            <a:avLst/>
          </a:prstGeom>
        </p:spPr>
      </p:pic>
      <p:sp>
        <p:nvSpPr>
          <p:cNvPr id="18" name="Text 13"/>
          <p:cNvSpPr txBox="1"/>
          <p:nvPr/>
        </p:nvSpPr>
        <p:spPr>
          <a:xfrm>
            <a:off x="1783080" y="3840480"/>
            <a:ext cx="4023360" cy="411480"/>
          </a:xfrm>
          <a:prstGeom prst="rect">
            <a:avLst/>
          </a:prstGeom>
          <a:noFill/>
          <a:ln/>
        </p:spPr>
        <p:txBody>
          <a:bodyPr wrap="square" lIns="0" tIns="0" rIns="0" bIns="0" rtlCol="0" anchor="t"/>
          <a:lstStyle/>
          <a:p>
            <a:pPr indent="0" marL="0">
              <a:buNone/>
            </a:pPr>
            <a:r>
              <a:rPr lang="en-US" sz="1900" b="1" dirty="0">
                <a:solidFill>
                  <a:srgbClr val="0F172A"/>
                </a:solidFill>
                <a:latin typeface="Calibri" pitchFamily="34" charset="0"/>
                <a:ea typeface="Calibri" pitchFamily="34" charset="-122"/>
                <a:cs typeface="Calibri" pitchFamily="34" charset="-120"/>
              </a:rPr>
              <a:t>Uncertainty</a:t>
            </a:r>
            <a:endParaRPr lang="en-US" sz="1900" dirty="0"/>
          </a:p>
        </p:txBody>
      </p:sp>
      <p:sp>
        <p:nvSpPr>
          <p:cNvPr id="19" name="Text 14"/>
          <p:cNvSpPr txBox="1"/>
          <p:nvPr/>
        </p:nvSpPr>
        <p:spPr>
          <a:xfrm>
            <a:off x="1783080" y="4270248"/>
            <a:ext cx="4023360" cy="594360"/>
          </a:xfrm>
          <a:prstGeom prst="rect">
            <a:avLst/>
          </a:prstGeom>
          <a:noFill/>
          <a:ln/>
        </p:spPr>
        <p:txBody>
          <a:bodyPr wrap="square" lIns="0" tIns="0" rIns="0" bIns="0" rtlCol="0" anchor="t"/>
          <a:lstStyle/>
          <a:p>
            <a:pPr indent="0" marL="0">
              <a:buNone/>
            </a:pPr>
            <a:r>
              <a:rPr lang="en-US" sz="1500" i="1" dirty="0">
                <a:solidFill>
                  <a:srgbClr val="6366F1"/>
                </a:solidFill>
                <a:latin typeface="Calibri" pitchFamily="34" charset="0"/>
                <a:ea typeface="Calibri" pitchFamily="34" charset="-122"/>
                <a:cs typeface="Calibri" pitchFamily="34" charset="-120"/>
              </a:rPr>
              <a:t>How sure is the system about its own answer?</a:t>
            </a:r>
            <a:endParaRPr lang="en-US" sz="1500" dirty="0"/>
          </a:p>
        </p:txBody>
      </p:sp>
      <p:sp>
        <p:nvSpPr>
          <p:cNvPr id="20" name="Text 15"/>
          <p:cNvSpPr txBox="1"/>
          <p:nvPr/>
        </p:nvSpPr>
        <p:spPr>
          <a:xfrm>
            <a:off x="1783080" y="4873752"/>
            <a:ext cx="4023360" cy="9601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It asks itself the question many times with small random variations. If the answers disagree, it is unsure.</a:t>
            </a:r>
            <a:endParaRPr lang="en-US" sz="1400" dirty="0"/>
          </a:p>
        </p:txBody>
      </p:sp>
      <p:sp>
        <p:nvSpPr>
          <p:cNvPr id="21" name="Shape 16"/>
          <p:cNvSpPr/>
          <p:nvPr/>
        </p:nvSpPr>
        <p:spPr>
          <a:xfrm>
            <a:off x="6172200" y="3611880"/>
            <a:ext cx="5440680" cy="2194560"/>
          </a:xfrm>
          <a:prstGeom prst="roundRect">
            <a:avLst>
              <a:gd name="adj" fmla="val 5000"/>
            </a:avLst>
          </a:prstGeom>
          <a:solidFill>
            <a:srgbClr val="F1F5F9"/>
          </a:solidFill>
          <a:ln/>
        </p:spPr>
      </p:sp>
      <p:sp>
        <p:nvSpPr>
          <p:cNvPr id="22" name="Shape 17"/>
          <p:cNvSpPr/>
          <p:nvPr/>
        </p:nvSpPr>
        <p:spPr>
          <a:xfrm>
            <a:off x="6400800" y="3886200"/>
            <a:ext cx="822960" cy="822960"/>
          </a:xfrm>
          <a:prstGeom prst="ellipse">
            <a:avLst/>
          </a:prstGeom>
          <a:solidFill>
            <a:srgbClr val="6366F1"/>
          </a:solidFill>
          <a:ln/>
        </p:spPr>
      </p:sp>
      <p:pic>
        <p:nvPicPr>
          <p:cNvPr id="23" name="Image 3" descr="preencoded.png">    </p:cNvPr>
          <p:cNvPicPr>
            <a:picLocks noChangeAspect="1"/>
          </p:cNvPicPr>
          <p:nvPr/>
        </p:nvPicPr>
        <p:blipFill>
          <a:blip r:embed="rId4"/>
          <a:stretch>
            <a:fillRect/>
          </a:stretch>
        </p:blipFill>
        <p:spPr>
          <a:xfrm>
            <a:off x="6598310" y="4083710"/>
            <a:ext cx="427939" cy="427939"/>
          </a:xfrm>
          <a:prstGeom prst="rect">
            <a:avLst/>
          </a:prstGeom>
        </p:spPr>
      </p:pic>
      <p:sp>
        <p:nvSpPr>
          <p:cNvPr id="24" name="Text 18"/>
          <p:cNvSpPr txBox="1"/>
          <p:nvPr/>
        </p:nvSpPr>
        <p:spPr>
          <a:xfrm>
            <a:off x="7406640" y="3840480"/>
            <a:ext cx="4023360" cy="411480"/>
          </a:xfrm>
          <a:prstGeom prst="rect">
            <a:avLst/>
          </a:prstGeom>
          <a:noFill/>
          <a:ln/>
        </p:spPr>
        <p:txBody>
          <a:bodyPr wrap="square" lIns="0" tIns="0" rIns="0" bIns="0" rtlCol="0" anchor="t"/>
          <a:lstStyle/>
          <a:p>
            <a:pPr indent="0" marL="0">
              <a:buNone/>
            </a:pPr>
            <a:r>
              <a:rPr lang="en-US" sz="1900" b="1" dirty="0">
                <a:solidFill>
                  <a:srgbClr val="0F172A"/>
                </a:solidFill>
                <a:latin typeface="Calibri" pitchFamily="34" charset="0"/>
                <a:ea typeface="Calibri" pitchFamily="34" charset="-122"/>
                <a:cs typeface="Calibri" pitchFamily="34" charset="-120"/>
              </a:rPr>
              <a:t>Novelty</a:t>
            </a:r>
            <a:endParaRPr lang="en-US" sz="1900" dirty="0"/>
          </a:p>
        </p:txBody>
      </p:sp>
      <p:sp>
        <p:nvSpPr>
          <p:cNvPr id="25" name="Text 19"/>
          <p:cNvSpPr txBox="1"/>
          <p:nvPr/>
        </p:nvSpPr>
        <p:spPr>
          <a:xfrm>
            <a:off x="7406640" y="4270248"/>
            <a:ext cx="4023360" cy="594360"/>
          </a:xfrm>
          <a:prstGeom prst="rect">
            <a:avLst/>
          </a:prstGeom>
          <a:noFill/>
          <a:ln/>
        </p:spPr>
        <p:txBody>
          <a:bodyPr wrap="square" lIns="0" tIns="0" rIns="0" bIns="0" rtlCol="0" anchor="t"/>
          <a:lstStyle/>
          <a:p>
            <a:pPr indent="0" marL="0">
              <a:buNone/>
            </a:pPr>
            <a:r>
              <a:rPr lang="en-US" sz="1500" i="1" dirty="0">
                <a:solidFill>
                  <a:srgbClr val="6366F1"/>
                </a:solidFill>
                <a:latin typeface="Calibri" pitchFamily="34" charset="0"/>
                <a:ea typeface="Calibri" pitchFamily="34" charset="-122"/>
                <a:cs typeface="Calibri" pitchFamily="34" charset="-120"/>
              </a:rPr>
              <a:t>Is this unlike the real voices it has learned?</a:t>
            </a:r>
            <a:endParaRPr lang="en-US" sz="1500" dirty="0"/>
          </a:p>
        </p:txBody>
      </p:sp>
      <p:sp>
        <p:nvSpPr>
          <p:cNvPr id="26" name="Text 20"/>
          <p:cNvSpPr txBox="1"/>
          <p:nvPr/>
        </p:nvSpPr>
        <p:spPr>
          <a:xfrm>
            <a:off x="7406640" y="4873752"/>
            <a:ext cx="4023360" cy="9601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Measures how far the fingerprint sits from known genuine voices: a warning sign for new tricks.</a:t>
            </a:r>
            <a:endParaRPr lang="en-US" sz="1400" dirty="0"/>
          </a:p>
        </p:txBody>
      </p:sp>
      <p:sp>
        <p:nvSpPr>
          <p:cNvPr id="27" name="Text 21"/>
          <p:cNvSpPr txBox="1"/>
          <p:nvPr/>
        </p:nvSpPr>
        <p:spPr>
          <a:xfrm>
            <a:off x="548640" y="5943600"/>
            <a:ext cx="10972800" cy="320040"/>
          </a:xfrm>
          <a:prstGeom prst="rect">
            <a:avLst/>
          </a:prstGeom>
          <a:noFill/>
          <a:ln/>
        </p:spPr>
        <p:txBody>
          <a:bodyPr wrap="square" lIns="0" tIns="0" rIns="0" bIns="0" rtlCol="0" anchor="t"/>
          <a:lstStyle/>
          <a:p>
            <a:pPr indent="0" marL="0">
              <a:buNone/>
            </a:pPr>
            <a:r>
              <a:rPr lang="en-US" sz="1300" i="1" dirty="0">
                <a:solidFill>
                  <a:srgbClr val="E5484D"/>
                </a:solidFill>
                <a:latin typeface="Calibri" pitchFamily="34" charset="0"/>
                <a:ea typeface="Calibri" pitchFamily="34" charset="-122"/>
                <a:cs typeface="Calibri" pitchFamily="34" charset="-120"/>
              </a:rPr>
              <a:t>On AI tools it has never seen, uncertainty and novelty add warning signs that the fake score alone misses.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Step 5: The risk gateway decides what happens next</a:t>
            </a:r>
            <a:endParaRPr lang="en-US" sz="3200" dirty="0"/>
          </a:p>
        </p:txBody>
      </p:sp>
      <p:sp>
        <p:nvSpPr>
          <p:cNvPr id="3" name="Shape 1"/>
          <p:cNvSpPr/>
          <p:nvPr/>
        </p:nvSpPr>
        <p:spPr>
          <a:xfrm>
            <a:off x="548640" y="1417320"/>
            <a:ext cx="2194560" cy="640080"/>
          </a:xfrm>
          <a:prstGeom prst="roundRect">
            <a:avLst>
              <a:gd name="adj" fmla="val 17143"/>
            </a:avLst>
          </a:prstGeom>
          <a:solidFill>
            <a:srgbClr val="F1F5F9"/>
          </a:solidFill>
          <a:ln/>
        </p:spPr>
      </p:sp>
      <p:sp>
        <p:nvSpPr>
          <p:cNvPr id="4" name="Text 2"/>
          <p:cNvSpPr txBox="1"/>
          <p:nvPr/>
        </p:nvSpPr>
        <p:spPr>
          <a:xfrm>
            <a:off x="548640" y="1417320"/>
            <a:ext cx="2194560" cy="64008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Fake score</a:t>
            </a:r>
            <a:endParaRPr lang="en-US" sz="1500" dirty="0"/>
          </a:p>
        </p:txBody>
      </p:sp>
      <p:sp>
        <p:nvSpPr>
          <p:cNvPr id="5" name="Shape 3"/>
          <p:cNvSpPr/>
          <p:nvPr/>
        </p:nvSpPr>
        <p:spPr>
          <a:xfrm>
            <a:off x="2788920" y="1737360"/>
            <a:ext cx="502920" cy="0"/>
          </a:xfrm>
          <a:prstGeom prst="line">
            <a:avLst/>
          </a:prstGeom>
          <a:noFill/>
          <a:ln w="25400">
            <a:solidFill>
              <a:srgbClr val="94A3B8"/>
            </a:solidFill>
            <a:prstDash val="solid"/>
            <a:tailEnd type="triangle"/>
          </a:ln>
        </p:spPr>
      </p:sp>
      <p:sp>
        <p:nvSpPr>
          <p:cNvPr id="6" name="Shape 4"/>
          <p:cNvSpPr/>
          <p:nvPr/>
        </p:nvSpPr>
        <p:spPr>
          <a:xfrm>
            <a:off x="548640" y="2286000"/>
            <a:ext cx="2194560" cy="640080"/>
          </a:xfrm>
          <a:prstGeom prst="roundRect">
            <a:avLst>
              <a:gd name="adj" fmla="val 17143"/>
            </a:avLst>
          </a:prstGeom>
          <a:solidFill>
            <a:srgbClr val="F1F5F9"/>
          </a:solidFill>
          <a:ln/>
        </p:spPr>
      </p:sp>
      <p:sp>
        <p:nvSpPr>
          <p:cNvPr id="7" name="Text 5"/>
          <p:cNvSpPr txBox="1"/>
          <p:nvPr/>
        </p:nvSpPr>
        <p:spPr>
          <a:xfrm>
            <a:off x="548640" y="2286000"/>
            <a:ext cx="2194560" cy="64008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Attack type</a:t>
            </a:r>
            <a:endParaRPr lang="en-US" sz="1500" dirty="0"/>
          </a:p>
        </p:txBody>
      </p:sp>
      <p:sp>
        <p:nvSpPr>
          <p:cNvPr id="8" name="Shape 6"/>
          <p:cNvSpPr/>
          <p:nvPr/>
        </p:nvSpPr>
        <p:spPr>
          <a:xfrm>
            <a:off x="2788920" y="2606040"/>
            <a:ext cx="502920" cy="0"/>
          </a:xfrm>
          <a:prstGeom prst="line">
            <a:avLst/>
          </a:prstGeom>
          <a:noFill/>
          <a:ln w="25400">
            <a:solidFill>
              <a:srgbClr val="94A3B8"/>
            </a:solidFill>
            <a:prstDash val="solid"/>
            <a:tailEnd type="triangle"/>
          </a:ln>
        </p:spPr>
      </p:sp>
      <p:sp>
        <p:nvSpPr>
          <p:cNvPr id="9" name="Shape 7"/>
          <p:cNvSpPr/>
          <p:nvPr/>
        </p:nvSpPr>
        <p:spPr>
          <a:xfrm>
            <a:off x="548640" y="3154680"/>
            <a:ext cx="2194560" cy="640080"/>
          </a:xfrm>
          <a:prstGeom prst="roundRect">
            <a:avLst>
              <a:gd name="adj" fmla="val 17143"/>
            </a:avLst>
          </a:prstGeom>
          <a:solidFill>
            <a:srgbClr val="F1F5F9"/>
          </a:solidFill>
          <a:ln/>
        </p:spPr>
      </p:sp>
      <p:sp>
        <p:nvSpPr>
          <p:cNvPr id="10" name="Text 8"/>
          <p:cNvSpPr txBox="1"/>
          <p:nvPr/>
        </p:nvSpPr>
        <p:spPr>
          <a:xfrm>
            <a:off x="548640" y="3154680"/>
            <a:ext cx="2194560" cy="64008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Uncertainty</a:t>
            </a:r>
            <a:endParaRPr lang="en-US" sz="1500" dirty="0"/>
          </a:p>
        </p:txBody>
      </p:sp>
      <p:sp>
        <p:nvSpPr>
          <p:cNvPr id="11" name="Shape 9"/>
          <p:cNvSpPr/>
          <p:nvPr/>
        </p:nvSpPr>
        <p:spPr>
          <a:xfrm>
            <a:off x="2788920" y="3474720"/>
            <a:ext cx="502920" cy="0"/>
          </a:xfrm>
          <a:prstGeom prst="line">
            <a:avLst/>
          </a:prstGeom>
          <a:noFill/>
          <a:ln w="25400">
            <a:solidFill>
              <a:srgbClr val="94A3B8"/>
            </a:solidFill>
            <a:prstDash val="solid"/>
            <a:tailEnd type="triangle"/>
          </a:ln>
        </p:spPr>
      </p:sp>
      <p:sp>
        <p:nvSpPr>
          <p:cNvPr id="12" name="Shape 10"/>
          <p:cNvSpPr/>
          <p:nvPr/>
        </p:nvSpPr>
        <p:spPr>
          <a:xfrm>
            <a:off x="548640" y="4023360"/>
            <a:ext cx="2194560" cy="640080"/>
          </a:xfrm>
          <a:prstGeom prst="roundRect">
            <a:avLst>
              <a:gd name="adj" fmla="val 17143"/>
            </a:avLst>
          </a:prstGeom>
          <a:solidFill>
            <a:srgbClr val="F1F5F9"/>
          </a:solidFill>
          <a:ln/>
        </p:spPr>
      </p:sp>
      <p:sp>
        <p:nvSpPr>
          <p:cNvPr id="13" name="Text 11"/>
          <p:cNvSpPr txBox="1"/>
          <p:nvPr/>
        </p:nvSpPr>
        <p:spPr>
          <a:xfrm>
            <a:off x="548640" y="4023360"/>
            <a:ext cx="2194560" cy="64008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Novelty</a:t>
            </a:r>
            <a:endParaRPr lang="en-US" sz="1500" dirty="0"/>
          </a:p>
        </p:txBody>
      </p:sp>
      <p:sp>
        <p:nvSpPr>
          <p:cNvPr id="14" name="Shape 12"/>
          <p:cNvSpPr/>
          <p:nvPr/>
        </p:nvSpPr>
        <p:spPr>
          <a:xfrm>
            <a:off x="2788920" y="4343400"/>
            <a:ext cx="502920" cy="0"/>
          </a:xfrm>
          <a:prstGeom prst="line">
            <a:avLst/>
          </a:prstGeom>
          <a:noFill/>
          <a:ln w="25400">
            <a:solidFill>
              <a:srgbClr val="94A3B8"/>
            </a:solidFill>
            <a:prstDash val="solid"/>
            <a:tailEnd type="triangle"/>
          </a:ln>
        </p:spPr>
      </p:sp>
      <p:sp>
        <p:nvSpPr>
          <p:cNvPr id="15" name="Shape 13"/>
          <p:cNvSpPr/>
          <p:nvPr/>
        </p:nvSpPr>
        <p:spPr>
          <a:xfrm>
            <a:off x="3383280" y="1325880"/>
            <a:ext cx="3291840" cy="3520440"/>
          </a:xfrm>
          <a:prstGeom prst="roundRect">
            <a:avLst>
              <a:gd name="adj" fmla="val 3333"/>
            </a:avLst>
          </a:prstGeom>
          <a:solidFill>
            <a:srgbClr val="0F172A"/>
          </a:solidFill>
          <a:ln/>
        </p:spPr>
      </p:sp>
      <p:sp>
        <p:nvSpPr>
          <p:cNvPr id="16" name="Shape 14"/>
          <p:cNvSpPr/>
          <p:nvPr/>
        </p:nvSpPr>
        <p:spPr>
          <a:xfrm>
            <a:off x="4617720" y="1554480"/>
            <a:ext cx="822960" cy="822960"/>
          </a:xfrm>
          <a:prstGeom prst="ellipse">
            <a:avLst/>
          </a:prstGeom>
          <a:solidFill>
            <a:srgbClr val="0D9488"/>
          </a:solidFill>
          <a:ln/>
        </p:spPr>
      </p:sp>
      <p:pic>
        <p:nvPicPr>
          <p:cNvPr id="17" name="Image 0" descr="preencoded.png">    </p:cNvPr>
          <p:cNvPicPr>
            <a:picLocks noChangeAspect="1"/>
          </p:cNvPicPr>
          <p:nvPr/>
        </p:nvPicPr>
        <p:blipFill>
          <a:blip r:embed="rId1"/>
          <a:stretch>
            <a:fillRect/>
          </a:stretch>
        </p:blipFill>
        <p:spPr>
          <a:xfrm>
            <a:off x="4815230" y="1751990"/>
            <a:ext cx="427939" cy="427939"/>
          </a:xfrm>
          <a:prstGeom prst="rect">
            <a:avLst/>
          </a:prstGeom>
        </p:spPr>
      </p:pic>
      <p:sp>
        <p:nvSpPr>
          <p:cNvPr id="18" name="Text 15"/>
          <p:cNvSpPr txBox="1"/>
          <p:nvPr/>
        </p:nvSpPr>
        <p:spPr>
          <a:xfrm>
            <a:off x="3520440" y="2468880"/>
            <a:ext cx="3017520" cy="411480"/>
          </a:xfrm>
          <a:prstGeom prst="rect">
            <a:avLst/>
          </a:prstGeom>
          <a:noFill/>
          <a:ln/>
        </p:spPr>
        <p:txBody>
          <a:bodyPr wrap="square" lIns="0" tIns="0" rIns="0" bIns="0" rtlCol="0" anchor="t"/>
          <a:lstStyle/>
          <a:p>
            <a:pPr algn="ctr" indent="0" marL="0">
              <a:buNone/>
            </a:pPr>
            <a:r>
              <a:rPr lang="en-US" sz="1900" b="1" dirty="0">
                <a:solidFill>
                  <a:srgbClr val="FFFFFF"/>
                </a:solidFill>
                <a:latin typeface="Calibri" pitchFamily="34" charset="0"/>
                <a:ea typeface="Calibri" pitchFamily="34" charset="-122"/>
                <a:cs typeface="Calibri" pitchFamily="34" charset="-120"/>
              </a:rPr>
              <a:t>Risk gateway</a:t>
            </a:r>
            <a:endParaRPr lang="en-US" sz="1900" dirty="0"/>
          </a:p>
        </p:txBody>
      </p:sp>
      <p:sp>
        <p:nvSpPr>
          <p:cNvPr id="19" name="Text 16"/>
          <p:cNvSpPr txBox="1"/>
          <p:nvPr/>
        </p:nvSpPr>
        <p:spPr>
          <a:xfrm>
            <a:off x="3611880" y="2971800"/>
            <a:ext cx="29260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Unfamiliar or unsure? → a person checks it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Clearly real → pass</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Clearly AI → block</a:t>
            </a:r>
            <a:endParaRPr lang="en-US" sz="1400" dirty="0"/>
          </a:p>
        </p:txBody>
      </p:sp>
      <p:sp>
        <p:nvSpPr>
          <p:cNvPr id="20" name="Shape 17"/>
          <p:cNvSpPr/>
          <p:nvPr/>
        </p:nvSpPr>
        <p:spPr>
          <a:xfrm>
            <a:off x="6766560" y="1874520"/>
            <a:ext cx="502920" cy="0"/>
          </a:xfrm>
          <a:prstGeom prst="line">
            <a:avLst/>
          </a:prstGeom>
          <a:noFill/>
          <a:ln w="25400">
            <a:solidFill>
              <a:srgbClr val="94A3B8"/>
            </a:solidFill>
            <a:prstDash val="solid"/>
            <a:tailEnd type="triangle"/>
          </a:ln>
        </p:spPr>
      </p:sp>
      <p:sp>
        <p:nvSpPr>
          <p:cNvPr id="21" name="Shape 18"/>
          <p:cNvSpPr/>
          <p:nvPr/>
        </p:nvSpPr>
        <p:spPr>
          <a:xfrm>
            <a:off x="7360920" y="1417320"/>
            <a:ext cx="4251960" cy="960120"/>
          </a:xfrm>
          <a:prstGeom prst="roundRect">
            <a:avLst>
              <a:gd name="adj" fmla="val 11429"/>
            </a:avLst>
          </a:prstGeom>
          <a:solidFill>
            <a:srgbClr val="FFFFFF"/>
          </a:solidFill>
          <a:ln w="25400">
            <a:solidFill>
              <a:srgbClr val="10B981"/>
            </a:solidFill>
            <a:prstDash val="solid"/>
          </a:ln>
        </p:spPr>
      </p:sp>
      <p:sp>
        <p:nvSpPr>
          <p:cNvPr id="22" name="Shape 19"/>
          <p:cNvSpPr/>
          <p:nvPr/>
        </p:nvSpPr>
        <p:spPr>
          <a:xfrm>
            <a:off x="7498080" y="1554480"/>
            <a:ext cx="685800" cy="685800"/>
          </a:xfrm>
          <a:prstGeom prst="ellipse">
            <a:avLst/>
          </a:prstGeom>
          <a:solidFill>
            <a:srgbClr val="10B981"/>
          </a:solidFill>
          <a:ln/>
        </p:spPr>
      </p:sp>
      <p:pic>
        <p:nvPicPr>
          <p:cNvPr id="23" name="Image 1" descr="preencoded.png">    </p:cNvPr>
          <p:cNvPicPr>
            <a:picLocks noChangeAspect="1"/>
          </p:cNvPicPr>
          <p:nvPr/>
        </p:nvPicPr>
        <p:blipFill>
          <a:blip r:embed="rId2"/>
          <a:stretch>
            <a:fillRect/>
          </a:stretch>
        </p:blipFill>
        <p:spPr>
          <a:xfrm>
            <a:off x="7662672" y="1719072"/>
            <a:ext cx="356616" cy="356616"/>
          </a:xfrm>
          <a:prstGeom prst="rect">
            <a:avLst/>
          </a:prstGeom>
        </p:spPr>
      </p:pic>
      <p:sp>
        <p:nvSpPr>
          <p:cNvPr id="24" name="Text 20"/>
          <p:cNvSpPr txBox="1"/>
          <p:nvPr/>
        </p:nvSpPr>
        <p:spPr>
          <a:xfrm>
            <a:off x="8321040" y="1527048"/>
            <a:ext cx="3108960" cy="36576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Pass</a:t>
            </a:r>
            <a:endParaRPr lang="en-US" sz="1700" dirty="0"/>
          </a:p>
        </p:txBody>
      </p:sp>
      <p:sp>
        <p:nvSpPr>
          <p:cNvPr id="25" name="Text 21"/>
          <p:cNvSpPr txBox="1"/>
          <p:nvPr/>
        </p:nvSpPr>
        <p:spPr>
          <a:xfrm>
            <a:off x="8321040" y="1920240"/>
            <a:ext cx="3108960" cy="36576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Automatic clearance</a:t>
            </a:r>
            <a:endParaRPr lang="en-US" sz="1400" dirty="0"/>
          </a:p>
        </p:txBody>
      </p:sp>
      <p:sp>
        <p:nvSpPr>
          <p:cNvPr id="26" name="Shape 22"/>
          <p:cNvSpPr/>
          <p:nvPr/>
        </p:nvSpPr>
        <p:spPr>
          <a:xfrm>
            <a:off x="6766560" y="3063240"/>
            <a:ext cx="502920" cy="0"/>
          </a:xfrm>
          <a:prstGeom prst="line">
            <a:avLst/>
          </a:prstGeom>
          <a:noFill/>
          <a:ln w="25400">
            <a:solidFill>
              <a:srgbClr val="94A3B8"/>
            </a:solidFill>
            <a:prstDash val="solid"/>
            <a:tailEnd type="triangle"/>
          </a:ln>
        </p:spPr>
      </p:sp>
      <p:sp>
        <p:nvSpPr>
          <p:cNvPr id="27" name="Shape 23"/>
          <p:cNvSpPr/>
          <p:nvPr/>
        </p:nvSpPr>
        <p:spPr>
          <a:xfrm>
            <a:off x="7360920" y="2606040"/>
            <a:ext cx="4251960" cy="960120"/>
          </a:xfrm>
          <a:prstGeom prst="roundRect">
            <a:avLst>
              <a:gd name="adj" fmla="val 11429"/>
            </a:avLst>
          </a:prstGeom>
          <a:solidFill>
            <a:srgbClr val="FFFFFF"/>
          </a:solidFill>
          <a:ln w="25400">
            <a:solidFill>
              <a:srgbClr val="F59E0B"/>
            </a:solidFill>
            <a:prstDash val="solid"/>
          </a:ln>
        </p:spPr>
      </p:sp>
      <p:sp>
        <p:nvSpPr>
          <p:cNvPr id="28" name="Shape 24"/>
          <p:cNvSpPr/>
          <p:nvPr/>
        </p:nvSpPr>
        <p:spPr>
          <a:xfrm>
            <a:off x="7498080" y="2743200"/>
            <a:ext cx="685800" cy="685800"/>
          </a:xfrm>
          <a:prstGeom prst="ellipse">
            <a:avLst/>
          </a:prstGeom>
          <a:solidFill>
            <a:srgbClr val="F59E0B"/>
          </a:solidFill>
          <a:ln/>
        </p:spPr>
      </p:sp>
      <p:pic>
        <p:nvPicPr>
          <p:cNvPr id="29" name="Image 2" descr="preencoded.png">    </p:cNvPr>
          <p:cNvPicPr>
            <a:picLocks noChangeAspect="1"/>
          </p:cNvPicPr>
          <p:nvPr/>
        </p:nvPicPr>
        <p:blipFill>
          <a:blip r:embed="rId3"/>
          <a:stretch>
            <a:fillRect/>
          </a:stretch>
        </p:blipFill>
        <p:spPr>
          <a:xfrm>
            <a:off x="7662672" y="2907792"/>
            <a:ext cx="356616" cy="356616"/>
          </a:xfrm>
          <a:prstGeom prst="rect">
            <a:avLst/>
          </a:prstGeom>
        </p:spPr>
      </p:pic>
      <p:sp>
        <p:nvSpPr>
          <p:cNvPr id="30" name="Text 25"/>
          <p:cNvSpPr txBox="1"/>
          <p:nvPr/>
        </p:nvSpPr>
        <p:spPr>
          <a:xfrm>
            <a:off x="8321040" y="2715768"/>
            <a:ext cx="3108960" cy="365760"/>
          </a:xfrm>
          <a:prstGeom prst="rect">
            <a:avLst/>
          </a:prstGeom>
          <a:noFill/>
          <a:ln/>
        </p:spPr>
        <p:txBody>
          <a:bodyPr wrap="square" lIns="0" tIns="0" rIns="0" bIns="0" rtlCol="0" anchor="t"/>
          <a:lstStyle/>
          <a:p>
            <a:pPr indent="0" marL="0">
              <a:buNone/>
            </a:pPr>
            <a:r>
              <a:rPr lang="en-US" sz="1700" b="1" dirty="0">
                <a:solidFill>
                  <a:srgbClr val="F59E0B"/>
                </a:solidFill>
                <a:latin typeface="Calibri" pitchFamily="34" charset="0"/>
                <a:ea typeface="Calibri" pitchFamily="34" charset="-122"/>
                <a:cs typeface="Calibri" pitchFamily="34" charset="-120"/>
              </a:rPr>
              <a:t>Human review</a:t>
            </a:r>
            <a:endParaRPr lang="en-US" sz="1700" dirty="0"/>
          </a:p>
        </p:txBody>
      </p:sp>
      <p:sp>
        <p:nvSpPr>
          <p:cNvPr id="31" name="Text 26"/>
          <p:cNvSpPr txBox="1"/>
          <p:nvPr/>
        </p:nvSpPr>
        <p:spPr>
          <a:xfrm>
            <a:off x="8321040" y="3108960"/>
            <a:ext cx="3108960" cy="36576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~15% of genuine calls</a:t>
            </a:r>
            <a:endParaRPr lang="en-US" sz="1400" dirty="0"/>
          </a:p>
        </p:txBody>
      </p:sp>
      <p:sp>
        <p:nvSpPr>
          <p:cNvPr id="32" name="Shape 27"/>
          <p:cNvSpPr/>
          <p:nvPr/>
        </p:nvSpPr>
        <p:spPr>
          <a:xfrm>
            <a:off x="6766560" y="4251960"/>
            <a:ext cx="502920" cy="0"/>
          </a:xfrm>
          <a:prstGeom prst="line">
            <a:avLst/>
          </a:prstGeom>
          <a:noFill/>
          <a:ln w="25400">
            <a:solidFill>
              <a:srgbClr val="94A3B8"/>
            </a:solidFill>
            <a:prstDash val="solid"/>
            <a:tailEnd type="triangle"/>
          </a:ln>
        </p:spPr>
      </p:sp>
      <p:sp>
        <p:nvSpPr>
          <p:cNvPr id="33" name="Shape 28"/>
          <p:cNvSpPr/>
          <p:nvPr/>
        </p:nvSpPr>
        <p:spPr>
          <a:xfrm>
            <a:off x="7360920" y="3794760"/>
            <a:ext cx="4251960" cy="960120"/>
          </a:xfrm>
          <a:prstGeom prst="roundRect">
            <a:avLst>
              <a:gd name="adj" fmla="val 11429"/>
            </a:avLst>
          </a:prstGeom>
          <a:solidFill>
            <a:srgbClr val="FFFFFF"/>
          </a:solidFill>
          <a:ln w="25400">
            <a:solidFill>
              <a:srgbClr val="E5484D"/>
            </a:solidFill>
            <a:prstDash val="solid"/>
          </a:ln>
        </p:spPr>
      </p:sp>
      <p:sp>
        <p:nvSpPr>
          <p:cNvPr id="34" name="Shape 29"/>
          <p:cNvSpPr/>
          <p:nvPr/>
        </p:nvSpPr>
        <p:spPr>
          <a:xfrm>
            <a:off x="7498080" y="3931920"/>
            <a:ext cx="685800" cy="685800"/>
          </a:xfrm>
          <a:prstGeom prst="ellipse">
            <a:avLst/>
          </a:prstGeom>
          <a:solidFill>
            <a:srgbClr val="E5484D"/>
          </a:solidFill>
          <a:ln/>
        </p:spPr>
      </p:sp>
      <p:pic>
        <p:nvPicPr>
          <p:cNvPr id="35" name="Image 3" descr="preencoded.png">    </p:cNvPr>
          <p:cNvPicPr>
            <a:picLocks noChangeAspect="1"/>
          </p:cNvPicPr>
          <p:nvPr/>
        </p:nvPicPr>
        <p:blipFill>
          <a:blip r:embed="rId4"/>
          <a:stretch>
            <a:fillRect/>
          </a:stretch>
        </p:blipFill>
        <p:spPr>
          <a:xfrm>
            <a:off x="7662672" y="4096512"/>
            <a:ext cx="356616" cy="356616"/>
          </a:xfrm>
          <a:prstGeom prst="rect">
            <a:avLst/>
          </a:prstGeom>
        </p:spPr>
      </p:pic>
      <p:sp>
        <p:nvSpPr>
          <p:cNvPr id="36" name="Text 30"/>
          <p:cNvSpPr txBox="1"/>
          <p:nvPr/>
        </p:nvSpPr>
        <p:spPr>
          <a:xfrm>
            <a:off x="8321040" y="3904488"/>
            <a:ext cx="3108960" cy="365760"/>
          </a:xfrm>
          <a:prstGeom prst="rect">
            <a:avLst/>
          </a:prstGeom>
          <a:noFill/>
          <a:ln/>
        </p:spPr>
        <p:txBody>
          <a:bodyPr wrap="square" lIns="0" tIns="0" rIns="0" bIns="0" rtlCol="0" anchor="t"/>
          <a:lstStyle/>
          <a:p>
            <a:pPr indent="0" marL="0">
              <a:buNone/>
            </a:pPr>
            <a:r>
              <a:rPr lang="en-US" sz="1700" b="1" dirty="0">
                <a:solidFill>
                  <a:srgbClr val="E5484D"/>
                </a:solidFill>
                <a:latin typeface="Calibri" pitchFamily="34" charset="0"/>
                <a:ea typeface="Calibri" pitchFamily="34" charset="-122"/>
                <a:cs typeface="Calibri" pitchFamily="34" charset="-120"/>
              </a:rPr>
              <a:t>Block</a:t>
            </a:r>
            <a:endParaRPr lang="en-US" sz="1700" dirty="0"/>
          </a:p>
        </p:txBody>
      </p:sp>
      <p:sp>
        <p:nvSpPr>
          <p:cNvPr id="37" name="Text 31"/>
          <p:cNvSpPr txBox="1"/>
          <p:nvPr/>
        </p:nvSpPr>
        <p:spPr>
          <a:xfrm>
            <a:off x="8321040" y="4297680"/>
            <a:ext cx="3108960" cy="36576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Automatic stop</a:t>
            </a:r>
            <a:endParaRPr lang="en-US" sz="1400" dirty="0"/>
          </a:p>
        </p:txBody>
      </p:sp>
      <p:sp>
        <p:nvSpPr>
          <p:cNvPr id="38" name="Shape 32"/>
          <p:cNvSpPr/>
          <p:nvPr/>
        </p:nvSpPr>
        <p:spPr>
          <a:xfrm>
            <a:off x="548640" y="5120640"/>
            <a:ext cx="11064240" cy="960120"/>
          </a:xfrm>
          <a:prstGeom prst="roundRect">
            <a:avLst>
              <a:gd name="adj" fmla="val 11429"/>
            </a:avLst>
          </a:prstGeom>
          <a:solidFill>
            <a:srgbClr val="E6F6F4"/>
          </a:solidFill>
          <a:ln/>
        </p:spPr>
      </p:sp>
      <p:sp>
        <p:nvSpPr>
          <p:cNvPr id="39" name="Text 33"/>
          <p:cNvSpPr txBox="1"/>
          <p:nvPr/>
        </p:nvSpPr>
        <p:spPr>
          <a:xfrm>
            <a:off x="731520" y="5193792"/>
            <a:ext cx="10698480" cy="822960"/>
          </a:xfrm>
          <a:prstGeom prst="rect">
            <a:avLst/>
          </a:prstGeom>
          <a:noFill/>
          <a:ln/>
        </p:spPr>
        <p:txBody>
          <a:bodyPr wrap="square" lIns="0" tIns="0" rIns="0" bIns="0" rtlCol="0" anchor="ctr"/>
          <a:lstStyle/>
          <a:p>
            <a:pPr indent="0" marL="0">
              <a:buNone/>
            </a:pPr>
            <a:r>
              <a:rPr lang="en-US" sz="1500" i="1" dirty="0">
                <a:solidFill>
                  <a:srgbClr val="0F172A"/>
                </a:solidFill>
                <a:latin typeface="Calibri" pitchFamily="34" charset="0"/>
                <a:ea typeface="Calibri" pitchFamily="34" charset="-122"/>
                <a:cs typeface="Calibri" pitchFamily="34" charset="-120"/>
              </a:rPr>
              <a:t>Why: a system that always guesses ‘real’ or ‘fake’ will be confidently wrong on new tricks. The gateway sends the hard cases to people, and we tuned it so only about 15% of genuine calls need a human look.</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Step 6: Every decision comes with a reason</a:t>
            </a:r>
            <a:endParaRPr lang="en-US" sz="3200" dirty="0"/>
          </a:p>
        </p:txBody>
      </p:sp>
      <p:sp>
        <p:nvSpPr>
          <p:cNvPr id="3" name="Shape 1"/>
          <p:cNvSpPr/>
          <p:nvPr/>
        </p:nvSpPr>
        <p:spPr>
          <a:xfrm>
            <a:off x="548640" y="1234440"/>
            <a:ext cx="5669280" cy="4937760"/>
          </a:xfrm>
          <a:prstGeom prst="roundRect">
            <a:avLst>
              <a:gd name="adj" fmla="val 2222"/>
            </a:avLst>
          </a:prstGeom>
          <a:solidFill>
            <a:srgbClr val="1C1C1C"/>
          </a:solidFill>
          <a:ln/>
        </p:spPr>
      </p:sp>
      <p:pic>
        <p:nvPicPr>
          <p:cNvPr id="4" name="Image 0" descr="D:\Claude\deepshield-package\deliverables\_work\screens\result_deepfake_block_card.png">    </p:cNvPr>
          <p:cNvPicPr>
            <a:picLocks noChangeAspect="1"/>
          </p:cNvPicPr>
          <p:nvPr/>
        </p:nvPicPr>
        <p:blipFill>
          <a:blip r:embed="rId1"/>
          <a:stretch>
            <a:fillRect/>
          </a:stretch>
        </p:blipFill>
        <p:spPr>
          <a:xfrm>
            <a:off x="1298795" y="1325880"/>
            <a:ext cx="4168971" cy="4754880"/>
          </a:xfrm>
          <a:prstGeom prst="rect">
            <a:avLst/>
          </a:prstGeom>
        </p:spPr>
      </p:pic>
      <p:sp>
        <p:nvSpPr>
          <p:cNvPr id="5" name="Text 2"/>
          <p:cNvSpPr txBox="1"/>
          <p:nvPr/>
        </p:nvSpPr>
        <p:spPr>
          <a:xfrm>
            <a:off x="6583680" y="1280160"/>
            <a:ext cx="5029200" cy="411480"/>
          </a:xfrm>
          <a:prstGeom prst="rect">
            <a:avLst/>
          </a:prstGeom>
          <a:noFill/>
          <a:ln/>
        </p:spPr>
        <p:txBody>
          <a:bodyPr wrap="square" lIns="0" tIns="0" rIns="0" bIns="0" rtlCol="0" anchor="t"/>
          <a:lstStyle/>
          <a:p>
            <a:pPr indent="0" marL="0">
              <a:buNone/>
            </a:pPr>
            <a:r>
              <a:rPr lang="en-US" sz="1800" b="1" dirty="0">
                <a:solidFill>
                  <a:srgbClr val="0D9488"/>
                </a:solidFill>
                <a:latin typeface="Calibri" pitchFamily="34" charset="0"/>
                <a:ea typeface="Calibri" pitchFamily="34" charset="-122"/>
                <a:cs typeface="Calibri" pitchFamily="34" charset="-120"/>
              </a:rPr>
              <a:t>What a reviewer sees (real screenshot)</a:t>
            </a:r>
            <a:endParaRPr lang="en-US" sz="1800" dirty="0"/>
          </a:p>
        </p:txBody>
      </p:sp>
      <p:sp>
        <p:nvSpPr>
          <p:cNvPr id="6" name="Shape 3"/>
          <p:cNvSpPr/>
          <p:nvPr/>
        </p:nvSpPr>
        <p:spPr>
          <a:xfrm>
            <a:off x="6583680" y="1874520"/>
            <a:ext cx="384048" cy="384048"/>
          </a:xfrm>
          <a:prstGeom prst="ellipse">
            <a:avLst/>
          </a:prstGeom>
          <a:solidFill>
            <a:srgbClr val="0D9488"/>
          </a:solidFill>
          <a:ln/>
        </p:spPr>
      </p:sp>
      <p:sp>
        <p:nvSpPr>
          <p:cNvPr id="7" name="Text 4"/>
          <p:cNvSpPr txBox="1"/>
          <p:nvPr/>
        </p:nvSpPr>
        <p:spPr>
          <a:xfrm>
            <a:off x="658368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7132320" y="1828800"/>
            <a:ext cx="1463040" cy="45720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Decision</a:t>
            </a:r>
            <a:endParaRPr lang="en-US" sz="1500" dirty="0"/>
          </a:p>
        </p:txBody>
      </p:sp>
      <p:sp>
        <p:nvSpPr>
          <p:cNvPr id="9" name="Text 6"/>
          <p:cNvSpPr txBox="1"/>
          <p:nvPr/>
        </p:nvSpPr>
        <p:spPr>
          <a:xfrm>
            <a:off x="8549640" y="1828800"/>
            <a:ext cx="3063240" cy="7772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Block, Pass or Review, plus a Low / Medium / High risk label</a:t>
            </a:r>
            <a:endParaRPr lang="en-US" sz="1400" dirty="0"/>
          </a:p>
        </p:txBody>
      </p:sp>
      <p:sp>
        <p:nvSpPr>
          <p:cNvPr id="10" name="Shape 7"/>
          <p:cNvSpPr/>
          <p:nvPr/>
        </p:nvSpPr>
        <p:spPr>
          <a:xfrm>
            <a:off x="6583680" y="2715768"/>
            <a:ext cx="384048" cy="384048"/>
          </a:xfrm>
          <a:prstGeom prst="ellipse">
            <a:avLst/>
          </a:prstGeom>
          <a:solidFill>
            <a:srgbClr val="0D9488"/>
          </a:solidFill>
          <a:ln/>
        </p:spPr>
      </p:sp>
      <p:sp>
        <p:nvSpPr>
          <p:cNvPr id="11" name="Text 8"/>
          <p:cNvSpPr txBox="1"/>
          <p:nvPr/>
        </p:nvSpPr>
        <p:spPr>
          <a:xfrm>
            <a:off x="6583680" y="2715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7132320" y="2670048"/>
            <a:ext cx="1463040" cy="45720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Scores</a:t>
            </a:r>
            <a:endParaRPr lang="en-US" sz="1500" dirty="0"/>
          </a:p>
        </p:txBody>
      </p:sp>
      <p:sp>
        <p:nvSpPr>
          <p:cNvPr id="13" name="Text 10"/>
          <p:cNvSpPr txBox="1"/>
          <p:nvPr/>
        </p:nvSpPr>
        <p:spPr>
          <a:xfrm>
            <a:off x="8549640" y="2670048"/>
            <a:ext cx="3063240" cy="7772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Fake probability, confidence and uncertainty as simple bars</a:t>
            </a:r>
            <a:endParaRPr lang="en-US" sz="1400" dirty="0"/>
          </a:p>
        </p:txBody>
      </p:sp>
      <p:sp>
        <p:nvSpPr>
          <p:cNvPr id="14" name="Shape 11"/>
          <p:cNvSpPr/>
          <p:nvPr/>
        </p:nvSpPr>
        <p:spPr>
          <a:xfrm>
            <a:off x="6583680" y="3557016"/>
            <a:ext cx="384048" cy="384048"/>
          </a:xfrm>
          <a:prstGeom prst="ellipse">
            <a:avLst/>
          </a:prstGeom>
          <a:solidFill>
            <a:srgbClr val="0D9488"/>
          </a:solidFill>
          <a:ln/>
        </p:spPr>
      </p:sp>
      <p:sp>
        <p:nvSpPr>
          <p:cNvPr id="15" name="Text 12"/>
          <p:cNvSpPr txBox="1"/>
          <p:nvPr/>
        </p:nvSpPr>
        <p:spPr>
          <a:xfrm>
            <a:off x="6583680" y="3557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7132320" y="3511296"/>
            <a:ext cx="1463040" cy="45720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Attack type</a:t>
            </a:r>
            <a:endParaRPr lang="en-US" sz="1500" dirty="0"/>
          </a:p>
        </p:txBody>
      </p:sp>
      <p:sp>
        <p:nvSpPr>
          <p:cNvPr id="17" name="Text 14"/>
          <p:cNvSpPr txBox="1"/>
          <p:nvPr/>
        </p:nvSpPr>
        <p:spPr>
          <a:xfrm>
            <a:off x="8549640" y="3511296"/>
            <a:ext cx="3063240" cy="7772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Which family of AI tool most likely made it</a:t>
            </a:r>
            <a:endParaRPr lang="en-US" sz="1400" dirty="0"/>
          </a:p>
        </p:txBody>
      </p:sp>
      <p:sp>
        <p:nvSpPr>
          <p:cNvPr id="18" name="Shape 15"/>
          <p:cNvSpPr/>
          <p:nvPr/>
        </p:nvSpPr>
        <p:spPr>
          <a:xfrm>
            <a:off x="6583680" y="4398264"/>
            <a:ext cx="384048" cy="384048"/>
          </a:xfrm>
          <a:prstGeom prst="ellipse">
            <a:avLst/>
          </a:prstGeom>
          <a:solidFill>
            <a:srgbClr val="0D9488"/>
          </a:solidFill>
          <a:ln/>
        </p:spPr>
      </p:sp>
      <p:sp>
        <p:nvSpPr>
          <p:cNvPr id="19" name="Text 16"/>
          <p:cNvSpPr txBox="1"/>
          <p:nvPr/>
        </p:nvSpPr>
        <p:spPr>
          <a:xfrm>
            <a:off x="6583680" y="4398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7"/>
          <p:cNvSpPr txBox="1"/>
          <p:nvPr/>
        </p:nvSpPr>
        <p:spPr>
          <a:xfrm>
            <a:off x="7132320" y="4352544"/>
            <a:ext cx="1463040" cy="45720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Where</a:t>
            </a:r>
            <a:endParaRPr lang="en-US" sz="1500" dirty="0"/>
          </a:p>
        </p:txBody>
      </p:sp>
      <p:sp>
        <p:nvSpPr>
          <p:cNvPr id="21" name="Text 18"/>
          <p:cNvSpPr txBox="1"/>
          <p:nvPr/>
        </p:nvSpPr>
        <p:spPr>
          <a:xfrm>
            <a:off x="8549640" y="4352544"/>
            <a:ext cx="3063240" cy="7772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Jumps to the most suspicious 3 seconds of the recording</a:t>
            </a:r>
            <a:endParaRPr lang="en-US" sz="1400" dirty="0"/>
          </a:p>
        </p:txBody>
      </p:sp>
      <p:sp>
        <p:nvSpPr>
          <p:cNvPr id="22" name="Shape 19"/>
          <p:cNvSpPr/>
          <p:nvPr/>
        </p:nvSpPr>
        <p:spPr>
          <a:xfrm>
            <a:off x="6583680" y="5239512"/>
            <a:ext cx="384048" cy="384048"/>
          </a:xfrm>
          <a:prstGeom prst="ellipse">
            <a:avLst/>
          </a:prstGeom>
          <a:solidFill>
            <a:srgbClr val="0D9488"/>
          </a:solidFill>
          <a:ln/>
        </p:spPr>
      </p:sp>
      <p:sp>
        <p:nvSpPr>
          <p:cNvPr id="23" name="Text 20"/>
          <p:cNvSpPr txBox="1"/>
          <p:nvPr/>
        </p:nvSpPr>
        <p:spPr>
          <a:xfrm>
            <a:off x="6583680" y="5239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1"/>
          <p:cNvSpPr txBox="1"/>
          <p:nvPr/>
        </p:nvSpPr>
        <p:spPr>
          <a:xfrm>
            <a:off x="7132320" y="5193792"/>
            <a:ext cx="1463040" cy="45720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Reason</a:t>
            </a:r>
            <a:endParaRPr lang="en-US" sz="1500" dirty="0"/>
          </a:p>
        </p:txBody>
      </p:sp>
      <p:sp>
        <p:nvSpPr>
          <p:cNvPr id="25" name="Text 22"/>
          <p:cNvSpPr txBox="1"/>
          <p:nvPr/>
        </p:nvSpPr>
        <p:spPr>
          <a:xfrm>
            <a:off x="8549640" y="5193792"/>
            <a:ext cx="3063240" cy="7772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One sentence built from the actual scores, never invented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How we tested it: strictly and honestly</a:t>
            </a:r>
            <a:endParaRPr lang="en-US" sz="3200" dirty="0"/>
          </a:p>
        </p:txBody>
      </p:sp>
      <p:sp>
        <p:nvSpPr>
          <p:cNvPr id="3" name="Shape 1"/>
          <p:cNvSpPr/>
          <p:nvPr/>
        </p:nvSpPr>
        <p:spPr>
          <a:xfrm>
            <a:off x="548640" y="1280160"/>
            <a:ext cx="3611880" cy="1508760"/>
          </a:xfrm>
          <a:prstGeom prst="roundRect">
            <a:avLst>
              <a:gd name="adj" fmla="val 7273"/>
            </a:avLst>
          </a:prstGeom>
          <a:solidFill>
            <a:srgbClr val="0F172A"/>
          </a:solidFill>
          <a:ln/>
        </p:spPr>
      </p:sp>
      <p:sp>
        <p:nvSpPr>
          <p:cNvPr id="4" name="Text 2"/>
          <p:cNvSpPr txBox="1"/>
          <p:nvPr/>
        </p:nvSpPr>
        <p:spPr>
          <a:xfrm>
            <a:off x="548640" y="1371600"/>
            <a:ext cx="3611880" cy="822960"/>
          </a:xfrm>
          <a:prstGeom prst="rect">
            <a:avLst/>
          </a:prstGeom>
          <a:noFill/>
          <a:ln/>
        </p:spPr>
        <p:txBody>
          <a:bodyPr wrap="square" lIns="0" tIns="0" rIns="0" bIns="0" rtlCol="0" anchor="t"/>
          <a:lstStyle/>
          <a:p>
            <a:pPr algn="ctr" indent="0" marL="0">
              <a:buNone/>
            </a:pPr>
            <a:r>
              <a:rPr lang="en-US" sz="4400" b="1" dirty="0">
                <a:solidFill>
                  <a:srgbClr val="FFFFFF"/>
                </a:solidFill>
                <a:latin typeface="Cambria" pitchFamily="34" charset="0"/>
                <a:ea typeface="Cambria" pitchFamily="34" charset="-122"/>
                <a:cs typeface="Cambria" pitchFamily="34" charset="-120"/>
              </a:rPr>
              <a:t>11</a:t>
            </a:r>
            <a:endParaRPr lang="en-US" sz="4400" dirty="0"/>
          </a:p>
        </p:txBody>
      </p:sp>
      <p:sp>
        <p:nvSpPr>
          <p:cNvPr id="5" name="Text 3"/>
          <p:cNvSpPr txBox="1"/>
          <p:nvPr/>
        </p:nvSpPr>
        <p:spPr>
          <a:xfrm>
            <a:off x="548640" y="2194560"/>
            <a:ext cx="3611880" cy="457200"/>
          </a:xfrm>
          <a:prstGeom prst="rect">
            <a:avLst/>
          </a:prstGeom>
          <a:noFill/>
          <a:ln/>
        </p:spPr>
        <p:txBody>
          <a:bodyPr wrap="square" lIns="0" tIns="0" rIns="0" bIns="0" rtlCol="0" anchor="t"/>
          <a:lstStyle/>
          <a:p>
            <a:pPr algn="ctr" indent="0" marL="0">
              <a:buNone/>
            </a:pPr>
            <a:r>
              <a:rPr lang="en-US" sz="1500" dirty="0">
                <a:solidFill>
                  <a:srgbClr val="CBD5E1"/>
                </a:solidFill>
                <a:latin typeface="Calibri" pitchFamily="34" charset="0"/>
                <a:ea typeface="Calibri" pitchFamily="34" charset="-122"/>
                <a:cs typeface="Calibri" pitchFamily="34" charset="-120"/>
              </a:rPr>
              <a:t>public datasets</a:t>
            </a:r>
            <a:endParaRPr lang="en-US" sz="1500" dirty="0"/>
          </a:p>
        </p:txBody>
      </p:sp>
      <p:sp>
        <p:nvSpPr>
          <p:cNvPr id="6" name="Shape 4"/>
          <p:cNvSpPr/>
          <p:nvPr/>
        </p:nvSpPr>
        <p:spPr>
          <a:xfrm>
            <a:off x="4343400" y="1280160"/>
            <a:ext cx="3611880" cy="1508760"/>
          </a:xfrm>
          <a:prstGeom prst="roundRect">
            <a:avLst>
              <a:gd name="adj" fmla="val 7273"/>
            </a:avLst>
          </a:prstGeom>
          <a:solidFill>
            <a:srgbClr val="0F172A"/>
          </a:solidFill>
          <a:ln/>
        </p:spPr>
      </p:sp>
      <p:sp>
        <p:nvSpPr>
          <p:cNvPr id="7" name="Text 5"/>
          <p:cNvSpPr txBox="1"/>
          <p:nvPr/>
        </p:nvSpPr>
        <p:spPr>
          <a:xfrm>
            <a:off x="4343400" y="1371600"/>
            <a:ext cx="3611880" cy="822960"/>
          </a:xfrm>
          <a:prstGeom prst="rect">
            <a:avLst/>
          </a:prstGeom>
          <a:noFill/>
          <a:ln/>
        </p:spPr>
        <p:txBody>
          <a:bodyPr wrap="square" lIns="0" tIns="0" rIns="0" bIns="0" rtlCol="0" anchor="t"/>
          <a:lstStyle/>
          <a:p>
            <a:pPr algn="ctr" indent="0" marL="0">
              <a:buNone/>
            </a:pPr>
            <a:r>
              <a:rPr lang="en-US" sz="4400" b="1" dirty="0">
                <a:solidFill>
                  <a:srgbClr val="FFFFFF"/>
                </a:solidFill>
                <a:latin typeface="Cambria" pitchFamily="34" charset="0"/>
                <a:ea typeface="Cambria" pitchFamily="34" charset="-122"/>
                <a:cs typeface="Cambria" pitchFamily="34" charset="-120"/>
              </a:rPr>
              <a:t>44,000</a:t>
            </a:r>
            <a:endParaRPr lang="en-US" sz="4400" dirty="0"/>
          </a:p>
        </p:txBody>
      </p:sp>
      <p:sp>
        <p:nvSpPr>
          <p:cNvPr id="8" name="Text 6"/>
          <p:cNvSpPr txBox="1"/>
          <p:nvPr/>
        </p:nvSpPr>
        <p:spPr>
          <a:xfrm>
            <a:off x="4343400" y="2194560"/>
            <a:ext cx="3611880" cy="457200"/>
          </a:xfrm>
          <a:prstGeom prst="rect">
            <a:avLst/>
          </a:prstGeom>
          <a:noFill/>
          <a:ln/>
        </p:spPr>
        <p:txBody>
          <a:bodyPr wrap="square" lIns="0" tIns="0" rIns="0" bIns="0" rtlCol="0" anchor="t"/>
          <a:lstStyle/>
          <a:p>
            <a:pPr algn="ctr" indent="0" marL="0">
              <a:buNone/>
            </a:pPr>
            <a:r>
              <a:rPr lang="en-US" sz="1500" dirty="0">
                <a:solidFill>
                  <a:srgbClr val="CBD5E1"/>
                </a:solidFill>
                <a:latin typeface="Calibri" pitchFamily="34" charset="0"/>
                <a:ea typeface="Calibri" pitchFamily="34" charset="-122"/>
                <a:cs typeface="Calibri" pitchFamily="34" charset="-120"/>
              </a:rPr>
              <a:t>audio clips used</a:t>
            </a:r>
            <a:endParaRPr lang="en-US" sz="1500" dirty="0"/>
          </a:p>
        </p:txBody>
      </p:sp>
      <p:sp>
        <p:nvSpPr>
          <p:cNvPr id="9" name="Shape 7"/>
          <p:cNvSpPr/>
          <p:nvPr/>
        </p:nvSpPr>
        <p:spPr>
          <a:xfrm>
            <a:off x="8138160" y="1280160"/>
            <a:ext cx="3611880" cy="1508760"/>
          </a:xfrm>
          <a:prstGeom prst="roundRect">
            <a:avLst>
              <a:gd name="adj" fmla="val 7273"/>
            </a:avLst>
          </a:prstGeom>
          <a:solidFill>
            <a:srgbClr val="0F172A"/>
          </a:solidFill>
          <a:ln/>
        </p:spPr>
      </p:sp>
      <p:sp>
        <p:nvSpPr>
          <p:cNvPr id="10" name="Text 8"/>
          <p:cNvSpPr txBox="1"/>
          <p:nvPr/>
        </p:nvSpPr>
        <p:spPr>
          <a:xfrm>
            <a:off x="8138160" y="1371600"/>
            <a:ext cx="3611880" cy="822960"/>
          </a:xfrm>
          <a:prstGeom prst="rect">
            <a:avLst/>
          </a:prstGeom>
          <a:noFill/>
          <a:ln/>
        </p:spPr>
        <p:txBody>
          <a:bodyPr wrap="square" lIns="0" tIns="0" rIns="0" bIns="0" rtlCol="0" anchor="t"/>
          <a:lstStyle/>
          <a:p>
            <a:pPr algn="ctr" indent="0" marL="0">
              <a:buNone/>
            </a:pPr>
            <a:r>
              <a:rPr lang="en-US" sz="4400" b="1" dirty="0">
                <a:solidFill>
                  <a:srgbClr val="FFFFFF"/>
                </a:solidFill>
                <a:latin typeface="Cambria" pitchFamily="34" charset="0"/>
                <a:ea typeface="Cambria" pitchFamily="34" charset="-122"/>
                <a:cs typeface="Cambria" pitchFamily="34" charset="-120"/>
              </a:rPr>
              <a:t>40+</a:t>
            </a:r>
            <a:endParaRPr lang="en-US" sz="4400" dirty="0"/>
          </a:p>
        </p:txBody>
      </p:sp>
      <p:sp>
        <p:nvSpPr>
          <p:cNvPr id="11" name="Text 9"/>
          <p:cNvSpPr txBox="1"/>
          <p:nvPr/>
        </p:nvSpPr>
        <p:spPr>
          <a:xfrm>
            <a:off x="8138160" y="2194560"/>
            <a:ext cx="3611880" cy="457200"/>
          </a:xfrm>
          <a:prstGeom prst="rect">
            <a:avLst/>
          </a:prstGeom>
          <a:noFill/>
          <a:ln/>
        </p:spPr>
        <p:txBody>
          <a:bodyPr wrap="square" lIns="0" tIns="0" rIns="0" bIns="0" rtlCol="0" anchor="t"/>
          <a:lstStyle/>
          <a:p>
            <a:pPr algn="ctr" indent="0" marL="0">
              <a:buNone/>
            </a:pPr>
            <a:r>
              <a:rPr lang="en-US" sz="1500" dirty="0">
                <a:solidFill>
                  <a:srgbClr val="CBD5E1"/>
                </a:solidFill>
                <a:latin typeface="Calibri" pitchFamily="34" charset="0"/>
                <a:ea typeface="Calibri" pitchFamily="34" charset="-122"/>
                <a:cs typeface="Calibri" pitchFamily="34" charset="-120"/>
              </a:rPr>
              <a:t>different AI voice tools</a:t>
            </a:r>
            <a:endParaRPr lang="en-US" sz="1500" dirty="0"/>
          </a:p>
        </p:txBody>
      </p:sp>
      <p:sp>
        <p:nvSpPr>
          <p:cNvPr id="12" name="Shape 10"/>
          <p:cNvSpPr/>
          <p:nvPr/>
        </p:nvSpPr>
        <p:spPr>
          <a:xfrm>
            <a:off x="548640" y="3108960"/>
            <a:ext cx="685800" cy="685800"/>
          </a:xfrm>
          <a:prstGeom prst="ellipse">
            <a:avLst/>
          </a:prstGeom>
          <a:solidFill>
            <a:srgbClr val="0D9488"/>
          </a:solidFill>
          <a:ln/>
        </p:spPr>
      </p:sp>
      <p:pic>
        <p:nvPicPr>
          <p:cNvPr id="13" name="Image 0" descr="preencoded.png">    </p:cNvPr>
          <p:cNvPicPr>
            <a:picLocks noChangeAspect="1"/>
          </p:cNvPicPr>
          <p:nvPr/>
        </p:nvPicPr>
        <p:blipFill>
          <a:blip r:embed="rId1"/>
          <a:stretch>
            <a:fillRect/>
          </a:stretch>
        </p:blipFill>
        <p:spPr>
          <a:xfrm>
            <a:off x="713232" y="3273552"/>
            <a:ext cx="356616" cy="356616"/>
          </a:xfrm>
          <a:prstGeom prst="rect">
            <a:avLst/>
          </a:prstGeom>
        </p:spPr>
      </p:pic>
      <p:sp>
        <p:nvSpPr>
          <p:cNvPr id="14" name="Text 11"/>
          <p:cNvSpPr txBox="1"/>
          <p:nvPr/>
        </p:nvSpPr>
        <p:spPr>
          <a:xfrm>
            <a:off x="1417320" y="3063240"/>
            <a:ext cx="4572000"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No cheating</a:t>
            </a:r>
            <a:endParaRPr lang="en-US" sz="1600" dirty="0"/>
          </a:p>
        </p:txBody>
      </p:sp>
      <p:sp>
        <p:nvSpPr>
          <p:cNvPr id="15" name="Text 12"/>
          <p:cNvSpPr txBox="1"/>
          <p:nvPr/>
        </p:nvSpPr>
        <p:spPr>
          <a:xfrm>
            <a:off x="1417320" y="3447288"/>
            <a:ext cx="457200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The same recording, sentence or speaker never appears in both training and testing. (The earlier 97.7% figure was inflated by exactly this; the honest figure is 93%.)</a:t>
            </a:r>
            <a:endParaRPr lang="en-US" sz="1300" dirty="0"/>
          </a:p>
        </p:txBody>
      </p:sp>
      <p:sp>
        <p:nvSpPr>
          <p:cNvPr id="16" name="Shape 13"/>
          <p:cNvSpPr/>
          <p:nvPr/>
        </p:nvSpPr>
        <p:spPr>
          <a:xfrm>
            <a:off x="6172200" y="3108960"/>
            <a:ext cx="685800" cy="685800"/>
          </a:xfrm>
          <a:prstGeom prst="ellipse">
            <a:avLst/>
          </a:prstGeom>
          <a:solidFill>
            <a:srgbClr val="0D9488"/>
          </a:solidFill>
          <a:ln/>
        </p:spPr>
      </p:sp>
      <p:pic>
        <p:nvPicPr>
          <p:cNvPr id="17" name="Image 1" descr="preencoded.png">    </p:cNvPr>
          <p:cNvPicPr>
            <a:picLocks noChangeAspect="1"/>
          </p:cNvPicPr>
          <p:nvPr/>
        </p:nvPicPr>
        <p:blipFill>
          <a:blip r:embed="rId2"/>
          <a:stretch>
            <a:fillRect/>
          </a:stretch>
        </p:blipFill>
        <p:spPr>
          <a:xfrm>
            <a:off x="6336792" y="3273552"/>
            <a:ext cx="356616" cy="356616"/>
          </a:xfrm>
          <a:prstGeom prst="rect">
            <a:avLst/>
          </a:prstGeom>
        </p:spPr>
      </p:pic>
      <p:sp>
        <p:nvSpPr>
          <p:cNvPr id="18" name="Text 14"/>
          <p:cNvSpPr txBox="1"/>
          <p:nvPr/>
        </p:nvSpPr>
        <p:spPr>
          <a:xfrm>
            <a:off x="7040880" y="3063240"/>
            <a:ext cx="4572000"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Never-seen AI tools</a:t>
            </a:r>
            <a:endParaRPr lang="en-US" sz="1600" dirty="0"/>
          </a:p>
        </p:txBody>
      </p:sp>
      <p:sp>
        <p:nvSpPr>
          <p:cNvPr id="19" name="Text 15"/>
          <p:cNvSpPr txBox="1"/>
          <p:nvPr/>
        </p:nvSpPr>
        <p:spPr>
          <a:xfrm>
            <a:off x="7040880" y="3447288"/>
            <a:ext cx="457200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We hid one family of AI voice tools during training, then tested on it. Repeated for 9 families, including 2025–26 commercial voices.</a:t>
            </a:r>
            <a:endParaRPr lang="en-US" sz="1300" dirty="0"/>
          </a:p>
        </p:txBody>
      </p:sp>
      <p:sp>
        <p:nvSpPr>
          <p:cNvPr id="20" name="Shape 16"/>
          <p:cNvSpPr/>
          <p:nvPr/>
        </p:nvSpPr>
        <p:spPr>
          <a:xfrm>
            <a:off x="548640" y="4645152"/>
            <a:ext cx="685800" cy="685800"/>
          </a:xfrm>
          <a:prstGeom prst="ellipse">
            <a:avLst/>
          </a:prstGeom>
          <a:solidFill>
            <a:srgbClr val="0D9488"/>
          </a:solidFill>
          <a:ln/>
        </p:spPr>
      </p:sp>
      <p:pic>
        <p:nvPicPr>
          <p:cNvPr id="21" name="Image 2" descr="preencoded.png">    </p:cNvPr>
          <p:cNvPicPr>
            <a:picLocks noChangeAspect="1"/>
          </p:cNvPicPr>
          <p:nvPr/>
        </p:nvPicPr>
        <p:blipFill>
          <a:blip r:embed="rId3"/>
          <a:stretch>
            <a:fillRect/>
          </a:stretch>
        </p:blipFill>
        <p:spPr>
          <a:xfrm>
            <a:off x="713232" y="4809744"/>
            <a:ext cx="356616" cy="356616"/>
          </a:xfrm>
          <a:prstGeom prst="rect">
            <a:avLst/>
          </a:prstGeom>
        </p:spPr>
      </p:pic>
      <p:sp>
        <p:nvSpPr>
          <p:cNvPr id="22" name="Text 17"/>
          <p:cNvSpPr txBox="1"/>
          <p:nvPr/>
        </p:nvSpPr>
        <p:spPr>
          <a:xfrm>
            <a:off x="1417320" y="4599432"/>
            <a:ext cx="4572000"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Real-world clips</a:t>
            </a:r>
            <a:endParaRPr lang="en-US" sz="1600" dirty="0"/>
          </a:p>
        </p:txBody>
      </p:sp>
      <p:sp>
        <p:nvSpPr>
          <p:cNvPr id="23" name="Text 18"/>
          <p:cNvSpPr txBox="1"/>
          <p:nvPr/>
        </p:nvSpPr>
        <p:spPr>
          <a:xfrm>
            <a:off x="1417320" y="4983480"/>
            <a:ext cx="457200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4,000 genuine and deepfake clips of public figures from the internet, never used for training.</a:t>
            </a:r>
            <a:endParaRPr lang="en-US" sz="1300" dirty="0"/>
          </a:p>
        </p:txBody>
      </p:sp>
      <p:sp>
        <p:nvSpPr>
          <p:cNvPr id="24" name="Shape 19"/>
          <p:cNvSpPr/>
          <p:nvPr/>
        </p:nvSpPr>
        <p:spPr>
          <a:xfrm>
            <a:off x="6172200" y="4645152"/>
            <a:ext cx="685800" cy="685800"/>
          </a:xfrm>
          <a:prstGeom prst="ellipse">
            <a:avLst/>
          </a:prstGeom>
          <a:solidFill>
            <a:srgbClr val="0D9488"/>
          </a:solidFill>
          <a:ln/>
        </p:spPr>
      </p:sp>
      <p:pic>
        <p:nvPicPr>
          <p:cNvPr id="25" name="Image 3" descr="preencoded.png">    </p:cNvPr>
          <p:cNvPicPr>
            <a:picLocks noChangeAspect="1"/>
          </p:cNvPicPr>
          <p:nvPr/>
        </p:nvPicPr>
        <p:blipFill>
          <a:blip r:embed="rId4"/>
          <a:stretch>
            <a:fillRect/>
          </a:stretch>
        </p:blipFill>
        <p:spPr>
          <a:xfrm>
            <a:off x="6336792" y="4809744"/>
            <a:ext cx="356616" cy="356616"/>
          </a:xfrm>
          <a:prstGeom prst="rect">
            <a:avLst/>
          </a:prstGeom>
        </p:spPr>
      </p:pic>
      <p:sp>
        <p:nvSpPr>
          <p:cNvPr id="26" name="Text 20"/>
          <p:cNvSpPr txBox="1"/>
          <p:nvPr/>
        </p:nvSpPr>
        <p:spPr>
          <a:xfrm>
            <a:off x="7040880" y="4599432"/>
            <a:ext cx="4572000"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Messy audio</a:t>
            </a:r>
            <a:endParaRPr lang="en-US" sz="1600" dirty="0"/>
          </a:p>
        </p:txBody>
      </p:sp>
      <p:sp>
        <p:nvSpPr>
          <p:cNvPr id="27" name="Text 21"/>
          <p:cNvSpPr txBox="1"/>
          <p:nvPr/>
        </p:nvSpPr>
        <p:spPr>
          <a:xfrm>
            <a:off x="7040880" y="4983480"/>
            <a:ext cx="457200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Re-tested with compression, noise, echo and phone-line audio.</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Results at a glance</a:t>
            </a:r>
            <a:endParaRPr lang="en-US" sz="3200" dirty="0"/>
          </a:p>
        </p:txBody>
      </p:sp>
      <p:sp>
        <p:nvSpPr>
          <p:cNvPr id="3" name="Shape 1"/>
          <p:cNvSpPr/>
          <p:nvPr/>
        </p:nvSpPr>
        <p:spPr>
          <a:xfrm>
            <a:off x="548640" y="1325880"/>
            <a:ext cx="2633472" cy="3291840"/>
          </a:xfrm>
          <a:prstGeom prst="roundRect">
            <a:avLst>
              <a:gd name="adj" fmla="val 4167"/>
            </a:avLst>
          </a:prstGeom>
          <a:solidFill>
            <a:srgbClr val="F1F5F9"/>
          </a:solidFill>
          <a:ln/>
        </p:spPr>
      </p:sp>
      <p:sp>
        <p:nvSpPr>
          <p:cNvPr id="4" name="Text 2"/>
          <p:cNvSpPr txBox="1"/>
          <p:nvPr/>
        </p:nvSpPr>
        <p:spPr>
          <a:xfrm>
            <a:off x="548640" y="1600200"/>
            <a:ext cx="2633472" cy="1005840"/>
          </a:xfrm>
          <a:prstGeom prst="rect">
            <a:avLst/>
          </a:prstGeom>
          <a:noFill/>
          <a:ln/>
        </p:spPr>
        <p:txBody>
          <a:bodyPr wrap="square" lIns="0" tIns="0" rIns="0" bIns="0" rtlCol="0" anchor="t"/>
          <a:lstStyle/>
          <a:p>
            <a:pPr algn="ctr" indent="0" marL="0">
              <a:buNone/>
            </a:pPr>
            <a:r>
              <a:rPr lang="en-US" sz="5000" b="1" dirty="0">
                <a:solidFill>
                  <a:srgbClr val="0D9488"/>
                </a:solidFill>
                <a:latin typeface="Cambria" pitchFamily="34" charset="0"/>
                <a:ea typeface="Cambria" pitchFamily="34" charset="-122"/>
                <a:cs typeface="Cambria" pitchFamily="34" charset="-120"/>
              </a:rPr>
              <a:t>93%</a:t>
            </a:r>
            <a:endParaRPr lang="en-US" sz="5000" dirty="0"/>
          </a:p>
        </p:txBody>
      </p:sp>
      <p:sp>
        <p:nvSpPr>
          <p:cNvPr id="5" name="Text 3"/>
          <p:cNvSpPr txBox="1"/>
          <p:nvPr/>
        </p:nvSpPr>
        <p:spPr>
          <a:xfrm>
            <a:off x="731520" y="2697480"/>
            <a:ext cx="2267712" cy="868680"/>
          </a:xfrm>
          <a:prstGeom prst="rect">
            <a:avLst/>
          </a:prstGeom>
          <a:noFill/>
          <a:ln/>
        </p:spPr>
        <p:txBody>
          <a:bodyPr wrap="square" lIns="0" tIns="0" rIns="0" bIns="0" rtlCol="0" anchor="t"/>
          <a:lstStyle/>
          <a:p>
            <a:pPr algn="ctr" indent="0" marL="0">
              <a:buNone/>
            </a:pPr>
            <a:r>
              <a:rPr lang="en-US" sz="1600" b="1" dirty="0">
                <a:solidFill>
                  <a:srgbClr val="0F172A"/>
                </a:solidFill>
                <a:latin typeface="Calibri" pitchFamily="34" charset="0"/>
                <a:ea typeface="Calibri" pitchFamily="34" charset="-122"/>
                <a:cs typeface="Calibri" pitchFamily="34" charset="-120"/>
              </a:rPr>
              <a:t>correct on the strict test</a:t>
            </a:r>
            <a:endParaRPr lang="en-US" sz="1600" dirty="0"/>
          </a:p>
        </p:txBody>
      </p:sp>
      <p:sp>
        <p:nvSpPr>
          <p:cNvPr id="6" name="Text 4"/>
          <p:cNvSpPr txBox="1"/>
          <p:nvPr/>
        </p:nvSpPr>
        <p:spPr>
          <a:xfrm>
            <a:off x="731520" y="3611880"/>
            <a:ext cx="2267712" cy="82296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6,648 clips never seen in training</a:t>
            </a:r>
            <a:endParaRPr lang="en-US" sz="1300" dirty="0"/>
          </a:p>
        </p:txBody>
      </p:sp>
      <p:sp>
        <p:nvSpPr>
          <p:cNvPr id="7" name="Shape 5"/>
          <p:cNvSpPr/>
          <p:nvPr/>
        </p:nvSpPr>
        <p:spPr>
          <a:xfrm>
            <a:off x="3364992" y="1325880"/>
            <a:ext cx="2633472" cy="3291840"/>
          </a:xfrm>
          <a:prstGeom prst="roundRect">
            <a:avLst>
              <a:gd name="adj" fmla="val 4167"/>
            </a:avLst>
          </a:prstGeom>
          <a:solidFill>
            <a:srgbClr val="F1F5F9"/>
          </a:solidFill>
          <a:ln/>
        </p:spPr>
      </p:sp>
      <p:sp>
        <p:nvSpPr>
          <p:cNvPr id="8" name="Text 6"/>
          <p:cNvSpPr txBox="1"/>
          <p:nvPr/>
        </p:nvSpPr>
        <p:spPr>
          <a:xfrm>
            <a:off x="3364992" y="1600200"/>
            <a:ext cx="2633472" cy="1005840"/>
          </a:xfrm>
          <a:prstGeom prst="rect">
            <a:avLst/>
          </a:prstGeom>
          <a:noFill/>
          <a:ln/>
        </p:spPr>
        <p:txBody>
          <a:bodyPr wrap="square" lIns="0" tIns="0" rIns="0" bIns="0" rtlCol="0" anchor="t"/>
          <a:lstStyle/>
          <a:p>
            <a:pPr algn="ctr" indent="0" marL="0">
              <a:buNone/>
            </a:pPr>
            <a:r>
              <a:rPr lang="en-US" sz="5000" b="1" dirty="0">
                <a:solidFill>
                  <a:srgbClr val="6366F1"/>
                </a:solidFill>
                <a:latin typeface="Cambria" pitchFamily="34" charset="0"/>
                <a:ea typeface="Cambria" pitchFamily="34" charset="-122"/>
                <a:cs typeface="Cambria" pitchFamily="34" charset="-120"/>
              </a:rPr>
              <a:t>91%</a:t>
            </a:r>
            <a:endParaRPr lang="en-US" sz="5000" dirty="0"/>
          </a:p>
        </p:txBody>
      </p:sp>
      <p:sp>
        <p:nvSpPr>
          <p:cNvPr id="9" name="Text 7"/>
          <p:cNvSpPr txBox="1"/>
          <p:nvPr/>
        </p:nvSpPr>
        <p:spPr>
          <a:xfrm>
            <a:off x="3547872" y="2697480"/>
            <a:ext cx="2267712" cy="868680"/>
          </a:xfrm>
          <a:prstGeom prst="rect">
            <a:avLst/>
          </a:prstGeom>
          <a:noFill/>
          <a:ln/>
        </p:spPr>
        <p:txBody>
          <a:bodyPr wrap="square" lIns="0" tIns="0" rIns="0" bIns="0" rtlCol="0" anchor="t"/>
          <a:lstStyle/>
          <a:p>
            <a:pPr algn="ctr" indent="0" marL="0">
              <a:buNone/>
            </a:pPr>
            <a:r>
              <a:rPr lang="en-US" sz="1600" b="1" dirty="0">
                <a:solidFill>
                  <a:srgbClr val="0F172A"/>
                </a:solidFill>
                <a:latin typeface="Calibri" pitchFamily="34" charset="0"/>
                <a:ea typeface="Calibri" pitchFamily="34" charset="-122"/>
                <a:cs typeface="Calibri" pitchFamily="34" charset="-120"/>
              </a:rPr>
              <a:t>correct on the type of AI tool</a:t>
            </a:r>
            <a:endParaRPr lang="en-US" sz="1600" dirty="0"/>
          </a:p>
        </p:txBody>
      </p:sp>
      <p:sp>
        <p:nvSpPr>
          <p:cNvPr id="10" name="Text 8"/>
          <p:cNvSpPr txBox="1"/>
          <p:nvPr/>
        </p:nvSpPr>
        <p:spPr>
          <a:xfrm>
            <a:off x="3547872" y="3611880"/>
            <a:ext cx="2267712" cy="82296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helps investigators</a:t>
            </a:r>
            <a:endParaRPr lang="en-US" sz="1300" dirty="0"/>
          </a:p>
        </p:txBody>
      </p:sp>
      <p:sp>
        <p:nvSpPr>
          <p:cNvPr id="11" name="Shape 9"/>
          <p:cNvSpPr/>
          <p:nvPr/>
        </p:nvSpPr>
        <p:spPr>
          <a:xfrm>
            <a:off x="6181344" y="1325880"/>
            <a:ext cx="2633472" cy="3291840"/>
          </a:xfrm>
          <a:prstGeom prst="roundRect">
            <a:avLst>
              <a:gd name="adj" fmla="val 4167"/>
            </a:avLst>
          </a:prstGeom>
          <a:solidFill>
            <a:srgbClr val="F1F5F9"/>
          </a:solidFill>
          <a:ln/>
        </p:spPr>
      </p:sp>
      <p:sp>
        <p:nvSpPr>
          <p:cNvPr id="12" name="Text 10"/>
          <p:cNvSpPr txBox="1"/>
          <p:nvPr/>
        </p:nvSpPr>
        <p:spPr>
          <a:xfrm>
            <a:off x="6181344" y="1600200"/>
            <a:ext cx="2633472" cy="1005840"/>
          </a:xfrm>
          <a:prstGeom prst="rect">
            <a:avLst/>
          </a:prstGeom>
          <a:noFill/>
          <a:ln/>
        </p:spPr>
        <p:txBody>
          <a:bodyPr wrap="square" lIns="0" tIns="0" rIns="0" bIns="0" rtlCol="0" anchor="t"/>
          <a:lstStyle/>
          <a:p>
            <a:pPr algn="ctr" indent="0" marL="0">
              <a:buNone/>
            </a:pPr>
            <a:r>
              <a:rPr lang="en-US" sz="5000" b="1" dirty="0">
                <a:solidFill>
                  <a:srgbClr val="10B981"/>
                </a:solidFill>
                <a:latin typeface="Cambria" pitchFamily="34" charset="0"/>
                <a:ea typeface="Cambria" pitchFamily="34" charset="-122"/>
                <a:cs typeface="Cambria" pitchFamily="34" charset="-120"/>
              </a:rPr>
              <a:t>4 in 5</a:t>
            </a:r>
            <a:endParaRPr lang="en-US" sz="5000" dirty="0"/>
          </a:p>
        </p:txBody>
      </p:sp>
      <p:sp>
        <p:nvSpPr>
          <p:cNvPr id="13" name="Text 11"/>
          <p:cNvSpPr txBox="1"/>
          <p:nvPr/>
        </p:nvSpPr>
        <p:spPr>
          <a:xfrm>
            <a:off x="6364224" y="2697480"/>
            <a:ext cx="2267712" cy="868680"/>
          </a:xfrm>
          <a:prstGeom prst="rect">
            <a:avLst/>
          </a:prstGeom>
          <a:noFill/>
          <a:ln/>
        </p:spPr>
        <p:txBody>
          <a:bodyPr wrap="square" lIns="0" tIns="0" rIns="0" bIns="0" rtlCol="0" anchor="t"/>
          <a:lstStyle/>
          <a:p>
            <a:pPr algn="ctr" indent="0" marL="0">
              <a:buNone/>
            </a:pPr>
            <a:r>
              <a:rPr lang="en-US" sz="1600" b="1" dirty="0">
                <a:solidFill>
                  <a:srgbClr val="0F172A"/>
                </a:solidFill>
                <a:latin typeface="Calibri" pitchFamily="34" charset="0"/>
                <a:ea typeface="Calibri" pitchFamily="34" charset="-122"/>
                <a:cs typeface="Calibri" pitchFamily="34" charset="-120"/>
              </a:rPr>
              <a:t>brand-new commercial AI voices caught</a:t>
            </a:r>
            <a:endParaRPr lang="en-US" sz="1600" dirty="0"/>
          </a:p>
        </p:txBody>
      </p:sp>
      <p:sp>
        <p:nvSpPr>
          <p:cNvPr id="14" name="Text 12"/>
          <p:cNvSpPr txBox="1"/>
          <p:nvPr/>
        </p:nvSpPr>
        <p:spPr>
          <a:xfrm>
            <a:off x="6364224" y="3611880"/>
            <a:ext cx="2267712" cy="82296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2025–26 tools it never trained on</a:t>
            </a:r>
            <a:endParaRPr lang="en-US" sz="1300" dirty="0"/>
          </a:p>
        </p:txBody>
      </p:sp>
      <p:sp>
        <p:nvSpPr>
          <p:cNvPr id="15" name="Shape 13"/>
          <p:cNvSpPr/>
          <p:nvPr/>
        </p:nvSpPr>
        <p:spPr>
          <a:xfrm>
            <a:off x="8997696" y="1325880"/>
            <a:ext cx="2633472" cy="3291840"/>
          </a:xfrm>
          <a:prstGeom prst="roundRect">
            <a:avLst>
              <a:gd name="adj" fmla="val 4167"/>
            </a:avLst>
          </a:prstGeom>
          <a:solidFill>
            <a:srgbClr val="F1F5F9"/>
          </a:solidFill>
          <a:ln/>
        </p:spPr>
      </p:sp>
      <p:sp>
        <p:nvSpPr>
          <p:cNvPr id="16" name="Text 14"/>
          <p:cNvSpPr txBox="1"/>
          <p:nvPr/>
        </p:nvSpPr>
        <p:spPr>
          <a:xfrm>
            <a:off x="8997696" y="1600200"/>
            <a:ext cx="2633472" cy="1005840"/>
          </a:xfrm>
          <a:prstGeom prst="rect">
            <a:avLst/>
          </a:prstGeom>
          <a:noFill/>
          <a:ln/>
        </p:spPr>
        <p:txBody>
          <a:bodyPr wrap="square" lIns="0" tIns="0" rIns="0" bIns="0" rtlCol="0" anchor="t"/>
          <a:lstStyle/>
          <a:p>
            <a:pPr algn="ctr" indent="0" marL="0">
              <a:buNone/>
            </a:pPr>
            <a:r>
              <a:rPr lang="en-US" sz="5000" b="1" dirty="0">
                <a:solidFill>
                  <a:srgbClr val="F59E0B"/>
                </a:solidFill>
                <a:latin typeface="Cambria" pitchFamily="34" charset="0"/>
                <a:ea typeface="Cambria" pitchFamily="34" charset="-122"/>
                <a:cs typeface="Cambria" pitchFamily="34" charset="-120"/>
              </a:rPr>
              <a:t>73%</a:t>
            </a:r>
            <a:endParaRPr lang="en-US" sz="5000" dirty="0"/>
          </a:p>
        </p:txBody>
      </p:sp>
      <p:sp>
        <p:nvSpPr>
          <p:cNvPr id="17" name="Text 15"/>
          <p:cNvSpPr txBox="1"/>
          <p:nvPr/>
        </p:nvSpPr>
        <p:spPr>
          <a:xfrm>
            <a:off x="9180576" y="2697480"/>
            <a:ext cx="2267712" cy="868680"/>
          </a:xfrm>
          <a:prstGeom prst="rect">
            <a:avLst/>
          </a:prstGeom>
          <a:noFill/>
          <a:ln/>
        </p:spPr>
        <p:txBody>
          <a:bodyPr wrap="square" lIns="0" tIns="0" rIns="0" bIns="0" rtlCol="0" anchor="t"/>
          <a:lstStyle/>
          <a:p>
            <a:pPr algn="ctr" indent="0" marL="0">
              <a:buNone/>
            </a:pPr>
            <a:r>
              <a:rPr lang="en-US" sz="1600" b="1" dirty="0">
                <a:solidFill>
                  <a:srgbClr val="0F172A"/>
                </a:solidFill>
                <a:latin typeface="Calibri" pitchFamily="34" charset="0"/>
                <a:ea typeface="Calibri" pitchFamily="34" charset="-122"/>
                <a:cs typeface="Calibri" pitchFamily="34" charset="-120"/>
              </a:rPr>
              <a:t>correct on real-world internet clips</a:t>
            </a:r>
            <a:endParaRPr lang="en-US" sz="1600" dirty="0"/>
          </a:p>
        </p:txBody>
      </p:sp>
      <p:sp>
        <p:nvSpPr>
          <p:cNvPr id="18" name="Text 16"/>
          <p:cNvSpPr txBox="1"/>
          <p:nvPr/>
        </p:nvSpPr>
        <p:spPr>
          <a:xfrm>
            <a:off x="9180576" y="3611880"/>
            <a:ext cx="2267712" cy="82296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the hardest test; room to improve</a:t>
            </a:r>
            <a:endParaRPr lang="en-US" sz="1300" dirty="0"/>
          </a:p>
        </p:txBody>
      </p:sp>
      <p:sp>
        <p:nvSpPr>
          <p:cNvPr id="19" name="Shape 17"/>
          <p:cNvSpPr/>
          <p:nvPr/>
        </p:nvSpPr>
        <p:spPr>
          <a:xfrm>
            <a:off x="548640" y="4892040"/>
            <a:ext cx="11064240" cy="1188720"/>
          </a:xfrm>
          <a:prstGeom prst="roundRect">
            <a:avLst>
              <a:gd name="adj" fmla="val 9231"/>
            </a:avLst>
          </a:prstGeom>
          <a:solidFill>
            <a:srgbClr val="E6F6F4"/>
          </a:solidFill>
          <a:ln/>
        </p:spPr>
      </p:sp>
      <p:sp>
        <p:nvSpPr>
          <p:cNvPr id="20" name="Text 18"/>
          <p:cNvSpPr txBox="1"/>
          <p:nvPr/>
        </p:nvSpPr>
        <p:spPr>
          <a:xfrm>
            <a:off x="731520" y="5029200"/>
            <a:ext cx="10698480" cy="91440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On the strict test: </a:t>
            </a:r>
            <a:pPr indent="0" marL="0">
              <a:buNone/>
            </a:pPr>
            <a:r>
              <a:rPr lang="en-US" sz="1600" dirty="0">
                <a:solidFill>
                  <a:srgbClr val="0F172A"/>
                </a:solidFill>
                <a:latin typeface="Calibri" pitchFamily="34" charset="0"/>
                <a:ea typeface="Calibri" pitchFamily="34" charset="-122"/>
                <a:cs typeface="Calibri" pitchFamily="34" charset="-120"/>
              </a:rPr>
              <a:t>about 7 in 100 genuine recordings are wrongly flagged and about 7 in 100 fakes slip through, before the risk gateway. The gateway cuts both (next slide).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Sending doubtful cases to a person halves both kinds of mistake</a:t>
            </a:r>
            <a:endParaRPr lang="en-US" sz="3200" dirty="0"/>
          </a:p>
        </p:txBody>
      </p:sp>
      <p:graphicFrame>
        <p:nvGraphicFramePr>
          <p:cNvPr id="3" name="Chart 0" descr=""/>
          <p:cNvGraphicFramePr/>
          <p:nvPr/>
        </p:nvGraphicFramePr>
        <p:xfrm>
          <a:off x="548640" y="1325880"/>
          <a:ext cx="54864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26480" y="1325880"/>
          <a:ext cx="5486400" cy="393192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548640" y="5440680"/>
            <a:ext cx="11064240" cy="685800"/>
          </a:xfrm>
          <a:prstGeom prst="roundRect">
            <a:avLst>
              <a:gd name="adj" fmla="val 16000"/>
            </a:avLst>
          </a:prstGeom>
          <a:solidFill>
            <a:srgbClr val="E6F6F4"/>
          </a:solidFill>
          <a:ln/>
        </p:spPr>
      </p:sp>
      <p:sp>
        <p:nvSpPr>
          <p:cNvPr id="6" name="Text 2"/>
          <p:cNvSpPr txBox="1"/>
          <p:nvPr/>
        </p:nvSpPr>
        <p:spPr>
          <a:xfrm>
            <a:off x="731520" y="5440680"/>
            <a:ext cx="10698480" cy="685800"/>
          </a:xfrm>
          <a:prstGeom prst="rect">
            <a:avLst/>
          </a:prstGeom>
          <a:noFill/>
          <a:ln/>
        </p:spPr>
        <p:txBody>
          <a:bodyPr wrap="square" lIns="0" tIns="0" rIns="0" bIns="0" rtlCol="0" anchor="ctr"/>
          <a:lstStyle/>
          <a:p>
            <a:pPr indent="0" marL="0">
              <a:buNone/>
            </a:pPr>
            <a:r>
              <a:rPr lang="en-US" sz="1500" i="1" dirty="0">
                <a:solidFill>
                  <a:srgbClr val="0F172A"/>
                </a:solidFill>
                <a:latin typeface="Calibri" pitchFamily="34" charset="0"/>
                <a:ea typeface="Calibri" pitchFamily="34" charset="-122"/>
                <a:cs typeface="Calibri" pitchFamily="34" charset="-120"/>
              </a:rPr>
              <a:t>The cost: about 15% of genuine recordings go to a human for a quick check (27% on the hardest real-world clips).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Two add-ons lift real-world accuracy, with no retraining</a:t>
            </a:r>
            <a:endParaRPr lang="en-US" sz="3200" dirty="0"/>
          </a:p>
        </p:txBody>
      </p:sp>
      <p:graphicFrame>
        <p:nvGraphicFramePr>
          <p:cNvPr id="3" name="Chart 0" descr=""/>
          <p:cNvGraphicFramePr/>
          <p:nvPr/>
        </p:nvGraphicFramePr>
        <p:xfrm>
          <a:off x="548640" y="128016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223760" y="1280160"/>
            <a:ext cx="4389120" cy="1920240"/>
          </a:xfrm>
          <a:prstGeom prst="roundRect">
            <a:avLst>
              <a:gd name="adj" fmla="val 5714"/>
            </a:avLst>
          </a:prstGeom>
          <a:solidFill>
            <a:srgbClr val="F1F5F9"/>
          </a:solidFill>
          <a:ln/>
        </p:spPr>
      </p:sp>
      <p:sp>
        <p:nvSpPr>
          <p:cNvPr id="5" name="Shape 2"/>
          <p:cNvSpPr/>
          <p:nvPr/>
        </p:nvSpPr>
        <p:spPr>
          <a:xfrm>
            <a:off x="7406640" y="1463040"/>
            <a:ext cx="685800" cy="685800"/>
          </a:xfrm>
          <a:prstGeom prst="ellipse">
            <a:avLst/>
          </a:prstGeom>
          <a:solidFill>
            <a:srgbClr val="0D9488"/>
          </a:solidFill>
          <a:ln/>
        </p:spPr>
      </p:sp>
      <p:pic>
        <p:nvPicPr>
          <p:cNvPr id="6" name="Image 0" descr="preencoded.png">    </p:cNvPr>
          <p:cNvPicPr>
            <a:picLocks noChangeAspect="1"/>
          </p:cNvPicPr>
          <p:nvPr/>
        </p:nvPicPr>
        <p:blipFill>
          <a:blip r:embed="rId2"/>
          <a:stretch>
            <a:fillRect/>
          </a:stretch>
        </p:blipFill>
        <p:spPr>
          <a:xfrm>
            <a:off x="7571232" y="1627632"/>
            <a:ext cx="356616" cy="356616"/>
          </a:xfrm>
          <a:prstGeom prst="rect">
            <a:avLst/>
          </a:prstGeom>
        </p:spPr>
      </p:pic>
      <p:sp>
        <p:nvSpPr>
          <p:cNvPr id="7" name="Text 3"/>
          <p:cNvSpPr txBox="1"/>
          <p:nvPr/>
        </p:nvSpPr>
        <p:spPr>
          <a:xfrm>
            <a:off x="8275320" y="1536192"/>
            <a:ext cx="320040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Reference bank</a:t>
            </a:r>
            <a:endParaRPr lang="en-US" sz="1800" dirty="0"/>
          </a:p>
        </p:txBody>
      </p:sp>
      <p:sp>
        <p:nvSpPr>
          <p:cNvPr id="8" name="Text 4"/>
          <p:cNvSpPr txBox="1"/>
          <p:nvPr/>
        </p:nvSpPr>
        <p:spPr>
          <a:xfrm>
            <a:off x="7406640" y="2194560"/>
            <a:ext cx="4023360" cy="6400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 small extra layer tuned on a few hundred labelled clips of the kind of audio we handle. The AI itself is unchanged.</a:t>
            </a:r>
            <a:endParaRPr lang="en-US" sz="1300" dirty="0"/>
          </a:p>
        </p:txBody>
      </p:sp>
      <p:sp>
        <p:nvSpPr>
          <p:cNvPr id="9" name="Text 5"/>
          <p:cNvSpPr txBox="1"/>
          <p:nvPr/>
        </p:nvSpPr>
        <p:spPr>
          <a:xfrm>
            <a:off x="7406640" y="2761488"/>
            <a:ext cx="4023360" cy="411480"/>
          </a:xfrm>
          <a:prstGeom prst="rect">
            <a:avLst/>
          </a:prstGeom>
          <a:noFill/>
          <a:ln/>
        </p:spPr>
        <p:txBody>
          <a:bodyPr wrap="square" lIns="0" tIns="0" rIns="0" bIns="0" rtlCol="0" anchor="t"/>
          <a:lstStyle/>
          <a:p>
            <a:pPr indent="0" marL="0">
              <a:buNone/>
            </a:pPr>
            <a:r>
              <a:rPr lang="en-US" sz="1200" i="1" dirty="0">
                <a:solidFill>
                  <a:srgbClr val="E5484D"/>
                </a:solidFill>
                <a:latin typeface="Calibri" pitchFamily="34" charset="0"/>
                <a:ea typeface="Calibri" pitchFamily="34" charset="-122"/>
                <a:cs typeface="Calibri" pitchFamily="34" charset="-120"/>
              </a:rPr>
              <a:t>Before a pilot: retune it on our own labelled audio.</a:t>
            </a:r>
            <a:endParaRPr lang="en-US" sz="1200" dirty="0"/>
          </a:p>
        </p:txBody>
      </p:sp>
      <p:sp>
        <p:nvSpPr>
          <p:cNvPr id="10" name="Shape 6"/>
          <p:cNvSpPr/>
          <p:nvPr/>
        </p:nvSpPr>
        <p:spPr>
          <a:xfrm>
            <a:off x="7223760" y="3383280"/>
            <a:ext cx="4389120" cy="1920240"/>
          </a:xfrm>
          <a:prstGeom prst="roundRect">
            <a:avLst>
              <a:gd name="adj" fmla="val 5714"/>
            </a:avLst>
          </a:prstGeom>
          <a:solidFill>
            <a:srgbClr val="F1F5F9"/>
          </a:solidFill>
          <a:ln/>
        </p:spPr>
      </p:sp>
      <p:sp>
        <p:nvSpPr>
          <p:cNvPr id="11" name="Shape 7"/>
          <p:cNvSpPr/>
          <p:nvPr/>
        </p:nvSpPr>
        <p:spPr>
          <a:xfrm>
            <a:off x="7406640" y="3566160"/>
            <a:ext cx="685800" cy="685800"/>
          </a:xfrm>
          <a:prstGeom prst="ellipse">
            <a:avLst/>
          </a:prstGeom>
          <a:solidFill>
            <a:srgbClr val="0D9488"/>
          </a:solidFill>
          <a:ln/>
        </p:spPr>
      </p:sp>
      <p:pic>
        <p:nvPicPr>
          <p:cNvPr id="12" name="Image 1" descr="preencoded.png">    </p:cNvPr>
          <p:cNvPicPr>
            <a:picLocks noChangeAspect="1"/>
          </p:cNvPicPr>
          <p:nvPr/>
        </p:nvPicPr>
        <p:blipFill>
          <a:blip r:embed="rId3"/>
          <a:stretch>
            <a:fillRect/>
          </a:stretch>
        </p:blipFill>
        <p:spPr>
          <a:xfrm>
            <a:off x="7571232" y="3730752"/>
            <a:ext cx="356616" cy="356616"/>
          </a:xfrm>
          <a:prstGeom prst="rect">
            <a:avLst/>
          </a:prstGeom>
        </p:spPr>
      </p:pic>
      <p:sp>
        <p:nvSpPr>
          <p:cNvPr id="13" name="Text 8"/>
          <p:cNvSpPr txBox="1"/>
          <p:nvPr/>
        </p:nvSpPr>
        <p:spPr>
          <a:xfrm>
            <a:off x="8275320" y="3639312"/>
            <a:ext cx="320040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Speaker check</a:t>
            </a:r>
            <a:endParaRPr lang="en-US" sz="1800" dirty="0"/>
          </a:p>
        </p:txBody>
      </p:sp>
      <p:sp>
        <p:nvSpPr>
          <p:cNvPr id="14" name="Text 9"/>
          <p:cNvSpPr txBox="1"/>
          <p:nvPr/>
        </p:nvSpPr>
        <p:spPr>
          <a:xfrm>
            <a:off x="7406640" y="4297680"/>
            <a:ext cx="4023360" cy="6400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When a caller claims to be a known person, compare the voice with 3–5 verified recordings of that person.</a:t>
            </a:r>
            <a:endParaRPr lang="en-US" sz="1300" dirty="0"/>
          </a:p>
        </p:txBody>
      </p:sp>
      <p:sp>
        <p:nvSpPr>
          <p:cNvPr id="15" name="Text 10"/>
          <p:cNvSpPr txBox="1"/>
          <p:nvPr/>
        </p:nvSpPr>
        <p:spPr>
          <a:xfrm>
            <a:off x="7406640" y="4864608"/>
            <a:ext cx="4023360" cy="411480"/>
          </a:xfrm>
          <a:prstGeom prst="rect">
            <a:avLst/>
          </a:prstGeom>
          <a:noFill/>
          <a:ln/>
        </p:spPr>
        <p:txBody>
          <a:bodyPr wrap="square" lIns="0" tIns="0" rIns="0" bIns="0" rtlCol="0" anchor="t"/>
          <a:lstStyle/>
          <a:p>
            <a:pPr indent="0" marL="0">
              <a:buNone/>
            </a:pPr>
            <a:r>
              <a:rPr lang="en-US" sz="1200" i="1" dirty="0">
                <a:solidFill>
                  <a:srgbClr val="E5484D"/>
                </a:solidFill>
                <a:latin typeface="Calibri" pitchFamily="34" charset="0"/>
                <a:ea typeface="Calibri" pitchFamily="34" charset="-122"/>
                <a:cs typeface="Calibri" pitchFamily="34" charset="-120"/>
              </a:rPr>
              <a:t>Fewer fakes slip through (21% → 6%), more genuine calls checked (15% → 24%).</a:t>
            </a:r>
            <a:endParaRPr lang="en-US" sz="1200" dirty="0"/>
          </a:p>
        </p:txBody>
      </p:sp>
      <p:sp>
        <p:nvSpPr>
          <p:cNvPr id="16" name="Shape 11"/>
          <p:cNvSpPr/>
          <p:nvPr/>
        </p:nvSpPr>
        <p:spPr>
          <a:xfrm>
            <a:off x="548640" y="5532120"/>
            <a:ext cx="11064240" cy="640080"/>
          </a:xfrm>
          <a:prstGeom prst="roundRect">
            <a:avLst>
              <a:gd name="adj" fmla="val 17143"/>
            </a:avLst>
          </a:prstGeom>
          <a:solidFill>
            <a:srgbClr val="E6F6F4"/>
          </a:solidFill>
          <a:ln/>
        </p:spPr>
      </p:sp>
      <p:sp>
        <p:nvSpPr>
          <p:cNvPr id="17" name="Text 12"/>
          <p:cNvSpPr txBox="1"/>
          <p:nvPr/>
        </p:nvSpPr>
        <p:spPr>
          <a:xfrm>
            <a:off x="731520" y="5532120"/>
            <a:ext cx="10698480" cy="640080"/>
          </a:xfrm>
          <a:prstGeom prst="rect">
            <a:avLst/>
          </a:prstGeom>
          <a:noFill/>
          <a:ln/>
        </p:spPr>
        <p:txBody>
          <a:bodyPr wrap="square" lIns="0" tIns="0" rIns="0" bIns="0" rtlCol="0" anchor="ctr"/>
          <a:lstStyle/>
          <a:p>
            <a:pPr indent="0" marL="0">
              <a:buNone/>
            </a:pPr>
            <a:r>
              <a:rPr lang="en-US" sz="1400" i="1" dirty="0">
                <a:solidFill>
                  <a:srgbClr val="0F172A"/>
                </a:solidFill>
                <a:latin typeface="Calibri" pitchFamily="34" charset="0"/>
                <a:ea typeface="Calibri" pitchFamily="34" charset="-122"/>
                <a:cs typeface="Calibri" pitchFamily="34" charset="-120"/>
              </a:rPr>
              <a:t>Tested only on speakers the add-ons were never tuned on; demo speakers and clips kept out of all tuning. Speaker check, first group: 479 clips with enough recordings to enroll (detector alone on them: 81%).</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Also new: steadier answers and fewer blind spots</a:t>
            </a:r>
            <a:endParaRPr lang="en-US" sz="3200" dirty="0"/>
          </a:p>
        </p:txBody>
      </p:sp>
      <p:sp>
        <p:nvSpPr>
          <p:cNvPr id="3" name="Shape 1"/>
          <p:cNvSpPr/>
          <p:nvPr/>
        </p:nvSpPr>
        <p:spPr>
          <a:xfrm>
            <a:off x="548640" y="1280160"/>
            <a:ext cx="5440680" cy="1920240"/>
          </a:xfrm>
          <a:prstGeom prst="roundRect">
            <a:avLst>
              <a:gd name="adj" fmla="val 5714"/>
            </a:avLst>
          </a:prstGeom>
          <a:solidFill>
            <a:srgbClr val="F1F5F9"/>
          </a:solidFill>
          <a:ln/>
        </p:spPr>
      </p:sp>
      <p:sp>
        <p:nvSpPr>
          <p:cNvPr id="4" name="Shape 2"/>
          <p:cNvSpPr/>
          <p:nvPr/>
        </p:nvSpPr>
        <p:spPr>
          <a:xfrm>
            <a:off x="777240" y="1554480"/>
            <a:ext cx="777240" cy="777240"/>
          </a:xfrm>
          <a:prstGeom prst="ellipse">
            <a:avLst/>
          </a:prstGeom>
          <a:solidFill>
            <a:srgbClr val="10B981"/>
          </a:solidFill>
          <a:ln/>
        </p:spPr>
      </p:sp>
      <p:pic>
        <p:nvPicPr>
          <p:cNvPr id="5" name="Image 0" descr="preencoded.png">    </p:cNvPr>
          <p:cNvPicPr>
            <a:picLocks noChangeAspect="1"/>
          </p:cNvPicPr>
          <p:nvPr/>
        </p:nvPicPr>
        <p:blipFill>
          <a:blip r:embed="rId1"/>
          <a:stretch>
            <a:fillRect/>
          </a:stretch>
        </p:blipFill>
        <p:spPr>
          <a:xfrm>
            <a:off x="963778" y="1741018"/>
            <a:ext cx="404165" cy="404165"/>
          </a:xfrm>
          <a:prstGeom prst="rect">
            <a:avLst/>
          </a:prstGeom>
        </p:spPr>
      </p:pic>
      <p:sp>
        <p:nvSpPr>
          <p:cNvPr id="6" name="Text 3"/>
          <p:cNvSpPr txBox="1"/>
          <p:nvPr/>
        </p:nvSpPr>
        <p:spPr>
          <a:xfrm>
            <a:off x="1737360" y="1508760"/>
            <a:ext cx="406908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Same answer every time</a:t>
            </a:r>
            <a:endParaRPr lang="en-US" sz="1800" dirty="0"/>
          </a:p>
        </p:txBody>
      </p:sp>
      <p:sp>
        <p:nvSpPr>
          <p:cNvPr id="7" name="Text 4"/>
          <p:cNvSpPr txBox="1"/>
          <p:nvPr/>
        </p:nvSpPr>
        <p:spPr>
          <a:xfrm>
            <a:off x="1737360" y="1965960"/>
            <a:ext cx="4069080" cy="11887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Before, a borderline clip could be blocked on one upload and sent to review on the next. Now the same file always gets the same decision.</a:t>
            </a:r>
            <a:endParaRPr lang="en-US" sz="1400" dirty="0"/>
          </a:p>
        </p:txBody>
      </p:sp>
      <p:sp>
        <p:nvSpPr>
          <p:cNvPr id="8" name="Shape 5"/>
          <p:cNvSpPr/>
          <p:nvPr/>
        </p:nvSpPr>
        <p:spPr>
          <a:xfrm>
            <a:off x="6172200" y="1280160"/>
            <a:ext cx="5440680" cy="1920240"/>
          </a:xfrm>
          <a:prstGeom prst="roundRect">
            <a:avLst>
              <a:gd name="adj" fmla="val 5714"/>
            </a:avLst>
          </a:prstGeom>
          <a:solidFill>
            <a:srgbClr val="F1F5F9"/>
          </a:solidFill>
          <a:ln/>
        </p:spPr>
      </p:sp>
      <p:sp>
        <p:nvSpPr>
          <p:cNvPr id="9" name="Shape 6"/>
          <p:cNvSpPr/>
          <p:nvPr/>
        </p:nvSpPr>
        <p:spPr>
          <a:xfrm>
            <a:off x="6400800" y="1554480"/>
            <a:ext cx="777240" cy="777240"/>
          </a:xfrm>
          <a:prstGeom prst="ellipse">
            <a:avLst/>
          </a:prstGeom>
          <a:solidFill>
            <a:srgbClr val="0D9488"/>
          </a:solidFill>
          <a:ln/>
        </p:spPr>
      </p:sp>
      <p:pic>
        <p:nvPicPr>
          <p:cNvPr id="10" name="Image 1" descr="preencoded.png">    </p:cNvPr>
          <p:cNvPicPr>
            <a:picLocks noChangeAspect="1"/>
          </p:cNvPicPr>
          <p:nvPr/>
        </p:nvPicPr>
        <p:blipFill>
          <a:blip r:embed="rId2"/>
          <a:stretch>
            <a:fillRect/>
          </a:stretch>
        </p:blipFill>
        <p:spPr>
          <a:xfrm>
            <a:off x="6587338" y="1741018"/>
            <a:ext cx="404165" cy="404165"/>
          </a:xfrm>
          <a:prstGeom prst="rect">
            <a:avLst/>
          </a:prstGeom>
        </p:spPr>
      </p:pic>
      <p:sp>
        <p:nvSpPr>
          <p:cNvPr id="11" name="Text 7"/>
          <p:cNvSpPr txBox="1"/>
          <p:nvPr/>
        </p:nvSpPr>
        <p:spPr>
          <a:xfrm>
            <a:off x="7360920" y="1508760"/>
            <a:ext cx="406908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No blind spots inside a recording</a:t>
            </a:r>
            <a:endParaRPr lang="en-US" sz="1800" dirty="0"/>
          </a:p>
        </p:txBody>
      </p:sp>
      <p:sp>
        <p:nvSpPr>
          <p:cNvPr id="12" name="Text 8"/>
          <p:cNvSpPr txBox="1"/>
          <p:nvPr/>
        </p:nvSpPr>
        <p:spPr>
          <a:xfrm>
            <a:off x="7360920" y="1965960"/>
            <a:ext cx="4069080" cy="11887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Every half second is now checked. An Indian-English AI voice that scored 8% fake is now caught (99.7%). Overall accuracy is about the same (79% → 80%).</a:t>
            </a:r>
            <a:endParaRPr lang="en-US" sz="1400" dirty="0"/>
          </a:p>
        </p:txBody>
      </p:sp>
      <p:sp>
        <p:nvSpPr>
          <p:cNvPr id="13" name="Shape 9"/>
          <p:cNvSpPr/>
          <p:nvPr/>
        </p:nvSpPr>
        <p:spPr>
          <a:xfrm>
            <a:off x="548640" y="3383280"/>
            <a:ext cx="5440680" cy="1920240"/>
          </a:xfrm>
          <a:prstGeom prst="roundRect">
            <a:avLst>
              <a:gd name="adj" fmla="val 5714"/>
            </a:avLst>
          </a:prstGeom>
          <a:solidFill>
            <a:srgbClr val="F1F5F9"/>
          </a:solidFill>
          <a:ln/>
        </p:spPr>
      </p:sp>
      <p:sp>
        <p:nvSpPr>
          <p:cNvPr id="14" name="Shape 10"/>
          <p:cNvSpPr/>
          <p:nvPr/>
        </p:nvSpPr>
        <p:spPr>
          <a:xfrm>
            <a:off x="777240" y="3657600"/>
            <a:ext cx="777240" cy="777240"/>
          </a:xfrm>
          <a:prstGeom prst="ellipse">
            <a:avLst/>
          </a:prstGeom>
          <a:solidFill>
            <a:srgbClr val="F59E0B"/>
          </a:solidFill>
          <a:ln/>
        </p:spPr>
      </p:sp>
      <p:pic>
        <p:nvPicPr>
          <p:cNvPr id="15" name="Image 2" descr="preencoded.png">    </p:cNvPr>
          <p:cNvPicPr>
            <a:picLocks noChangeAspect="1"/>
          </p:cNvPicPr>
          <p:nvPr/>
        </p:nvPicPr>
        <p:blipFill>
          <a:blip r:embed="rId3"/>
          <a:stretch>
            <a:fillRect/>
          </a:stretch>
        </p:blipFill>
        <p:spPr>
          <a:xfrm>
            <a:off x="963778" y="3844138"/>
            <a:ext cx="404165" cy="404165"/>
          </a:xfrm>
          <a:prstGeom prst="rect">
            <a:avLst/>
          </a:prstGeom>
        </p:spPr>
      </p:pic>
      <p:sp>
        <p:nvSpPr>
          <p:cNvPr id="16" name="Text 11"/>
          <p:cNvSpPr txBox="1"/>
          <p:nvPr/>
        </p:nvSpPr>
        <p:spPr>
          <a:xfrm>
            <a:off x="1737360" y="3611880"/>
            <a:ext cx="406908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Spliced fakes</a:t>
            </a:r>
            <a:endParaRPr lang="en-US" sz="1800" dirty="0"/>
          </a:p>
        </p:txBody>
      </p:sp>
      <p:sp>
        <p:nvSpPr>
          <p:cNvPr id="17" name="Text 12"/>
          <p:cNvSpPr txBox="1"/>
          <p:nvPr/>
        </p:nvSpPr>
        <p:spPr>
          <a:xfrm>
            <a:off x="1737360" y="4069080"/>
            <a:ext cx="4069080" cy="11887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1.8 s of AI speech inserted into a real recording: the detector alone missed it (0%); with the reference bank it goes to review (66%).</a:t>
            </a:r>
            <a:endParaRPr lang="en-US" sz="1400" dirty="0"/>
          </a:p>
        </p:txBody>
      </p:sp>
      <p:sp>
        <p:nvSpPr>
          <p:cNvPr id="18" name="Shape 13"/>
          <p:cNvSpPr/>
          <p:nvPr/>
        </p:nvSpPr>
        <p:spPr>
          <a:xfrm>
            <a:off x="6172200" y="3383280"/>
            <a:ext cx="5440680" cy="1920240"/>
          </a:xfrm>
          <a:prstGeom prst="roundRect">
            <a:avLst>
              <a:gd name="adj" fmla="val 5714"/>
            </a:avLst>
          </a:prstGeom>
          <a:solidFill>
            <a:srgbClr val="F1F5F9"/>
          </a:solidFill>
          <a:ln/>
        </p:spPr>
      </p:sp>
      <p:sp>
        <p:nvSpPr>
          <p:cNvPr id="19" name="Shape 14"/>
          <p:cNvSpPr/>
          <p:nvPr/>
        </p:nvSpPr>
        <p:spPr>
          <a:xfrm>
            <a:off x="6400800" y="3657600"/>
            <a:ext cx="777240" cy="777240"/>
          </a:xfrm>
          <a:prstGeom prst="ellipse">
            <a:avLst/>
          </a:prstGeom>
          <a:solidFill>
            <a:srgbClr val="64748B"/>
          </a:solidFill>
          <a:ln/>
        </p:spPr>
      </p:sp>
      <p:pic>
        <p:nvPicPr>
          <p:cNvPr id="20" name="Image 3" descr="preencoded.png">    </p:cNvPr>
          <p:cNvPicPr>
            <a:picLocks noChangeAspect="1"/>
          </p:cNvPicPr>
          <p:nvPr/>
        </p:nvPicPr>
        <p:blipFill>
          <a:blip r:embed="rId4"/>
          <a:stretch>
            <a:fillRect/>
          </a:stretch>
        </p:blipFill>
        <p:spPr>
          <a:xfrm>
            <a:off x="6587338" y="3844138"/>
            <a:ext cx="404165" cy="404165"/>
          </a:xfrm>
          <a:prstGeom prst="rect">
            <a:avLst/>
          </a:prstGeom>
        </p:spPr>
      </p:pic>
      <p:sp>
        <p:nvSpPr>
          <p:cNvPr id="21" name="Text 15"/>
          <p:cNvSpPr txBox="1"/>
          <p:nvPr/>
        </p:nvSpPr>
        <p:spPr>
          <a:xfrm>
            <a:off x="7360920" y="3611880"/>
            <a:ext cx="406908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Tried and dropped</a:t>
            </a:r>
            <a:endParaRPr lang="en-US" sz="1800" dirty="0"/>
          </a:p>
        </p:txBody>
      </p:sp>
      <p:sp>
        <p:nvSpPr>
          <p:cNvPr id="22" name="Text 16"/>
          <p:cNvSpPr txBox="1"/>
          <p:nvPr/>
        </p:nvSpPr>
        <p:spPr>
          <a:xfrm>
            <a:off x="7360920" y="4069080"/>
            <a:ext cx="4069080" cy="11887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Re-checking each clip with added noise to spot shaky verdicts did not help at the same review workload, so we did not keep it.</a:t>
            </a:r>
            <a:endParaRPr lang="en-US" sz="1400" dirty="0"/>
          </a:p>
        </p:txBody>
      </p:sp>
      <p:sp>
        <p:nvSpPr>
          <p:cNvPr id="23" name="Shape 17"/>
          <p:cNvSpPr/>
          <p:nvPr/>
        </p:nvSpPr>
        <p:spPr>
          <a:xfrm>
            <a:off x="548640" y="5623560"/>
            <a:ext cx="11064240" cy="548640"/>
          </a:xfrm>
          <a:prstGeom prst="roundRect">
            <a:avLst>
              <a:gd name="adj" fmla="val 20000"/>
            </a:avLst>
          </a:prstGeom>
          <a:solidFill>
            <a:srgbClr val="0F172A"/>
          </a:solidFill>
          <a:ln/>
        </p:spPr>
      </p:sp>
      <p:sp>
        <p:nvSpPr>
          <p:cNvPr id="24" name="Text 18"/>
          <p:cNvSpPr txBox="1"/>
          <p:nvPr/>
        </p:nvSpPr>
        <p:spPr>
          <a:xfrm>
            <a:off x="731520" y="5623560"/>
            <a:ext cx="1069848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Next: full retraining (round 3) is built and tested; it needs a few hours of cloud GPU time.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Live demo: three real cases</a:t>
            </a:r>
            <a:endParaRPr lang="en-US" sz="3200" dirty="0"/>
          </a:p>
        </p:txBody>
      </p:sp>
      <p:sp>
        <p:nvSpPr>
          <p:cNvPr id="3" name="Shape 1"/>
          <p:cNvSpPr/>
          <p:nvPr/>
        </p:nvSpPr>
        <p:spPr>
          <a:xfrm>
            <a:off x="548640" y="1234440"/>
            <a:ext cx="3611880" cy="3611880"/>
          </a:xfrm>
          <a:prstGeom prst="roundRect">
            <a:avLst>
              <a:gd name="adj" fmla="val 3038"/>
            </a:avLst>
          </a:prstGeom>
          <a:solidFill>
            <a:srgbClr val="1C1C1C"/>
          </a:solidFill>
          <a:ln/>
        </p:spPr>
      </p:sp>
      <p:pic>
        <p:nvPicPr>
          <p:cNvPr id="4" name="Image 0" descr="D:\Claude\deepshield-package\deliverables\_work\screens\result_genuine_pass_card.png">    </p:cNvPr>
          <p:cNvPicPr>
            <a:picLocks noChangeAspect="1"/>
          </p:cNvPicPr>
          <p:nvPr/>
        </p:nvPicPr>
        <p:blipFill>
          <a:blip r:embed="rId1"/>
          <a:stretch>
            <a:fillRect/>
          </a:stretch>
        </p:blipFill>
        <p:spPr>
          <a:xfrm>
            <a:off x="831302" y="1298448"/>
            <a:ext cx="3046555" cy="3474720"/>
          </a:xfrm>
          <a:prstGeom prst="rect">
            <a:avLst/>
          </a:prstGeom>
        </p:spPr>
      </p:pic>
      <p:sp>
        <p:nvSpPr>
          <p:cNvPr id="5" name="Text 2"/>
          <p:cNvSpPr txBox="1"/>
          <p:nvPr/>
        </p:nvSpPr>
        <p:spPr>
          <a:xfrm>
            <a:off x="548640" y="4956048"/>
            <a:ext cx="3611880" cy="41148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Genuine voice → Pass</a:t>
            </a:r>
            <a:endParaRPr lang="en-US" sz="1700" dirty="0"/>
          </a:p>
        </p:txBody>
      </p:sp>
      <p:sp>
        <p:nvSpPr>
          <p:cNvPr id="6" name="Text 3"/>
          <p:cNvSpPr txBox="1"/>
          <p:nvPr/>
        </p:nvSpPr>
        <p:spPr>
          <a:xfrm>
            <a:off x="548640" y="5367528"/>
            <a:ext cx="3611880" cy="7315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Real Mark Zuckerberg interview clip. Low risk, cleared automatically.</a:t>
            </a:r>
            <a:endParaRPr lang="en-US" sz="1300" dirty="0"/>
          </a:p>
        </p:txBody>
      </p:sp>
      <p:sp>
        <p:nvSpPr>
          <p:cNvPr id="7" name="Shape 4"/>
          <p:cNvSpPr/>
          <p:nvPr/>
        </p:nvSpPr>
        <p:spPr>
          <a:xfrm>
            <a:off x="4343400" y="1234440"/>
            <a:ext cx="3611880" cy="3611880"/>
          </a:xfrm>
          <a:prstGeom prst="roundRect">
            <a:avLst>
              <a:gd name="adj" fmla="val 3038"/>
            </a:avLst>
          </a:prstGeom>
          <a:solidFill>
            <a:srgbClr val="1C1C1C"/>
          </a:solidFill>
          <a:ln/>
        </p:spPr>
      </p:sp>
      <p:pic>
        <p:nvPicPr>
          <p:cNvPr id="8" name="Image 1" descr="D:\Claude\deepshield-package\deliverables\_work\screens\result_deepfake_block_card.png">    </p:cNvPr>
          <p:cNvPicPr>
            <a:picLocks noChangeAspect="1"/>
          </p:cNvPicPr>
          <p:nvPr/>
        </p:nvPicPr>
        <p:blipFill>
          <a:blip r:embed="rId2"/>
          <a:stretch>
            <a:fillRect/>
          </a:stretch>
        </p:blipFill>
        <p:spPr>
          <a:xfrm>
            <a:off x="4626062" y="1298448"/>
            <a:ext cx="3046555" cy="3474720"/>
          </a:xfrm>
          <a:prstGeom prst="rect">
            <a:avLst/>
          </a:prstGeom>
        </p:spPr>
      </p:pic>
      <p:sp>
        <p:nvSpPr>
          <p:cNvPr id="9" name="Text 5"/>
          <p:cNvSpPr txBox="1"/>
          <p:nvPr/>
        </p:nvSpPr>
        <p:spPr>
          <a:xfrm>
            <a:off x="4343400" y="4956048"/>
            <a:ext cx="3611880" cy="411480"/>
          </a:xfrm>
          <a:prstGeom prst="rect">
            <a:avLst/>
          </a:prstGeom>
          <a:noFill/>
          <a:ln/>
        </p:spPr>
        <p:txBody>
          <a:bodyPr wrap="square" lIns="0" tIns="0" rIns="0" bIns="0" rtlCol="0" anchor="t"/>
          <a:lstStyle/>
          <a:p>
            <a:pPr indent="0" marL="0">
              <a:buNone/>
            </a:pPr>
            <a:r>
              <a:rPr lang="en-US" sz="1700" b="1" dirty="0">
                <a:solidFill>
                  <a:srgbClr val="E5484D"/>
                </a:solidFill>
                <a:latin typeface="Calibri" pitchFamily="34" charset="0"/>
                <a:ea typeface="Calibri" pitchFamily="34" charset="-122"/>
                <a:cs typeface="Calibri" pitchFamily="34" charset="-120"/>
              </a:rPr>
              <a:t>AI voice → Block</a:t>
            </a:r>
            <a:endParaRPr lang="en-US" sz="1700" dirty="0"/>
          </a:p>
        </p:txBody>
      </p:sp>
      <p:sp>
        <p:nvSpPr>
          <p:cNvPr id="10" name="Text 6"/>
          <p:cNvSpPr txBox="1"/>
          <p:nvPr/>
        </p:nvSpPr>
        <p:spPr>
          <a:xfrm>
            <a:off x="4343400" y="5367528"/>
            <a:ext cx="3611880" cy="7315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AI-generated Barack Obama clip. Fake score 95%, blocked.</a:t>
            </a:r>
            <a:endParaRPr lang="en-US" sz="1300" dirty="0"/>
          </a:p>
        </p:txBody>
      </p:sp>
      <p:sp>
        <p:nvSpPr>
          <p:cNvPr id="11" name="Shape 7"/>
          <p:cNvSpPr/>
          <p:nvPr/>
        </p:nvSpPr>
        <p:spPr>
          <a:xfrm>
            <a:off x="8138160" y="1234440"/>
            <a:ext cx="3611880" cy="3611880"/>
          </a:xfrm>
          <a:prstGeom prst="roundRect">
            <a:avLst>
              <a:gd name="adj" fmla="val 3038"/>
            </a:avLst>
          </a:prstGeom>
          <a:solidFill>
            <a:srgbClr val="1C1C1C"/>
          </a:solidFill>
          <a:ln/>
        </p:spPr>
      </p:sp>
      <p:pic>
        <p:nvPicPr>
          <p:cNvPr id="12" name="Image 2" descr="D:\Claude\deepshield-package\deliverables\_work\screens\result_review_uncertain_card.png">    </p:cNvPr>
          <p:cNvPicPr>
            <a:picLocks noChangeAspect="1"/>
          </p:cNvPicPr>
          <p:nvPr/>
        </p:nvPicPr>
        <p:blipFill>
          <a:blip r:embed="rId3"/>
          <a:stretch>
            <a:fillRect/>
          </a:stretch>
        </p:blipFill>
        <p:spPr>
          <a:xfrm>
            <a:off x="8420822" y="1298448"/>
            <a:ext cx="3046555" cy="3474720"/>
          </a:xfrm>
          <a:prstGeom prst="rect">
            <a:avLst/>
          </a:prstGeom>
        </p:spPr>
      </p:pic>
      <p:sp>
        <p:nvSpPr>
          <p:cNvPr id="13" name="Text 8"/>
          <p:cNvSpPr txBox="1"/>
          <p:nvPr/>
        </p:nvSpPr>
        <p:spPr>
          <a:xfrm>
            <a:off x="8138160" y="4956048"/>
            <a:ext cx="3611880" cy="411480"/>
          </a:xfrm>
          <a:prstGeom prst="rect">
            <a:avLst/>
          </a:prstGeom>
          <a:noFill/>
          <a:ln/>
        </p:spPr>
        <p:txBody>
          <a:bodyPr wrap="square" lIns="0" tIns="0" rIns="0" bIns="0" rtlCol="0" anchor="t"/>
          <a:lstStyle/>
          <a:p>
            <a:pPr indent="0" marL="0">
              <a:buNone/>
            </a:pPr>
            <a:r>
              <a:rPr lang="en-US" sz="1700" b="1" dirty="0">
                <a:solidFill>
                  <a:srgbClr val="F59E0B"/>
                </a:solidFill>
                <a:latin typeface="Calibri" pitchFamily="34" charset="0"/>
                <a:ea typeface="Calibri" pitchFamily="34" charset="-122"/>
                <a:cs typeface="Calibri" pitchFamily="34" charset="-120"/>
              </a:rPr>
              <a:t>Unsure → Human review</a:t>
            </a:r>
            <a:endParaRPr lang="en-US" sz="1700" dirty="0"/>
          </a:p>
        </p:txBody>
      </p:sp>
      <p:sp>
        <p:nvSpPr>
          <p:cNvPr id="14" name="Text 9"/>
          <p:cNvSpPr txBox="1"/>
          <p:nvPr/>
        </p:nvSpPr>
        <p:spPr>
          <a:xfrm>
            <a:off x="8138160" y="5367528"/>
            <a:ext cx="3611880" cy="7315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AI-generated Zuckerberg clip. Fake score right on 50%, so a person checks it.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What it does not do yet, and what comes next</a:t>
            </a:r>
            <a:endParaRPr lang="en-US" sz="3200" dirty="0"/>
          </a:p>
        </p:txBody>
      </p:sp>
      <p:sp>
        <p:nvSpPr>
          <p:cNvPr id="3" name="Text 1"/>
          <p:cNvSpPr txBox="1"/>
          <p:nvPr/>
        </p:nvSpPr>
        <p:spPr>
          <a:xfrm>
            <a:off x="548640" y="1280160"/>
            <a:ext cx="5486400" cy="411480"/>
          </a:xfrm>
          <a:prstGeom prst="rect">
            <a:avLst/>
          </a:prstGeom>
          <a:noFill/>
          <a:ln/>
        </p:spPr>
        <p:txBody>
          <a:bodyPr wrap="square" lIns="0" tIns="0" rIns="0" bIns="0" rtlCol="0" anchor="t"/>
          <a:lstStyle/>
          <a:p>
            <a:pPr indent="0" marL="0">
              <a:buNone/>
            </a:pPr>
            <a:r>
              <a:rPr lang="en-US" sz="1900" b="1" dirty="0">
                <a:solidFill>
                  <a:srgbClr val="E5484D"/>
                </a:solidFill>
                <a:latin typeface="Calibri" pitchFamily="34" charset="0"/>
                <a:ea typeface="Calibri" pitchFamily="34" charset="-122"/>
                <a:cs typeface="Calibri" pitchFamily="34" charset="-120"/>
              </a:rPr>
              <a:t>Honest limitations</a:t>
            </a:r>
            <a:endParaRPr lang="en-US" sz="1900" dirty="0"/>
          </a:p>
        </p:txBody>
      </p:sp>
      <p:sp>
        <p:nvSpPr>
          <p:cNvPr id="4" name="Shape 2"/>
          <p:cNvSpPr/>
          <p:nvPr/>
        </p:nvSpPr>
        <p:spPr>
          <a:xfrm>
            <a:off x="548640" y="1783080"/>
            <a:ext cx="640080" cy="640080"/>
          </a:xfrm>
          <a:prstGeom prst="ellipse">
            <a:avLst/>
          </a:prstGeom>
          <a:solidFill>
            <a:srgbClr val="E5484D"/>
          </a:solidFill>
          <a:ln/>
        </p:spPr>
      </p:sp>
      <p:pic>
        <p:nvPicPr>
          <p:cNvPr id="5" name="Image 0" descr="preencoded.png">    </p:cNvPr>
          <p:cNvPicPr>
            <a:picLocks noChangeAspect="1"/>
          </p:cNvPicPr>
          <p:nvPr/>
        </p:nvPicPr>
        <p:blipFill>
          <a:blip r:embed="rId1"/>
          <a:stretch>
            <a:fillRect/>
          </a:stretch>
        </p:blipFill>
        <p:spPr>
          <a:xfrm>
            <a:off x="702259" y="1936699"/>
            <a:ext cx="332842" cy="332842"/>
          </a:xfrm>
          <a:prstGeom prst="rect">
            <a:avLst/>
          </a:prstGeom>
        </p:spPr>
      </p:pic>
      <p:sp>
        <p:nvSpPr>
          <p:cNvPr id="6" name="Text 3"/>
          <p:cNvSpPr txBox="1"/>
          <p:nvPr/>
        </p:nvSpPr>
        <p:spPr>
          <a:xfrm>
            <a:off x="1371600" y="1801368"/>
            <a:ext cx="448056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Brand-new AI voice tools still get through more often (about 1 in 3 in our hardest tests)</a:t>
            </a:r>
            <a:endParaRPr lang="en-US" sz="1500" dirty="0"/>
          </a:p>
        </p:txBody>
      </p:sp>
      <p:sp>
        <p:nvSpPr>
          <p:cNvPr id="7" name="Shape 4"/>
          <p:cNvSpPr/>
          <p:nvPr/>
        </p:nvSpPr>
        <p:spPr>
          <a:xfrm>
            <a:off x="548640" y="2697480"/>
            <a:ext cx="640080" cy="640080"/>
          </a:xfrm>
          <a:prstGeom prst="ellipse">
            <a:avLst/>
          </a:prstGeom>
          <a:solidFill>
            <a:srgbClr val="E5484D"/>
          </a:solidFill>
          <a:ln/>
        </p:spPr>
      </p:sp>
      <p:pic>
        <p:nvPicPr>
          <p:cNvPr id="8" name="Image 1" descr="preencoded.png">    </p:cNvPr>
          <p:cNvPicPr>
            <a:picLocks noChangeAspect="1"/>
          </p:cNvPicPr>
          <p:nvPr/>
        </p:nvPicPr>
        <p:blipFill>
          <a:blip r:embed="rId2"/>
          <a:stretch>
            <a:fillRect/>
          </a:stretch>
        </p:blipFill>
        <p:spPr>
          <a:xfrm>
            <a:off x="702259" y="2851099"/>
            <a:ext cx="332842" cy="332842"/>
          </a:xfrm>
          <a:prstGeom prst="rect">
            <a:avLst/>
          </a:prstGeom>
        </p:spPr>
      </p:pic>
      <p:sp>
        <p:nvSpPr>
          <p:cNvPr id="9" name="Text 5"/>
          <p:cNvSpPr txBox="1"/>
          <p:nvPr/>
        </p:nvSpPr>
        <p:spPr>
          <a:xfrm>
            <a:off x="1371600" y="2715768"/>
            <a:ext cx="448056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Heavy background noise reduces accuracy</a:t>
            </a:r>
            <a:endParaRPr lang="en-US" sz="1500" dirty="0"/>
          </a:p>
        </p:txBody>
      </p:sp>
      <p:sp>
        <p:nvSpPr>
          <p:cNvPr id="10" name="Shape 6"/>
          <p:cNvSpPr/>
          <p:nvPr/>
        </p:nvSpPr>
        <p:spPr>
          <a:xfrm>
            <a:off x="548640" y="3611880"/>
            <a:ext cx="640080" cy="640080"/>
          </a:xfrm>
          <a:prstGeom prst="ellipse">
            <a:avLst/>
          </a:prstGeom>
          <a:solidFill>
            <a:srgbClr val="E5484D"/>
          </a:solidFill>
          <a:ln/>
        </p:spPr>
      </p:sp>
      <p:pic>
        <p:nvPicPr>
          <p:cNvPr id="11" name="Image 2" descr="preencoded.png">    </p:cNvPr>
          <p:cNvPicPr>
            <a:picLocks noChangeAspect="1"/>
          </p:cNvPicPr>
          <p:nvPr/>
        </p:nvPicPr>
        <p:blipFill>
          <a:blip r:embed="rId3"/>
          <a:stretch>
            <a:fillRect/>
          </a:stretch>
        </p:blipFill>
        <p:spPr>
          <a:xfrm>
            <a:off x="702259" y="3765499"/>
            <a:ext cx="332842" cy="332842"/>
          </a:xfrm>
          <a:prstGeom prst="rect">
            <a:avLst/>
          </a:prstGeom>
        </p:spPr>
      </p:pic>
      <p:sp>
        <p:nvSpPr>
          <p:cNvPr id="12" name="Text 7"/>
          <p:cNvSpPr txBox="1"/>
          <p:nvPr/>
        </p:nvSpPr>
        <p:spPr>
          <a:xfrm>
            <a:off x="1371600" y="3630168"/>
            <a:ext cx="448056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Clips under 2 seconds cannot be judged; they go to review</a:t>
            </a:r>
            <a:endParaRPr lang="en-US" sz="1500" dirty="0"/>
          </a:p>
        </p:txBody>
      </p:sp>
      <p:sp>
        <p:nvSpPr>
          <p:cNvPr id="13" name="Shape 8"/>
          <p:cNvSpPr/>
          <p:nvPr/>
        </p:nvSpPr>
        <p:spPr>
          <a:xfrm>
            <a:off x="548640" y="4526280"/>
            <a:ext cx="640080" cy="640080"/>
          </a:xfrm>
          <a:prstGeom prst="ellipse">
            <a:avLst/>
          </a:prstGeom>
          <a:solidFill>
            <a:srgbClr val="E5484D"/>
          </a:solidFill>
          <a:ln/>
        </p:spPr>
      </p:sp>
      <p:pic>
        <p:nvPicPr>
          <p:cNvPr id="14" name="Image 3" descr="preencoded.png">    </p:cNvPr>
          <p:cNvPicPr>
            <a:picLocks noChangeAspect="1"/>
          </p:cNvPicPr>
          <p:nvPr/>
        </p:nvPicPr>
        <p:blipFill>
          <a:blip r:embed="rId4"/>
          <a:stretch>
            <a:fillRect/>
          </a:stretch>
        </p:blipFill>
        <p:spPr>
          <a:xfrm>
            <a:off x="702259" y="4679899"/>
            <a:ext cx="332842" cy="332842"/>
          </a:xfrm>
          <a:prstGeom prst="rect">
            <a:avLst/>
          </a:prstGeom>
        </p:spPr>
      </p:pic>
      <p:sp>
        <p:nvSpPr>
          <p:cNvPr id="15" name="Text 9"/>
          <p:cNvSpPr txBox="1"/>
          <p:nvPr/>
        </p:nvSpPr>
        <p:spPr>
          <a:xfrm>
            <a:off x="1371600" y="4544568"/>
            <a:ext cx="448056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Spliced recordings fool the AI alone; the reference bank catches our test case, but it needs wider testing</a:t>
            </a:r>
            <a:endParaRPr lang="en-US" sz="1500" dirty="0"/>
          </a:p>
        </p:txBody>
      </p:sp>
      <p:sp>
        <p:nvSpPr>
          <p:cNvPr id="16" name="Text 10"/>
          <p:cNvSpPr txBox="1"/>
          <p:nvPr/>
        </p:nvSpPr>
        <p:spPr>
          <a:xfrm>
            <a:off x="6492240" y="1280160"/>
            <a:ext cx="5120640" cy="411480"/>
          </a:xfrm>
          <a:prstGeom prst="rect">
            <a:avLst/>
          </a:prstGeom>
          <a:noFill/>
          <a:ln/>
        </p:spPr>
        <p:txBody>
          <a:bodyPr wrap="square" lIns="0" tIns="0" rIns="0" bIns="0" rtlCol="0" anchor="t"/>
          <a:lstStyle/>
          <a:p>
            <a:pPr indent="0" marL="0">
              <a:buNone/>
            </a:pPr>
            <a:r>
              <a:rPr lang="en-US" sz="1900" b="1" dirty="0">
                <a:solidFill>
                  <a:srgbClr val="0D9488"/>
                </a:solidFill>
                <a:latin typeface="Calibri" pitchFamily="34" charset="0"/>
                <a:ea typeface="Calibri" pitchFamily="34" charset="-122"/>
                <a:cs typeface="Calibri" pitchFamily="34" charset="-120"/>
              </a:rPr>
              <a:t>Next steps</a:t>
            </a:r>
            <a:endParaRPr lang="en-US" sz="1900" dirty="0"/>
          </a:p>
        </p:txBody>
      </p:sp>
      <p:sp>
        <p:nvSpPr>
          <p:cNvPr id="17" name="Shape 11"/>
          <p:cNvSpPr/>
          <p:nvPr/>
        </p:nvSpPr>
        <p:spPr>
          <a:xfrm>
            <a:off x="6492240" y="1783080"/>
            <a:ext cx="640080" cy="640080"/>
          </a:xfrm>
          <a:prstGeom prst="ellipse">
            <a:avLst/>
          </a:prstGeom>
          <a:solidFill>
            <a:srgbClr val="0D9488"/>
          </a:solidFill>
          <a:ln/>
        </p:spPr>
      </p:sp>
      <p:pic>
        <p:nvPicPr>
          <p:cNvPr id="18" name="Image 4" descr="preencoded.png">    </p:cNvPr>
          <p:cNvPicPr>
            <a:picLocks noChangeAspect="1"/>
          </p:cNvPicPr>
          <p:nvPr/>
        </p:nvPicPr>
        <p:blipFill>
          <a:blip r:embed="rId5"/>
          <a:stretch>
            <a:fillRect/>
          </a:stretch>
        </p:blipFill>
        <p:spPr>
          <a:xfrm>
            <a:off x="6645859" y="1936699"/>
            <a:ext cx="332842" cy="332842"/>
          </a:xfrm>
          <a:prstGeom prst="rect">
            <a:avLst/>
          </a:prstGeom>
        </p:spPr>
      </p:pic>
      <p:sp>
        <p:nvSpPr>
          <p:cNvPr id="19" name="Text 12"/>
          <p:cNvSpPr txBox="1"/>
          <p:nvPr/>
        </p:nvSpPr>
        <p:spPr>
          <a:xfrm>
            <a:off x="7315200" y="1801368"/>
            <a:ext cx="429768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Run the round-3 retraining (ready; a few GPU hours): new voices, spliced fakes, Indian-accent fakes</a:t>
            </a:r>
            <a:endParaRPr lang="en-US" sz="1500" dirty="0"/>
          </a:p>
        </p:txBody>
      </p:sp>
      <p:sp>
        <p:nvSpPr>
          <p:cNvPr id="20" name="Shape 13"/>
          <p:cNvSpPr/>
          <p:nvPr/>
        </p:nvSpPr>
        <p:spPr>
          <a:xfrm>
            <a:off x="6492240" y="2697480"/>
            <a:ext cx="640080" cy="640080"/>
          </a:xfrm>
          <a:prstGeom prst="ellipse">
            <a:avLst/>
          </a:prstGeom>
          <a:solidFill>
            <a:srgbClr val="0D9488"/>
          </a:solidFill>
          <a:ln/>
        </p:spPr>
      </p:sp>
      <p:pic>
        <p:nvPicPr>
          <p:cNvPr id="21" name="Image 5" descr="preencoded.png">    </p:cNvPr>
          <p:cNvPicPr>
            <a:picLocks noChangeAspect="1"/>
          </p:cNvPicPr>
          <p:nvPr/>
        </p:nvPicPr>
        <p:blipFill>
          <a:blip r:embed="rId6"/>
          <a:stretch>
            <a:fillRect/>
          </a:stretch>
        </p:blipFill>
        <p:spPr>
          <a:xfrm>
            <a:off x="6645859" y="2851099"/>
            <a:ext cx="332842" cy="332842"/>
          </a:xfrm>
          <a:prstGeom prst="rect">
            <a:avLst/>
          </a:prstGeom>
        </p:spPr>
      </p:pic>
      <p:sp>
        <p:nvSpPr>
          <p:cNvPr id="22" name="Text 14"/>
          <p:cNvSpPr txBox="1"/>
          <p:nvPr/>
        </p:nvSpPr>
        <p:spPr>
          <a:xfrm>
            <a:off x="7315200" y="2715768"/>
            <a:ext cx="429768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Retune the add-ons on our own audio; test the speaker check with recordings from separate calls</a:t>
            </a:r>
            <a:endParaRPr lang="en-US" sz="1500" dirty="0"/>
          </a:p>
        </p:txBody>
      </p:sp>
      <p:sp>
        <p:nvSpPr>
          <p:cNvPr id="23" name="Shape 15"/>
          <p:cNvSpPr/>
          <p:nvPr/>
        </p:nvSpPr>
        <p:spPr>
          <a:xfrm>
            <a:off x="6492240" y="3611880"/>
            <a:ext cx="640080" cy="640080"/>
          </a:xfrm>
          <a:prstGeom prst="ellipse">
            <a:avLst/>
          </a:prstGeom>
          <a:solidFill>
            <a:srgbClr val="0D9488"/>
          </a:solidFill>
          <a:ln/>
        </p:spPr>
      </p:sp>
      <p:pic>
        <p:nvPicPr>
          <p:cNvPr id="24" name="Image 6" descr="preencoded.png">    </p:cNvPr>
          <p:cNvPicPr>
            <a:picLocks noChangeAspect="1"/>
          </p:cNvPicPr>
          <p:nvPr/>
        </p:nvPicPr>
        <p:blipFill>
          <a:blip r:embed="rId7"/>
          <a:stretch>
            <a:fillRect/>
          </a:stretch>
        </p:blipFill>
        <p:spPr>
          <a:xfrm>
            <a:off x="6645859" y="3765499"/>
            <a:ext cx="332842" cy="332842"/>
          </a:xfrm>
          <a:prstGeom prst="rect">
            <a:avLst/>
          </a:prstGeom>
        </p:spPr>
      </p:pic>
      <p:sp>
        <p:nvSpPr>
          <p:cNvPr id="25" name="Text 16"/>
          <p:cNvSpPr txBox="1"/>
          <p:nvPr/>
        </p:nvSpPr>
        <p:spPr>
          <a:xfrm>
            <a:off x="7315200" y="3630168"/>
            <a:ext cx="429768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Pilot on real call-centre or fraud-team audio</a:t>
            </a:r>
            <a:endParaRPr lang="en-US" sz="1500" dirty="0"/>
          </a:p>
        </p:txBody>
      </p:sp>
      <p:sp>
        <p:nvSpPr>
          <p:cNvPr id="26" name="Shape 17"/>
          <p:cNvSpPr/>
          <p:nvPr/>
        </p:nvSpPr>
        <p:spPr>
          <a:xfrm>
            <a:off x="6492240" y="4526280"/>
            <a:ext cx="640080" cy="640080"/>
          </a:xfrm>
          <a:prstGeom prst="ellipse">
            <a:avLst/>
          </a:prstGeom>
          <a:solidFill>
            <a:srgbClr val="0D9488"/>
          </a:solidFill>
          <a:ln/>
        </p:spPr>
      </p:sp>
      <p:pic>
        <p:nvPicPr>
          <p:cNvPr id="27" name="Image 7" descr="preencoded.png">    </p:cNvPr>
          <p:cNvPicPr>
            <a:picLocks noChangeAspect="1"/>
          </p:cNvPicPr>
          <p:nvPr/>
        </p:nvPicPr>
        <p:blipFill>
          <a:blip r:embed="rId8"/>
          <a:stretch>
            <a:fillRect/>
          </a:stretch>
        </p:blipFill>
        <p:spPr>
          <a:xfrm>
            <a:off x="6645859" y="4679899"/>
            <a:ext cx="332842" cy="332842"/>
          </a:xfrm>
          <a:prstGeom prst="rect">
            <a:avLst/>
          </a:prstGeom>
        </p:spPr>
      </p:pic>
      <p:sp>
        <p:nvSpPr>
          <p:cNvPr id="28" name="Text 18"/>
          <p:cNvSpPr txBox="1"/>
          <p:nvPr/>
        </p:nvSpPr>
        <p:spPr>
          <a:xfrm>
            <a:off x="7315200" y="4544568"/>
            <a:ext cx="429768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File the patent on the multi-specialist risk gateway</a:t>
            </a:r>
            <a:endParaRPr lang="en-US" sz="1500" dirty="0"/>
          </a:p>
        </p:txBody>
      </p:sp>
      <p:sp>
        <p:nvSpPr>
          <p:cNvPr id="29" name="Shape 19"/>
          <p:cNvSpPr/>
          <p:nvPr/>
        </p:nvSpPr>
        <p:spPr>
          <a:xfrm>
            <a:off x="548640" y="5623560"/>
            <a:ext cx="11064240" cy="548640"/>
          </a:xfrm>
          <a:prstGeom prst="roundRect">
            <a:avLst>
              <a:gd name="adj" fmla="val 20000"/>
            </a:avLst>
          </a:prstGeom>
          <a:solidFill>
            <a:srgbClr val="F1F5F9"/>
          </a:solidFill>
          <a:ln/>
        </p:spPr>
      </p:sp>
      <p:sp>
        <p:nvSpPr>
          <p:cNvPr id="30" name="Text 20"/>
          <p:cNvSpPr txBox="1"/>
          <p:nvPr/>
        </p:nvSpPr>
        <p:spPr>
          <a:xfrm>
            <a:off x="731520" y="5623560"/>
            <a:ext cx="10698480" cy="548640"/>
          </a:xfrm>
          <a:prstGeom prst="rect">
            <a:avLst/>
          </a:prstGeom>
          <a:noFill/>
          <a:ln/>
        </p:spPr>
        <p:txBody>
          <a:bodyPr wrap="square" lIns="0" tIns="0" rIns="0" bIns="0" rtlCol="0" anchor="ctr"/>
          <a:lstStyle/>
          <a:p>
            <a:pPr indent="0" marL="0">
              <a:buNone/>
            </a:pPr>
            <a:r>
              <a:rPr lang="en-US" sz="1500" i="1" dirty="0">
                <a:solidFill>
                  <a:srgbClr val="0F172A"/>
                </a:solidFill>
                <a:latin typeface="Calibri" pitchFamily="34" charset="0"/>
                <a:ea typeface="Calibri" pitchFamily="34" charset="-122"/>
                <a:cs typeface="Calibri" pitchFamily="34" charset="-120"/>
              </a:rPr>
              <a:t>No detector is perfect. DeepShield's value is that it knows when it is unsure and asks a human.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nchor="t"/>
          <a:lstStyle/>
          <a:p>
            <a:pPr algn="l" indent="0" marL="0">
              <a:buNone/>
            </a:pPr>
            <a:r>
              <a:rPr lang="en-US" sz="2000" dirty="0">
                <a:solidFill>
                  <a:srgbClr val="CBD5E1"/>
                </a:solidFill>
                <a:latin typeface="Calibri" pitchFamily="34" charset="0"/>
                <a:ea typeface="Calibri" pitchFamily="34" charset="-122"/>
                <a:cs typeface="Calibri" pitchFamily="34" charset="-120"/>
              </a:rPr>
              <a:t>Questions, and a try-it-yourself demo on this laptop</a:t>
            </a:r>
            <a:endParaRPr lang="en-US" sz="2000" dirty="0"/>
          </a:p>
        </p:txBody>
      </p:sp>
      <p:sp>
        <p:nvSpPr>
          <p:cNvPr id="4" name="Shape 2"/>
          <p:cNvSpPr/>
          <p:nvPr/>
        </p:nvSpPr>
        <p:spPr>
          <a:xfrm>
            <a:off x="731520" y="1234440"/>
            <a:ext cx="914400" cy="914400"/>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950976" y="1453896"/>
            <a:ext cx="475488" cy="475488"/>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Cheat sheet: the models and why (1 of 3)</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737360"/>
                <a:gridCol w="3657600"/>
                <a:gridCol w="3200400"/>
                <a:gridCol w="2468880"/>
              </a:tblGrid>
              <a:tr h="74980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Block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use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we chose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 plain words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Prepare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16 kHz audio, 3-second windows; training with MP3, noise, echo and phone-line effects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Real calls are compressed and noisy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Practise in the rain before match day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Two views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Mel spectrogram + MFCC, stacked as two channels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One shows machine artefacts, the other the human voice shape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Banknote under normal light and UV</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Pattern recogniser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Compact ResNet-style CNN (3 residual blocks, ~341K settings)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Proven for image-like data; fast on a laptop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An expert examiner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Attention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Squeeze-and-Excitation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Boosts the most useful clues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 highlighter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Voice fingerprint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128-number shared embedding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One analysis read by every specialist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 summary card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Cheat sheet: the models and why (2 of 3)</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737360"/>
                <a:gridCol w="3657600"/>
                <a:gridCol w="3200400"/>
                <a:gridCol w="2468880"/>
              </a:tblGrid>
              <a:tr h="67665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Block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use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we chose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 plain words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r>
              <a:tr h="676656">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Fake score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Classifier head (real vs AI)</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The core detection signal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The main verdict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6656">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Attack type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5-way classifier head trained jointly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Tells investigators what made the fake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Which forger’s style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6656">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Uncertainty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Monte-Carlo dropout (re-asks the model many times)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Spots answers it shouldn’t trust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Second opinions from the same expert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6656">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Novelty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Mahalanobis distance from genuine-voice fingerprints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Warns about unfamiliar audio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‘I haven’t seen this before’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6656">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Risk gateway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Rules combining all four; thresholds tuned so ~15% of genuine audio is reviewed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Safe decisions with a predictable workload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Traffic light with a human lane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6656">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Explanation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Template-based sentence from the actual scores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Never invents a reason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 short written verdict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Cheat sheet: what was added in October (3 of 3)</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737360"/>
                <a:gridCol w="3657600"/>
                <a:gridCol w="3200400"/>
                <a:gridCol w="2468880"/>
              </a:tblGrid>
              <a:tr h="74980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Block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use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we chose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 plain words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Overlapping windows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3-second windows every 0.5 s; clip score = mean of the most suspicious third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 gaps where a fake can hide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Reading every line, not every tenth</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Fixed-seed uncertainty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The 20 repeated passes use the same random settings every time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Same file, same decision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Asking the same panel each time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Reference bank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Logistic layer on the 128-number fingerprint, tuned on labelled clips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Real-world accuracy 80% → 92% on new speakers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Local knowledge for an expert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Speaker check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Distance to 3–5 verified recordings of the claimed speaker, combined with the fake score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Fakes let through 21% → 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Comparing with known photos of the person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Round-3 retraining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Random crops, spliced fakes, 3-model ensemble; ready to run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Expected to be the biggest accuracy gain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Further training for the expert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DeepShield Briefing">
  <a:themeElements>
    <a:clrScheme name="DeepShield Briefing">
      <a:dk1>
        <a:srgbClr val="0F172A"/>
      </a:dk1>
      <a:lt1>
        <a:srgbClr val="FFFFFF"/>
      </a:lt1>
      <a:dk2>
        <a:srgbClr val="334155"/>
      </a:dk2>
      <a:lt2>
        <a:srgbClr val="F1F5F9"/>
      </a:lt2>
      <a:accent1>
        <a:srgbClr val="0D9488"/>
      </a:accent1>
      <a:accent2>
        <a:srgbClr val="E5484D"/>
      </a:accent2>
      <a:accent3>
        <a:srgbClr val="10B981"/>
      </a:accent3>
      <a:accent4>
        <a:srgbClr val="F59E0B"/>
      </a:accent4>
      <a:accent5>
        <a:srgbClr val="6366F1"/>
      </a:accent5>
      <a:accent6>
        <a:srgbClr val="64748B"/>
      </a:accent6>
      <a:hlink>
        <a:srgbClr val="0D9488"/>
      </a:hlink>
      <a:folHlink>
        <a:srgbClr val="6366F1"/>
      </a:folHlink>
    </a:clrScheme>
    <a:fontScheme name="DeepShield Brief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DeepShield: senior management briefing</dc:title>
  <dc:subject>PptxGenJS Presentation</dc:subject>
  <dc:creator>DeepShield project</dc:creator>
  <cp:lastModifiedBy>DeepShield project</cp:lastModifiedBy>
  <cp:revision>1</cp:revision>
  <dcterms:created xsi:type="dcterms:W3CDTF">2026-10-13T07:38:22Z</dcterms:created>
  <dcterms:modified xsi:type="dcterms:W3CDTF">2026-10-13T07:38:22Z</dcterms:modified>
</cp:coreProperties>
</file>