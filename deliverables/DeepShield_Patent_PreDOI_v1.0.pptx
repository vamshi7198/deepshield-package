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901.xml" ContentType="application/vnd.openxmlformats-officedocument.presentationml.notesSlide+xml"/>
  <Override PartName="/ppt/notesSlides/notesSlide902.xml" ContentType="application/vnd.openxmlformats-officedocument.presentationml.notesSlide+xml"/>
  <Override PartName="/ppt/notesSlides/notesSlide90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901.xml" ContentType="application/vnd.openxmlformats-officedocument.presentationml.slide+xml"/>
  <Override PartName="/ppt/slides/slide902.xml" ContentType="application/vnd.openxmlformats-officedocument.presentationml.slide+xml"/>
  <Override PartName="/ppt/slides/slide90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50" r:id="rId1"/>
    <p:sldMasterId id="2147483845" r:id="rId2"/>
  </p:sldMasterIdLst>
  <p:notesMasterIdLst>
    <p:notesMasterId r:id="rId25"/>
  </p:notesMasterIdLst>
  <p:handoutMasterIdLst>
    <p:handoutMasterId r:id="rId26"/>
  </p:handoutMasterIdLst>
  <p:sldIdLst>
    <p:sldId id="329" r:id="rId3"/>
    <p:sldId id="408" r:id="rId4"/>
    <p:sldId id="409" r:id="rId12"/>
    <p:sldId id="410" r:id="rId13"/>
    <p:sldId id="411" r:id="rId14"/>
    <p:sldId id="412" r:id="rId15"/>
    <p:sldId id="413" r:id="rId16"/>
    <p:sldId id="414" r:id="rId17"/>
    <p:sldId id="415" r:id="rId18"/>
    <p:sldId id="416" r:id="rId19"/>
    <p:sldId id="417" r:id="rId20"/>
    <p:sldId id="418" r:id="rId21"/>
    <p:sldId id="419" r:id="rId22"/>
    <p:sldId id="420" r:id="rId23"/>
    <p:sldId id="421" r:id="rId11"/>
    <p:sldId id="422" r:id="rId10"/>
    <p:sldId id="423" r:id="rId9"/>
    <p:sldId id="424" r:id="rId8"/>
    <p:sldId id="425" r:id="rId7"/>
    <p:sldId id="426" r:id="rId6"/>
    <p:sldId id="427" r:id="rId5"/>
    <p:sldId id="428" r:id="rId31"/>
    <p:sldId id="429" r:id="rId32"/>
    <p:sldId id="430" r:id="rId33"/>
    <p:sldId id="431" r:id="rId34"/>
    <p:sldId id="432" r:id="rId35"/>
    <p:sldId id="407" r:id="rId24"/>
  </p:sldIdLst>
  <p:sldSz cx="12192000" cy="6858000"/>
  <p:notesSz cx="6797675" cy="9926638"/>
  <p:defaultTextStyle>
    <a:defPPr>
      <a:defRPr lang="ko-KR"/>
    </a:defPPr>
    <a:lvl1pPr algn="ctr" rtl="0" fontAlgn="base" latinLnBrk="1">
      <a:spcBef>
        <a:spcPct val="0"/>
      </a:spcBef>
      <a:spcAft>
        <a:spcPct val="0"/>
      </a:spcAft>
      <a:defRPr kumimoji="1" kern="1200">
        <a:solidFill>
          <a:schemeClr val="tx1"/>
        </a:solidFill>
        <a:latin typeface="굴림" charset="-127"/>
        <a:ea typeface="굴림" charset="-127"/>
        <a:cs typeface="+mn-cs"/>
      </a:defRPr>
    </a:lvl1pPr>
    <a:lvl2pPr marL="457200" algn="ctr" rtl="0" fontAlgn="base" latinLnBrk="1">
      <a:spcBef>
        <a:spcPct val="0"/>
      </a:spcBef>
      <a:spcAft>
        <a:spcPct val="0"/>
      </a:spcAft>
      <a:defRPr kumimoji="1" kern="1200">
        <a:solidFill>
          <a:schemeClr val="tx1"/>
        </a:solidFill>
        <a:latin typeface="굴림" charset="-127"/>
        <a:ea typeface="굴림" charset="-127"/>
        <a:cs typeface="+mn-cs"/>
      </a:defRPr>
    </a:lvl2pPr>
    <a:lvl3pPr marL="914400" algn="ctr" rtl="0" fontAlgn="base" latinLnBrk="1">
      <a:spcBef>
        <a:spcPct val="0"/>
      </a:spcBef>
      <a:spcAft>
        <a:spcPct val="0"/>
      </a:spcAft>
      <a:defRPr kumimoji="1" kern="1200">
        <a:solidFill>
          <a:schemeClr val="tx1"/>
        </a:solidFill>
        <a:latin typeface="굴림" charset="-127"/>
        <a:ea typeface="굴림" charset="-127"/>
        <a:cs typeface="+mn-cs"/>
      </a:defRPr>
    </a:lvl3pPr>
    <a:lvl4pPr marL="1371600" algn="ctr" rtl="0" fontAlgn="base" latinLnBrk="1">
      <a:spcBef>
        <a:spcPct val="0"/>
      </a:spcBef>
      <a:spcAft>
        <a:spcPct val="0"/>
      </a:spcAft>
      <a:defRPr kumimoji="1" kern="1200">
        <a:solidFill>
          <a:schemeClr val="tx1"/>
        </a:solidFill>
        <a:latin typeface="굴림" charset="-127"/>
        <a:ea typeface="굴림" charset="-127"/>
        <a:cs typeface="+mn-cs"/>
      </a:defRPr>
    </a:lvl4pPr>
    <a:lvl5pPr marL="1828800" algn="ctr"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p:defaultTextStyle>
  <p:extLst>
    <p:ext uri="{EFAFB233-063F-42B5-8137-9DF3F51BA10A}">
      <p15:sldGuideLst xmlns:p15="http://schemas.microsoft.com/office/powerpoint/2012/main">
        <p15:guide id="1" orient="horz" pos="4319"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3F3F"/>
    <a:srgbClr val="FF9900"/>
    <a:srgbClr val="FF9933"/>
    <a:srgbClr val="E66CDD"/>
    <a:srgbClr val="B2B2B2"/>
    <a:srgbClr val="0066FF"/>
    <a:srgbClr val="FF5050"/>
    <a:srgbClr val="000099"/>
    <a:srgbClr val="CC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78" autoAdjust="0"/>
    <p:restoredTop sz="84652" autoAdjust="0"/>
  </p:normalViewPr>
  <p:slideViewPr>
    <p:cSldViewPr showGuides="1">
      <p:cViewPr varScale="1">
        <p:scale>
          <a:sx n="48" d="100"/>
          <a:sy n="48" d="100"/>
        </p:scale>
        <p:origin x="53" y="523"/>
      </p:cViewPr>
      <p:guideLst>
        <p:guide orient="horz" pos="4319"/>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901.xml"/><Relationship Id="rId4" Type="http://schemas.openxmlformats.org/officeDocument/2006/relationships/slide" Target="slides/slide902.xml"/><Relationship Id="rId5" Type="http://schemas.openxmlformats.org/officeDocument/2006/relationships/slide" Target="slides/slide22.xml"/><Relationship Id="rId6" Type="http://schemas.openxmlformats.org/officeDocument/2006/relationships/slide" Target="slides/slide21.xml"/><Relationship Id="rId7" Type="http://schemas.openxmlformats.org/officeDocument/2006/relationships/slide" Target="slides/slide20.xml"/><Relationship Id="rId8" Type="http://schemas.openxmlformats.org/officeDocument/2006/relationships/slide" Target="slides/slide19.xml"/><Relationship Id="rId9" Type="http://schemas.openxmlformats.org/officeDocument/2006/relationships/slide" Target="slides/slide18.xml"/><Relationship Id="rId10" Type="http://schemas.openxmlformats.org/officeDocument/2006/relationships/slide" Target="slides/slide17.xml"/><Relationship Id="rId11" Type="http://schemas.openxmlformats.org/officeDocument/2006/relationships/slide" Target="slides/slide16.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903.xml"/><Relationship Id="rId25" Type="http://schemas.openxmlformats.org/officeDocument/2006/relationships/notesMaster" Target="notesMasters/notesMaster1.xml"/><Relationship Id="rId26" Type="http://schemas.openxmlformats.org/officeDocument/2006/relationships/handoutMaster" Target="handoutMasters/handout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latin typeface="Cambria"/>
              </a:rPr>
              <a:t>Fakes automatically passed (%)</a:t>
            </a:r>
          </a:p>
        </c:rich>
      </c:tx>
      <c:layout/>
      <c:overlay val="0"/>
    </c:title>
    <c:autoTitleDeleted val="0"/>
    <c:plotArea>
      <c:barChart>
        <c:barDir val="col"/>
        <c:grouping val="clustered"/>
        <c:ser>
          <c:idx val="0"/>
          <c:order val="0"/>
          <c:tx>
            <c:strRef>
              <c:f>Sheet1!$B$1</c:f>
              <c:strCache>
                <c:ptCount val="1"/>
                <c:pt idx="0">
                  <c:v>Detector alone (threshold 0.5)</c:v>
                </c:pt>
              </c:strCache>
            </c:strRef>
          </c:tx>
          <c:spPr>
            <a:solidFill>
              <a:srgbClr val="A6A6A6"/>
            </a:solidFill>
          </c:spPr>
          <c:cat>
            <c:strRef>
              <c:f>Sheet1!$A$2:$A$4</c:f>
              <c:strCache>
                <c:ptCount val="3"/>
                <c:pt idx="0">
                  <c:v>Never-seen generators (mean of 9)</c:v>
                </c:pt>
                <c:pt idx="1">
                  <c:v>In-the-Wild (external)</c:v>
                </c:pt>
                <c:pt idx="2">
                  <c:v>Clean test</c:v>
                </c:pt>
              </c:strCache>
            </c:strRef>
          </c:cat>
          <c:val>
            <c:numRef>
              <c:f>Sheet1!$B$2:$B$4</c:f>
              <c:numCache>
                <c:formatCode>General</c:formatCode>
                <c:ptCount val="3"/>
                <c:pt idx="0">
                  <c:v>30.5</c:v>
                </c:pt>
                <c:pt idx="1">
                  <c:v>35.2</c:v>
                </c:pt>
                <c:pt idx="2">
                  <c:v>6.5</c:v>
                </c:pt>
              </c:numCache>
            </c:numRef>
          </c:val>
        </c:ser>
        <c:ser>
          <c:idx val="1"/>
          <c:order val="1"/>
          <c:tx>
            <c:strRef>
              <c:f>Sheet1!$C$1</c:f>
              <c:strCache>
                <c:ptCount val="1"/>
                <c:pt idx="0">
                  <c:v>Simple review rule, same workload</c:v>
                </c:pt>
              </c:strCache>
            </c:strRef>
          </c:tx>
          <c:spPr>
            <a:solidFill>
              <a:srgbClr val="2F528F"/>
            </a:solidFill>
          </c:spPr>
          <c:cat>
            <c:strRef>
              <c:f>Sheet1!$A$2:$A$4</c:f>
              <c:strCache>
                <c:ptCount val="3"/>
                <c:pt idx="0">
                  <c:v>Never-seen generators (mean of 9)</c:v>
                </c:pt>
                <c:pt idx="1">
                  <c:v>In-the-Wild (external)</c:v>
                </c:pt>
                <c:pt idx="2">
                  <c:v>Clean test</c:v>
                </c:pt>
              </c:strCache>
            </c:strRef>
          </c:cat>
          <c:val>
            <c:numRef>
              <c:f>Sheet1!$C$2:$C$4</c:f>
              <c:numCache>
                <c:formatCode>General</c:formatCode>
                <c:ptCount val="3"/>
                <c:pt idx="0">
                  <c:v>17.0</c:v>
                </c:pt>
                <c:pt idx="1">
                  <c:v>17.7</c:v>
                </c:pt>
                <c:pt idx="2">
                  <c:v>2.2</c:v>
                </c:pt>
              </c:numCache>
            </c:numRef>
          </c:val>
        </c:ser>
        <c:ser>
          <c:idx val="2"/>
          <c:order val="2"/>
          <c:tx>
            <c:strRef>
              <c:f>Sheet1!$D$1</c:f>
              <c:strCache>
                <c:ptCount val="1"/>
                <c:pt idx="0">
                  <c:v>DeepShield gateway (current rules)</c:v>
                </c:pt>
              </c:strCache>
            </c:strRef>
          </c:tx>
          <c:spPr>
            <a:solidFill>
              <a:srgbClr val="C00000"/>
            </a:solidFill>
          </c:spPr>
          <c:cat>
            <c:strRef>
              <c:f>Sheet1!$A$2:$A$4</c:f>
              <c:strCache>
                <c:ptCount val="3"/>
                <c:pt idx="0">
                  <c:v>Never-seen generators (mean of 9)</c:v>
                </c:pt>
                <c:pt idx="1">
                  <c:v>In-the-Wild (external)</c:v>
                </c:pt>
                <c:pt idx="2">
                  <c:v>Clean test</c:v>
                </c:pt>
              </c:strCache>
            </c:strRef>
          </c:cat>
          <c:val>
            <c:numRef>
              <c:f>Sheet1!$D$2:$D$4</c:f>
              <c:numCache>
                <c:formatCode>General</c:formatCode>
                <c:ptCount val="3"/>
                <c:pt idx="0">
                  <c:v>19.3</c:v>
                </c:pt>
                <c:pt idx="1">
                  <c:v>16.4</c:v>
                </c:pt>
                <c:pt idx="2">
                  <c:v>2.8</c:v>
                </c:pt>
              </c:numCache>
            </c:numRef>
          </c:val>
        </c:ser>
        <c:dLbls>
          <c:numFmt formatCode="0.0&quot;%&quot;" sourceLinked="0"/>
          <c:txPr>
            <a:bodyPr/>
            <a:lstStyle/>
            <a:p>
              <a:pPr>
                <a:defRPr sz="1000">
                  <a:latin typeface="Cambria"/>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000">
                <a:latin typeface="Cambria"/>
              </a:defRPr>
            </a:pPr>
          </a:p>
        </c:txPr>
        <c:crossAx val="-2113994440"/>
        <c:crosses val="autoZero"/>
        <c:auto val="1"/>
        <c:lblAlgn val="ctr"/>
        <c:lblOffset val="100"/>
        <c:noMultiLvlLbl val="0"/>
      </c:catAx>
      <c:valAx>
        <c:axId val="-2113994440"/>
        <c:scaling>
          <c:max val="40.0"/>
        </c:scaling>
        <c:delete/>
        <c:axPos val="l"/>
        <c:majorTickMark val="out"/>
        <c:minorTickMark val="none"/>
        <c:tickLblPos val="nextTo"/>
        <c:crossAx val="-2068027336"/>
        <c:crosses val="autoZero"/>
      </c:valAx>
    </c:plotArea>
    <c:legend>
      <c:legendPos val="b"/>
      <c:overlay val="0"/>
      <c:txPr>
        <a:bodyPr/>
        <a:lstStyle/>
        <a:p>
          <a:pPr>
            <a:defRPr sz="1100">
              <a:latin typeface="Cambria"/>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latin typeface="Cambria"/>
              </a:rPr>
              <a:t>Genuine automatically blocked (%)</a:t>
            </a:r>
          </a:p>
        </c:rich>
      </c:tx>
      <c:layout/>
      <c:overlay val="0"/>
    </c:title>
    <c:autoTitleDeleted val="0"/>
    <c:plotArea>
      <c:barChart>
        <c:barDir val="col"/>
        <c:grouping val="clustered"/>
        <c:ser>
          <c:idx val="0"/>
          <c:order val="0"/>
          <c:tx>
            <c:strRef>
              <c:f>Sheet1!$B$1</c:f>
              <c:strCache>
                <c:ptCount val="1"/>
                <c:pt idx="0">
                  <c:v>Detector alone (threshold 0.5)</c:v>
                </c:pt>
              </c:strCache>
            </c:strRef>
          </c:tx>
          <c:spPr>
            <a:solidFill>
              <a:srgbClr val="A6A6A6"/>
            </a:solidFill>
          </c:spPr>
          <c:cat>
            <c:strRef>
              <c:f>Sheet1!$A$2:$A$4</c:f>
              <c:strCache>
                <c:ptCount val="3"/>
                <c:pt idx="0">
                  <c:v>Never-seen generators (mean of 9)</c:v>
                </c:pt>
                <c:pt idx="1">
                  <c:v>In-the-Wild (external)</c:v>
                </c:pt>
                <c:pt idx="2">
                  <c:v>Clean test</c:v>
                </c:pt>
              </c:strCache>
            </c:strRef>
          </c:cat>
          <c:val>
            <c:numRef>
              <c:f>Sheet1!$B$2:$B$4</c:f>
              <c:numCache>
                <c:formatCode>General</c:formatCode>
                <c:ptCount val="3"/>
                <c:pt idx="0">
                  <c:v>8.4</c:v>
                </c:pt>
                <c:pt idx="1">
                  <c:v>18.1</c:v>
                </c:pt>
                <c:pt idx="2">
                  <c:v>7.0</c:v>
                </c:pt>
              </c:numCache>
            </c:numRef>
          </c:val>
        </c:ser>
        <c:ser>
          <c:idx val="1"/>
          <c:order val="1"/>
          <c:tx>
            <c:strRef>
              <c:f>Sheet1!$C$1</c:f>
              <c:strCache>
                <c:ptCount val="1"/>
                <c:pt idx="0">
                  <c:v>Simple review rule, same workload</c:v>
                </c:pt>
              </c:strCache>
            </c:strRef>
          </c:tx>
          <c:spPr>
            <a:solidFill>
              <a:srgbClr val="2F528F"/>
            </a:solidFill>
          </c:spPr>
          <c:cat>
            <c:strRef>
              <c:f>Sheet1!$A$2:$A$4</c:f>
              <c:strCache>
                <c:ptCount val="3"/>
                <c:pt idx="0">
                  <c:v>Never-seen generators (mean of 9)</c:v>
                </c:pt>
                <c:pt idx="1">
                  <c:v>In-the-Wild (external)</c:v>
                </c:pt>
                <c:pt idx="2">
                  <c:v>Clean test</c:v>
                </c:pt>
              </c:strCache>
            </c:strRef>
          </c:cat>
          <c:val>
            <c:numRef>
              <c:f>Sheet1!$C$2:$C$4</c:f>
              <c:numCache>
                <c:formatCode>General</c:formatCode>
                <c:ptCount val="3"/>
                <c:pt idx="0">
                  <c:v>3.8</c:v>
                </c:pt>
                <c:pt idx="1">
                  <c:v>7.8</c:v>
                </c:pt>
                <c:pt idx="2">
                  <c:v>2.9</c:v>
                </c:pt>
              </c:numCache>
            </c:numRef>
          </c:val>
        </c:ser>
        <c:ser>
          <c:idx val="2"/>
          <c:order val="2"/>
          <c:tx>
            <c:strRef>
              <c:f>Sheet1!$D$1</c:f>
              <c:strCache>
                <c:ptCount val="1"/>
                <c:pt idx="0">
                  <c:v>DeepShield gateway (current rules)</c:v>
                </c:pt>
              </c:strCache>
            </c:strRef>
          </c:tx>
          <c:spPr>
            <a:solidFill>
              <a:srgbClr val="C00000"/>
            </a:solidFill>
          </c:spPr>
          <c:cat>
            <c:strRef>
              <c:f>Sheet1!$A$2:$A$4</c:f>
              <c:strCache>
                <c:ptCount val="3"/>
                <c:pt idx="0">
                  <c:v>Never-seen generators (mean of 9)</c:v>
                </c:pt>
                <c:pt idx="1">
                  <c:v>In-the-Wild (external)</c:v>
                </c:pt>
                <c:pt idx="2">
                  <c:v>Clean test</c:v>
                </c:pt>
              </c:strCache>
            </c:strRef>
          </c:cat>
          <c:val>
            <c:numRef>
              <c:f>Sheet1!$D$2:$D$4</c:f>
              <c:numCache>
                <c:formatCode>General</c:formatCode>
                <c:ptCount val="3"/>
                <c:pt idx="0">
                  <c:v>3.8</c:v>
                </c:pt>
                <c:pt idx="1">
                  <c:v>9.7</c:v>
                </c:pt>
                <c:pt idx="2">
                  <c:v>3.8</c:v>
                </c:pt>
              </c:numCache>
            </c:numRef>
          </c:val>
        </c:ser>
        <c:dLbls>
          <c:numFmt formatCode="0.0&quot;%&quot;" sourceLinked="0"/>
          <c:txPr>
            <a:bodyPr/>
            <a:lstStyle/>
            <a:p>
              <a:pPr>
                <a:defRPr sz="1000">
                  <a:latin typeface="Cambria"/>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000">
                <a:latin typeface="Cambria"/>
              </a:defRPr>
            </a:pPr>
          </a:p>
        </c:txPr>
        <c:crossAx val="-2113994440"/>
        <c:crosses val="autoZero"/>
        <c:auto val="1"/>
        <c:lblAlgn val="ctr"/>
        <c:lblOffset val="100"/>
        <c:noMultiLvlLbl val="0"/>
      </c:catAx>
      <c:valAx>
        <c:axId val="-2113994440"/>
        <c:scaling>
          <c:max val="40.0"/>
        </c:scaling>
        <c:delete/>
        <c:axPos val="l"/>
        <c:majorTickMark val="out"/>
        <c:minorTickMark val="none"/>
        <c:tickLblPos val="nextTo"/>
        <c:crossAx val="-2068027336"/>
        <c:crosses val="autoZero"/>
      </c:valAx>
    </c:plotArea>
    <c:legend>
      <c:legendPos val="b"/>
      <c:overlay val="0"/>
      <c:txPr>
        <a:bodyPr/>
        <a:lstStyle/>
        <a:p>
          <a:pPr>
            <a:defRPr sz="1100">
              <a:latin typeface="Cambria"/>
            </a:defRPr>
          </a:pPr>
        </a:p>
      </c:txPr>
    </c:legend>
    <c:dispBlanksAs val="gap"/>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4690" name="Rectangle 2"/>
          <p:cNvSpPr>
            <a:spLocks noGrp="1" noChangeArrowheads="1"/>
          </p:cNvSpPr>
          <p:nvPr>
            <p:ph type="hdr" sz="quarter"/>
          </p:nvPr>
        </p:nvSpPr>
        <p:spPr bwMode="auto">
          <a:xfrm>
            <a:off x="0" y="0"/>
            <a:ext cx="2938463" cy="525463"/>
          </a:xfrm>
          <a:prstGeom prst="rect">
            <a:avLst/>
          </a:prstGeom>
          <a:noFill/>
          <a:ln w="9525">
            <a:noFill/>
            <a:miter lim="800000"/>
            <a:headEnd/>
            <a:tailEnd/>
          </a:ln>
          <a:effectLst/>
        </p:spPr>
        <p:txBody>
          <a:bodyPr vert="horz" wrap="square" lIns="90275" tIns="45137" rIns="90275" bIns="45137" numCol="1" anchor="t" anchorCtr="0" compatLnSpc="1">
            <a:prstTxWarp prst="textNoShape">
              <a:avLst/>
            </a:prstTxWarp>
          </a:bodyPr>
          <a:lstStyle>
            <a:lvl1pPr algn="l" defTabSz="902421">
              <a:defRPr sz="1200">
                <a:latin typeface="굴림" pitchFamily="50" charset="-127"/>
                <a:ea typeface="굴림" pitchFamily="50" charset="-127"/>
              </a:defRPr>
            </a:lvl1pPr>
          </a:lstStyle>
          <a:p>
            <a:pPr>
              <a:defRPr/>
            </a:pPr>
            <a:endParaRPr lang="en-US" altLang="ko-KR"/>
          </a:p>
        </p:txBody>
      </p:sp>
      <p:sp>
        <p:nvSpPr>
          <p:cNvPr id="114691" name="Rectangle 3"/>
          <p:cNvSpPr>
            <a:spLocks noGrp="1" noChangeArrowheads="1"/>
          </p:cNvSpPr>
          <p:nvPr>
            <p:ph type="dt" sz="quarter" idx="1"/>
          </p:nvPr>
        </p:nvSpPr>
        <p:spPr bwMode="auto">
          <a:xfrm>
            <a:off x="3843338" y="0"/>
            <a:ext cx="2938462" cy="525463"/>
          </a:xfrm>
          <a:prstGeom prst="rect">
            <a:avLst/>
          </a:prstGeom>
          <a:noFill/>
          <a:ln w="9525">
            <a:noFill/>
            <a:miter lim="800000"/>
            <a:headEnd/>
            <a:tailEnd/>
          </a:ln>
          <a:effectLst/>
        </p:spPr>
        <p:txBody>
          <a:bodyPr vert="horz" wrap="square" lIns="90275" tIns="45137" rIns="90275" bIns="45137" numCol="1" anchor="t" anchorCtr="0" compatLnSpc="1">
            <a:prstTxWarp prst="textNoShape">
              <a:avLst/>
            </a:prstTxWarp>
          </a:bodyPr>
          <a:lstStyle>
            <a:lvl1pPr algn="r" defTabSz="902421">
              <a:defRPr sz="1200">
                <a:latin typeface="굴림" pitchFamily="50" charset="-127"/>
                <a:ea typeface="굴림" pitchFamily="50" charset="-127"/>
              </a:defRPr>
            </a:lvl1pPr>
          </a:lstStyle>
          <a:p>
            <a:pPr>
              <a:defRPr/>
            </a:pPr>
            <a:endParaRPr lang="en-US" altLang="ko-KR"/>
          </a:p>
        </p:txBody>
      </p:sp>
      <p:sp>
        <p:nvSpPr>
          <p:cNvPr id="114692" name="Rectangle 4"/>
          <p:cNvSpPr>
            <a:spLocks noGrp="1" noChangeArrowheads="1"/>
          </p:cNvSpPr>
          <p:nvPr>
            <p:ph type="ftr" sz="quarter" idx="2"/>
          </p:nvPr>
        </p:nvSpPr>
        <p:spPr bwMode="auto">
          <a:xfrm>
            <a:off x="0" y="9396413"/>
            <a:ext cx="2938463" cy="525462"/>
          </a:xfrm>
          <a:prstGeom prst="rect">
            <a:avLst/>
          </a:prstGeom>
          <a:noFill/>
          <a:ln w="9525">
            <a:noFill/>
            <a:miter lim="800000"/>
            <a:headEnd/>
            <a:tailEnd/>
          </a:ln>
          <a:effectLst/>
        </p:spPr>
        <p:txBody>
          <a:bodyPr vert="horz" wrap="square" lIns="90275" tIns="45137" rIns="90275" bIns="45137" numCol="1" anchor="b" anchorCtr="0" compatLnSpc="1">
            <a:prstTxWarp prst="textNoShape">
              <a:avLst/>
            </a:prstTxWarp>
          </a:bodyPr>
          <a:lstStyle>
            <a:lvl1pPr algn="l" defTabSz="902421">
              <a:defRPr sz="1200">
                <a:latin typeface="굴림" pitchFamily="50" charset="-127"/>
                <a:ea typeface="굴림" pitchFamily="50" charset="-127"/>
              </a:defRPr>
            </a:lvl1pPr>
          </a:lstStyle>
          <a:p>
            <a:pPr>
              <a:defRPr/>
            </a:pPr>
            <a:endParaRPr lang="en-US" altLang="ko-KR"/>
          </a:p>
        </p:txBody>
      </p:sp>
      <p:sp>
        <p:nvSpPr>
          <p:cNvPr id="114693" name="Rectangle 5"/>
          <p:cNvSpPr>
            <a:spLocks noGrp="1" noChangeArrowheads="1"/>
          </p:cNvSpPr>
          <p:nvPr>
            <p:ph type="sldNum" sz="quarter" idx="3"/>
          </p:nvPr>
        </p:nvSpPr>
        <p:spPr bwMode="auto">
          <a:xfrm>
            <a:off x="3843338" y="9396413"/>
            <a:ext cx="2938462" cy="525462"/>
          </a:xfrm>
          <a:prstGeom prst="rect">
            <a:avLst/>
          </a:prstGeom>
          <a:noFill/>
          <a:ln w="9525">
            <a:noFill/>
            <a:miter lim="800000"/>
            <a:headEnd/>
            <a:tailEnd/>
          </a:ln>
          <a:effectLst/>
        </p:spPr>
        <p:txBody>
          <a:bodyPr vert="horz" wrap="square" lIns="90275" tIns="45137" rIns="90275" bIns="45137" numCol="1" anchor="b" anchorCtr="0" compatLnSpc="1">
            <a:prstTxWarp prst="textNoShape">
              <a:avLst/>
            </a:prstTxWarp>
          </a:bodyPr>
          <a:lstStyle>
            <a:lvl1pPr algn="r" defTabSz="902421">
              <a:defRPr sz="1200">
                <a:latin typeface="굴림" pitchFamily="50" charset="-127"/>
                <a:ea typeface="굴림" pitchFamily="50" charset="-127"/>
              </a:defRPr>
            </a:lvl1pPr>
          </a:lstStyle>
          <a:p>
            <a:pPr>
              <a:defRPr/>
            </a:pPr>
            <a:fld id="{F2D5D30C-F21F-4E25-8EF8-902B1B2EAB83}" type="slidenum">
              <a:rPr lang="en-US" altLang="ko-KR"/>
              <a:pPr>
                <a:defRPr/>
              </a:pPr>
              <a:t>‹#›</a:t>
            </a:fld>
            <a:endParaRPr lang="en-US" altLang="ko-KR"/>
          </a:p>
        </p:txBody>
      </p:sp>
    </p:spTree>
    <p:extLst>
      <p:ext uri="{BB962C8B-B14F-4D97-AF65-F5344CB8AC3E}">
        <p14:creationId xmlns:p14="http://schemas.microsoft.com/office/powerpoint/2010/main" val="126102557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44813" cy="496888"/>
          </a:xfrm>
          <a:prstGeom prst="rect">
            <a:avLst/>
          </a:prstGeom>
          <a:noFill/>
          <a:ln w="9525">
            <a:noFill/>
            <a:miter lim="800000"/>
            <a:headEnd/>
            <a:tailEnd/>
          </a:ln>
          <a:effectLst/>
        </p:spPr>
        <p:txBody>
          <a:bodyPr vert="horz" wrap="square" lIns="95547" tIns="47773" rIns="95547" bIns="47773" numCol="1" anchor="t" anchorCtr="0" compatLnSpc="1">
            <a:prstTxWarp prst="textNoShape">
              <a:avLst/>
            </a:prstTxWarp>
          </a:bodyPr>
          <a:lstStyle>
            <a:lvl1pPr algn="l" defTabSz="954851">
              <a:defRPr sz="1300">
                <a:latin typeface="굴림" pitchFamily="50" charset="-127"/>
                <a:ea typeface="굴림" pitchFamily="50" charset="-127"/>
              </a:defRPr>
            </a:lvl1pPr>
          </a:lstStyle>
          <a:p>
            <a:pPr>
              <a:defRPr/>
            </a:pPr>
            <a:endParaRPr lang="en-US" altLang="ko-KR"/>
          </a:p>
        </p:txBody>
      </p:sp>
      <p:sp>
        <p:nvSpPr>
          <p:cNvPr id="13315" name="Rectangle 3"/>
          <p:cNvSpPr>
            <a:spLocks noGrp="1" noChangeArrowheads="1"/>
          </p:cNvSpPr>
          <p:nvPr>
            <p:ph type="dt" idx="1"/>
          </p:nvPr>
        </p:nvSpPr>
        <p:spPr bwMode="auto">
          <a:xfrm>
            <a:off x="3851275" y="0"/>
            <a:ext cx="2944813" cy="496888"/>
          </a:xfrm>
          <a:prstGeom prst="rect">
            <a:avLst/>
          </a:prstGeom>
          <a:noFill/>
          <a:ln w="9525">
            <a:noFill/>
            <a:miter lim="800000"/>
            <a:headEnd/>
            <a:tailEnd/>
          </a:ln>
          <a:effectLst/>
        </p:spPr>
        <p:txBody>
          <a:bodyPr vert="horz" wrap="square" lIns="95547" tIns="47773" rIns="95547" bIns="47773" numCol="1" anchor="t" anchorCtr="0" compatLnSpc="1">
            <a:prstTxWarp prst="textNoShape">
              <a:avLst/>
            </a:prstTxWarp>
          </a:bodyPr>
          <a:lstStyle>
            <a:lvl1pPr algn="r" defTabSz="954851">
              <a:defRPr sz="1300">
                <a:latin typeface="굴림" pitchFamily="50" charset="-127"/>
                <a:ea typeface="굴림" pitchFamily="50" charset="-127"/>
              </a:defRPr>
            </a:lvl1pPr>
          </a:lstStyle>
          <a:p>
            <a:pPr>
              <a:defRPr/>
            </a:pPr>
            <a:endParaRPr lang="en-US" altLang="ko-KR"/>
          </a:p>
        </p:txBody>
      </p:sp>
      <p:sp>
        <p:nvSpPr>
          <p:cNvPr id="16388" name="Rectangle 4"/>
          <p:cNvSpPr>
            <a:spLocks noGrp="1" noRot="1" noChangeAspect="1" noChangeArrowheads="1" noTextEdit="1"/>
          </p:cNvSpPr>
          <p:nvPr>
            <p:ph type="sldImg" idx="2"/>
          </p:nvPr>
        </p:nvSpPr>
        <p:spPr bwMode="auto">
          <a:xfrm>
            <a:off x="88900" y="744538"/>
            <a:ext cx="6618288" cy="3724275"/>
          </a:xfrm>
          <a:prstGeom prst="rect">
            <a:avLst/>
          </a:prstGeom>
          <a:noFill/>
          <a:ln w="9525">
            <a:solidFill>
              <a:srgbClr val="000000"/>
            </a:solidFill>
            <a:miter lim="800000"/>
            <a:headEnd/>
            <a:tailEnd/>
          </a:ln>
        </p:spPr>
      </p:sp>
      <p:sp>
        <p:nvSpPr>
          <p:cNvPr id="13317" name="Rectangle 5"/>
          <p:cNvSpPr>
            <a:spLocks noGrp="1" noChangeArrowheads="1"/>
          </p:cNvSpPr>
          <p:nvPr>
            <p:ph type="body" sz="quarter" idx="3"/>
          </p:nvPr>
        </p:nvSpPr>
        <p:spPr bwMode="auto">
          <a:xfrm>
            <a:off x="681038" y="4716463"/>
            <a:ext cx="5435600" cy="4465637"/>
          </a:xfrm>
          <a:prstGeom prst="rect">
            <a:avLst/>
          </a:prstGeom>
          <a:noFill/>
          <a:ln w="9525">
            <a:noFill/>
            <a:miter lim="800000"/>
            <a:headEnd/>
            <a:tailEnd/>
          </a:ln>
          <a:effectLst/>
        </p:spPr>
        <p:txBody>
          <a:bodyPr vert="horz" wrap="square" lIns="95547" tIns="47773" rIns="95547" bIns="47773" numCol="1" anchor="t" anchorCtr="0" compatLnSpc="1">
            <a:prstTxWarp prst="textNoShape">
              <a:avLst/>
            </a:prstTxWarp>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p>
        </p:txBody>
      </p:sp>
      <p:sp>
        <p:nvSpPr>
          <p:cNvPr id="13318" name="Rectangle 6"/>
          <p:cNvSpPr>
            <a:spLocks noGrp="1" noChangeArrowheads="1"/>
          </p:cNvSpPr>
          <p:nvPr>
            <p:ph type="ftr" sz="quarter" idx="4"/>
          </p:nvPr>
        </p:nvSpPr>
        <p:spPr bwMode="auto">
          <a:xfrm>
            <a:off x="0" y="9428163"/>
            <a:ext cx="2944813" cy="496887"/>
          </a:xfrm>
          <a:prstGeom prst="rect">
            <a:avLst/>
          </a:prstGeom>
          <a:noFill/>
          <a:ln w="9525">
            <a:noFill/>
            <a:miter lim="800000"/>
            <a:headEnd/>
            <a:tailEnd/>
          </a:ln>
          <a:effectLst/>
        </p:spPr>
        <p:txBody>
          <a:bodyPr vert="horz" wrap="square" lIns="95547" tIns="47773" rIns="95547" bIns="47773" numCol="1" anchor="b" anchorCtr="0" compatLnSpc="1">
            <a:prstTxWarp prst="textNoShape">
              <a:avLst/>
            </a:prstTxWarp>
          </a:bodyPr>
          <a:lstStyle>
            <a:lvl1pPr algn="l" defTabSz="954851">
              <a:defRPr sz="1300">
                <a:latin typeface="굴림" pitchFamily="50" charset="-127"/>
                <a:ea typeface="굴림" pitchFamily="50" charset="-127"/>
              </a:defRPr>
            </a:lvl1pPr>
          </a:lstStyle>
          <a:p>
            <a:pPr>
              <a:defRPr/>
            </a:pPr>
            <a:endParaRPr lang="en-US" altLang="ko-KR"/>
          </a:p>
        </p:txBody>
      </p:sp>
      <p:sp>
        <p:nvSpPr>
          <p:cNvPr id="13319" name="Rectangle 7"/>
          <p:cNvSpPr>
            <a:spLocks noGrp="1" noChangeArrowheads="1"/>
          </p:cNvSpPr>
          <p:nvPr>
            <p:ph type="sldNum" sz="quarter" idx="5"/>
          </p:nvPr>
        </p:nvSpPr>
        <p:spPr bwMode="auto">
          <a:xfrm>
            <a:off x="3851275" y="9428163"/>
            <a:ext cx="2944813" cy="496887"/>
          </a:xfrm>
          <a:prstGeom prst="rect">
            <a:avLst/>
          </a:prstGeom>
          <a:noFill/>
          <a:ln w="9525">
            <a:noFill/>
            <a:miter lim="800000"/>
            <a:headEnd/>
            <a:tailEnd/>
          </a:ln>
          <a:effectLst/>
        </p:spPr>
        <p:txBody>
          <a:bodyPr vert="horz" wrap="square" lIns="95547" tIns="47773" rIns="95547" bIns="47773" numCol="1" anchor="b" anchorCtr="0" compatLnSpc="1">
            <a:prstTxWarp prst="textNoShape">
              <a:avLst/>
            </a:prstTxWarp>
          </a:bodyPr>
          <a:lstStyle>
            <a:lvl1pPr algn="r" defTabSz="954851">
              <a:defRPr sz="1300">
                <a:latin typeface="굴림" pitchFamily="50" charset="-127"/>
                <a:ea typeface="굴림" pitchFamily="50" charset="-127"/>
              </a:defRPr>
            </a:lvl1pPr>
          </a:lstStyle>
          <a:p>
            <a:pPr>
              <a:defRPr/>
            </a:pPr>
            <a:fld id="{31BFA778-A78B-435E-B76D-A41405564B0B}" type="slidenum">
              <a:rPr lang="en-US" altLang="ko-KR"/>
              <a:pPr>
                <a:defRPr/>
              </a:pPr>
              <a:t>‹#›</a:t>
            </a:fld>
            <a:endParaRPr lang="en-US" altLang="ko-KR"/>
          </a:p>
        </p:txBody>
      </p:sp>
    </p:spTree>
    <p:extLst>
      <p:ext uri="{BB962C8B-B14F-4D97-AF65-F5344CB8AC3E}">
        <p14:creationId xmlns:p14="http://schemas.microsoft.com/office/powerpoint/2010/main" val="4169779091"/>
      </p:ext>
    </p:extLst>
  </p:cSld>
  <p:clrMap bg1="lt1" tx1="dk1" bg2="lt2" tx2="dk2" accent1="accent1" accent2="accent2" accent3="accent3" accent4="accent4" accent5="accent5" accent6="accent6" hlink="hlink" folHlink="folHlink"/>
  <p:hf sldNum="0" hdr="0" ftr="0" dt="0"/>
  <p:notesStyle>
    <a:lvl1pPr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1pPr>
    <a:lvl2pPr marL="4572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2pPr>
    <a:lvl3pPr marL="9144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3pPr>
    <a:lvl4pPr marL="13716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4pPr>
    <a:lvl5pPr marL="18288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9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1.xml"/></Relationships>
</file>

<file path=ppt/notesSlides/_rels/notesSlide9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2.xml"/></Relationships>
</file>

<file path=ppt/notesSlides/_rels/notesSlide9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3.xml"/></Relationships>
</file>

<file path=ppt/notesSlides/notesSlide9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Rot="1" noChangeAspect="1" noChangeArrowheads="1" noTextEdit="1"/>
          </p:cNvSpPr>
          <p:nvPr>
            <p:ph type="sldImg"/>
          </p:nvPr>
        </p:nvSpPr>
        <p:spPr>
          <a:xfrm>
            <a:off x="88900" y="744538"/>
            <a:ext cx="6618288" cy="3724275"/>
          </a:xfrm>
          <a:ln/>
        </p:spPr>
      </p:sp>
      <p:sp>
        <p:nvSpPr>
          <p:cNvPr id="17412" name="Rectangle 3"/>
          <p:cNvSpPr>
            <a:spLocks noGrp="1" noChangeArrowheads="1"/>
          </p:cNvSpPr>
          <p:nvPr>
            <p:ph type="body" idx="1"/>
          </p:nvPr>
        </p:nvSpPr>
        <p:spPr>
          <a:noFill/>
          <a:ln/>
        </p:spPr>
        <p:txBody>
          <a:bodyPr/>
          <a:lstStyle/>
          <a:p>
            <a:pPr eaLnBrk="1" hangingPunct="1"/>
            <a:endParaRPr lang="ko-KR" altLang="ko-KR" dirty="0">
              <a:latin typeface="굴림" charset="-127"/>
              <a:ea typeface="굴림" charset="-127"/>
            </a:endParaRPr>
          </a:p>
        </p:txBody>
      </p:sp>
    </p:spTree>
  </p:cSld>
  <p:clrMapOvr>
    <a:masterClrMapping/>
  </p:clrMapOvr>
</p:notes>
</file>

<file path=ppt/notesSlides/notesSlide9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Rot="1" noChangeAspect="1" noChangeArrowheads="1" noTextEdit="1"/>
          </p:cNvSpPr>
          <p:nvPr>
            <p:ph type="sldImg"/>
          </p:nvPr>
        </p:nvSpPr>
        <p:spPr>
          <a:xfrm>
            <a:off x="88900" y="744538"/>
            <a:ext cx="6618288" cy="3724275"/>
          </a:xfrm>
          <a:ln/>
        </p:spPr>
      </p:sp>
      <p:sp>
        <p:nvSpPr>
          <p:cNvPr id="17412" name="Rectangle 3"/>
          <p:cNvSpPr>
            <a:spLocks noGrp="1" noChangeArrowheads="1"/>
          </p:cNvSpPr>
          <p:nvPr>
            <p:ph type="body" idx="1"/>
          </p:nvPr>
        </p:nvSpPr>
        <p:spPr>
          <a:noFill/>
          <a:ln/>
        </p:spPr>
        <p:txBody>
          <a:bodyPr/>
          <a:lstStyle/>
          <a:p>
            <a:pPr eaLnBrk="1" hangingPunct="1"/>
            <a:endParaRPr lang="ko-KR" altLang="ko-KR" dirty="0">
              <a:latin typeface="굴림" charset="-127"/>
              <a:ea typeface="굴림" charset="-127"/>
            </a:endParaRPr>
          </a:p>
        </p:txBody>
      </p:sp>
    </p:spTree>
    <p:extLst>
      <p:ext uri="{BB962C8B-B14F-4D97-AF65-F5344CB8AC3E}">
        <p14:creationId xmlns:p14="http://schemas.microsoft.com/office/powerpoint/2010/main" val="2241307052"/>
      </p:ext>
    </p:extLst>
  </p:cSld>
  <p:clrMapOvr>
    <a:masterClrMapping/>
  </p:clrMapOvr>
</p:notes>
</file>

<file path=ppt/notesSlides/notesSlide9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슬라이드 이미지 개체 틀 1"/>
          <p:cNvSpPr>
            <a:spLocks noGrp="1" noRot="1" noChangeAspect="1" noTextEdit="1"/>
          </p:cNvSpPr>
          <p:nvPr>
            <p:ph type="sldImg"/>
          </p:nvPr>
        </p:nvSpPr>
        <p:spPr>
          <a:xfrm>
            <a:off x="88900" y="744538"/>
            <a:ext cx="6618288" cy="3724275"/>
          </a:xfrm>
          <a:ln/>
        </p:spPr>
      </p:sp>
      <p:sp>
        <p:nvSpPr>
          <p:cNvPr id="27651" name="슬라이드 노트 개체 틀 2"/>
          <p:cNvSpPr>
            <a:spLocks noGrp="1"/>
          </p:cNvSpPr>
          <p:nvPr>
            <p:ph type="body" idx="1"/>
          </p:nvPr>
        </p:nvSpPr>
        <p:spPr>
          <a:noFill/>
          <a:ln/>
        </p:spPr>
        <p:txBody>
          <a:bodyPr/>
          <a:lstStyle/>
          <a:p>
            <a:endParaRPr lang="ko-KR" altLang="en-US">
              <a:latin typeface="굴림" charset="-127"/>
              <a:ea typeface="굴림" charset="-127"/>
            </a:endParaRPr>
          </a:p>
        </p:txBody>
      </p:sp>
    </p:spTree>
    <p:extLst>
      <p:ext uri="{BB962C8B-B14F-4D97-AF65-F5344CB8AC3E}">
        <p14:creationId xmlns:p14="http://schemas.microsoft.com/office/powerpoint/2010/main" val="37787792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제목 슬라이드">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구역 머리글">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콘텐츠 2개">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비교">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제목만">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캡션 있는 콘텐츠">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캡션 있는 그림">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제목 및 세로 텍스트">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세로 제목 및 텍스트">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제목, 텍스트 및 내용">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구역 머리글">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콘텐츠 2개">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비교">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제목만">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캡션 있는 콘텐츠">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4192" r:id="rId1"/>
    <p:sldLayoutId id="2147484170" r:id="rId2"/>
    <p:sldLayoutId id="2147484171" r:id="rId3"/>
    <p:sldLayoutId id="2147484172" r:id="rId4"/>
    <p:sldLayoutId id="2147484173" r:id="rId5"/>
    <p:sldLayoutId id="2147484174" r:id="rId6"/>
    <p:sldLayoutId id="2147484175" r:id="rId7"/>
    <p:sldLayoutId id="2147484176" r:id="rId8"/>
    <p:sldLayoutId id="2147484177" r:id="rId9"/>
    <p:sldLayoutId id="2147484178" r:id="rId10"/>
    <p:sldLayoutId id="2147484179" r:id="rId11"/>
    <p:sldLayoutId id="2147484180" r:id="rId12"/>
  </p:sldLayoutIdLst>
  <p:hf hdr="0" ftr="0" dt="0"/>
  <p:txStyles>
    <p:titleStyle>
      <a:lvl1pPr algn="ctr" rtl="0" eaLnBrk="0" fontAlgn="base" latinLnBrk="1" hangingPunct="0">
        <a:spcBef>
          <a:spcPct val="0"/>
        </a:spcBef>
        <a:spcAft>
          <a:spcPct val="0"/>
        </a:spcAft>
        <a:defRPr kumimoji="1" sz="4431" b="1">
          <a:solidFill>
            <a:schemeClr val="bg1"/>
          </a:solidFill>
          <a:latin typeface="+mj-lt"/>
          <a:ea typeface="+mj-ea"/>
          <a:cs typeface="+mj-cs"/>
        </a:defRPr>
      </a:lvl1pPr>
      <a:lvl2pPr algn="ctr" rtl="0" eaLnBrk="0" fontAlgn="base" latinLnBrk="1" hangingPunct="0">
        <a:spcBef>
          <a:spcPct val="0"/>
        </a:spcBef>
        <a:spcAft>
          <a:spcPct val="0"/>
        </a:spcAft>
        <a:defRPr kumimoji="1" sz="4431" b="1">
          <a:solidFill>
            <a:schemeClr val="bg1"/>
          </a:solidFill>
          <a:latin typeface="Arial" charset="0"/>
          <a:ea typeface="굴림" pitchFamily="50" charset="-127"/>
        </a:defRPr>
      </a:lvl2pPr>
      <a:lvl3pPr algn="ctr" rtl="0" eaLnBrk="0" fontAlgn="base" latinLnBrk="1" hangingPunct="0">
        <a:spcBef>
          <a:spcPct val="0"/>
        </a:spcBef>
        <a:spcAft>
          <a:spcPct val="0"/>
        </a:spcAft>
        <a:defRPr kumimoji="1" sz="4431" b="1">
          <a:solidFill>
            <a:schemeClr val="bg1"/>
          </a:solidFill>
          <a:latin typeface="Arial" charset="0"/>
          <a:ea typeface="굴림" pitchFamily="50" charset="-127"/>
        </a:defRPr>
      </a:lvl3pPr>
      <a:lvl4pPr algn="ctr" rtl="0" eaLnBrk="0" fontAlgn="base" latinLnBrk="1" hangingPunct="0">
        <a:spcBef>
          <a:spcPct val="0"/>
        </a:spcBef>
        <a:spcAft>
          <a:spcPct val="0"/>
        </a:spcAft>
        <a:defRPr kumimoji="1" sz="4431" b="1">
          <a:solidFill>
            <a:schemeClr val="bg1"/>
          </a:solidFill>
          <a:latin typeface="Arial" charset="0"/>
          <a:ea typeface="굴림" pitchFamily="50" charset="-127"/>
        </a:defRPr>
      </a:lvl4pPr>
      <a:lvl5pPr algn="ctr" rtl="0" eaLnBrk="0" fontAlgn="base" latinLnBrk="1" hangingPunct="0">
        <a:spcBef>
          <a:spcPct val="0"/>
        </a:spcBef>
        <a:spcAft>
          <a:spcPct val="0"/>
        </a:spcAft>
        <a:defRPr kumimoji="1" sz="4431" b="1">
          <a:solidFill>
            <a:schemeClr val="bg1"/>
          </a:solidFill>
          <a:latin typeface="Arial" charset="0"/>
          <a:ea typeface="굴림" pitchFamily="50" charset="-127"/>
        </a:defRPr>
      </a:lvl5pPr>
      <a:lvl6pPr marL="562722" algn="ctr" rtl="0" fontAlgn="base" latinLnBrk="1">
        <a:spcBef>
          <a:spcPct val="0"/>
        </a:spcBef>
        <a:spcAft>
          <a:spcPct val="0"/>
        </a:spcAft>
        <a:defRPr kumimoji="1" sz="4431" b="1">
          <a:solidFill>
            <a:schemeClr val="bg1"/>
          </a:solidFill>
          <a:latin typeface="Arial" charset="0"/>
          <a:ea typeface="굴림" pitchFamily="50" charset="-127"/>
        </a:defRPr>
      </a:lvl6pPr>
      <a:lvl7pPr marL="1125444" algn="ctr" rtl="0" fontAlgn="base" latinLnBrk="1">
        <a:spcBef>
          <a:spcPct val="0"/>
        </a:spcBef>
        <a:spcAft>
          <a:spcPct val="0"/>
        </a:spcAft>
        <a:defRPr kumimoji="1" sz="4431" b="1">
          <a:solidFill>
            <a:schemeClr val="bg1"/>
          </a:solidFill>
          <a:latin typeface="Arial" charset="0"/>
          <a:ea typeface="굴림" pitchFamily="50" charset="-127"/>
        </a:defRPr>
      </a:lvl7pPr>
      <a:lvl8pPr marL="1688165" algn="ctr" rtl="0" fontAlgn="base" latinLnBrk="1">
        <a:spcBef>
          <a:spcPct val="0"/>
        </a:spcBef>
        <a:spcAft>
          <a:spcPct val="0"/>
        </a:spcAft>
        <a:defRPr kumimoji="1" sz="4431" b="1">
          <a:solidFill>
            <a:schemeClr val="bg1"/>
          </a:solidFill>
          <a:latin typeface="Arial" charset="0"/>
          <a:ea typeface="굴림" pitchFamily="50" charset="-127"/>
        </a:defRPr>
      </a:lvl8pPr>
      <a:lvl9pPr marL="2250887" algn="ctr" rtl="0" fontAlgn="base" latinLnBrk="1">
        <a:spcBef>
          <a:spcPct val="0"/>
        </a:spcBef>
        <a:spcAft>
          <a:spcPct val="0"/>
        </a:spcAft>
        <a:defRPr kumimoji="1" sz="4431" b="1">
          <a:solidFill>
            <a:schemeClr val="bg1"/>
          </a:solidFill>
          <a:latin typeface="Arial" charset="0"/>
          <a:ea typeface="굴림" pitchFamily="50" charset="-127"/>
        </a:defRPr>
      </a:lvl9pPr>
    </p:titleStyle>
    <p:bodyStyle>
      <a:lvl1pPr marL="228606" indent="-228606" algn="l" rtl="0" eaLnBrk="0" fontAlgn="base" latinLnBrk="1" hangingPunct="0">
        <a:spcBef>
          <a:spcPct val="20000"/>
        </a:spcBef>
        <a:spcAft>
          <a:spcPct val="0"/>
        </a:spcAft>
        <a:buClr>
          <a:srgbClr val="FF9900"/>
        </a:buClr>
        <a:buSzPct val="80000"/>
        <a:buFont typeface="Wingdings" pitchFamily="2" charset="2"/>
        <a:buChar char="n"/>
        <a:defRPr kumimoji="1" sz="2708" b="1">
          <a:solidFill>
            <a:schemeClr val="tx1"/>
          </a:solidFill>
          <a:latin typeface="+mn-lt"/>
          <a:ea typeface="+mn-ea"/>
          <a:cs typeface="+mn-cs"/>
        </a:defRPr>
      </a:lvl1pPr>
      <a:lvl2pPr marL="668232" indent="-218836" algn="l" rtl="0" eaLnBrk="0" fontAlgn="base" latinLnBrk="1" hangingPunct="0">
        <a:spcBef>
          <a:spcPct val="20000"/>
        </a:spcBef>
        <a:spcAft>
          <a:spcPct val="0"/>
        </a:spcAft>
        <a:buClr>
          <a:srgbClr val="FF9900"/>
        </a:buClr>
        <a:buSzPct val="80000"/>
        <a:buFont typeface="Wingdings" pitchFamily="2" charset="2"/>
        <a:buChar char="l"/>
        <a:defRPr kumimoji="1" sz="2462">
          <a:solidFill>
            <a:schemeClr val="tx1"/>
          </a:solidFill>
          <a:latin typeface="+mn-lt"/>
          <a:ea typeface="+mn-ea"/>
        </a:defRPr>
      </a:lvl2pPr>
      <a:lvl3pPr marL="1109812" indent="-220791" algn="l" rtl="0" eaLnBrk="0" fontAlgn="base" latinLnBrk="1" hangingPunct="0">
        <a:spcBef>
          <a:spcPct val="20000"/>
        </a:spcBef>
        <a:spcAft>
          <a:spcPct val="0"/>
        </a:spcAft>
        <a:buClr>
          <a:srgbClr val="FF9900"/>
        </a:buClr>
        <a:buSzPct val="60000"/>
        <a:buFont typeface="Wingdings" pitchFamily="2" charset="2"/>
        <a:buChar char="u"/>
        <a:defRPr kumimoji="1">
          <a:solidFill>
            <a:schemeClr val="tx1"/>
          </a:solidFill>
          <a:latin typeface="+mn-lt"/>
          <a:ea typeface="+mn-ea"/>
        </a:defRPr>
      </a:lvl3pPr>
      <a:lvl4pPr marL="1549439" indent="-218836" algn="l" rtl="0" eaLnBrk="0" fontAlgn="base" latinLnBrk="1" hangingPunct="0">
        <a:spcBef>
          <a:spcPct val="20000"/>
        </a:spcBef>
        <a:spcAft>
          <a:spcPct val="0"/>
        </a:spcAft>
        <a:buClr>
          <a:srgbClr val="FF9900"/>
        </a:buClr>
        <a:buSzPct val="80000"/>
        <a:buFont typeface="Wingdings" pitchFamily="2" charset="2"/>
        <a:buChar char="ü"/>
        <a:defRPr kumimoji="1" sz="1969">
          <a:solidFill>
            <a:schemeClr val="tx1"/>
          </a:solidFill>
          <a:latin typeface="+mn-lt"/>
          <a:ea typeface="+mn-ea"/>
        </a:defRPr>
      </a:lvl4pPr>
      <a:lvl5pPr marL="1989065" indent="-218836" algn="l" rtl="0" eaLnBrk="0" fontAlgn="base" latinLnBrk="1" hangingPunct="0">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5pPr>
      <a:lvl6pPr marL="2551787" indent="-218836" algn="l" rtl="0" fontAlgn="base" latinLnBrk="1">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6pPr>
      <a:lvl7pPr marL="3114509" indent="-218836" algn="l" rtl="0" fontAlgn="base" latinLnBrk="1">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7pPr>
      <a:lvl8pPr marL="3677230" indent="-218836" algn="l" rtl="0" fontAlgn="base" latinLnBrk="1">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8pPr>
      <a:lvl9pPr marL="4239952" indent="-218836" algn="l" rtl="0" fontAlgn="base" latinLnBrk="1">
        <a:spcBef>
          <a:spcPct val="20000"/>
        </a:spcBef>
        <a:spcAft>
          <a:spcPct val="0"/>
        </a:spcAft>
        <a:buClr>
          <a:srgbClr val="FF9900"/>
        </a:buClr>
        <a:buSzPct val="80000"/>
        <a:buFont typeface="SinMyungJo Symbol" pitchFamily="18" charset="-127"/>
        <a:buChar char="-"/>
        <a:defRPr kumimoji="1" sz="1969">
          <a:solidFill>
            <a:schemeClr val="tx1"/>
          </a:solidFill>
          <a:latin typeface="+mn-lt"/>
          <a:ea typeface="+mn-ea"/>
        </a:defRPr>
      </a:lvl9pPr>
    </p:bodyStyle>
    <p:otherStyle>
      <a:defPPr>
        <a:defRPr lang="ko-KR"/>
      </a:defPPr>
      <a:lvl1pPr marL="0" algn="l" defTabSz="1125444" rtl="0" eaLnBrk="1" latinLnBrk="1" hangingPunct="1">
        <a:defRPr sz="2215" kern="1200">
          <a:solidFill>
            <a:schemeClr val="tx1"/>
          </a:solidFill>
          <a:latin typeface="+mn-lt"/>
          <a:ea typeface="+mn-ea"/>
          <a:cs typeface="+mn-cs"/>
        </a:defRPr>
      </a:lvl1pPr>
      <a:lvl2pPr marL="562722" algn="l" defTabSz="1125444" rtl="0" eaLnBrk="1" latinLnBrk="1" hangingPunct="1">
        <a:defRPr sz="2215" kern="1200">
          <a:solidFill>
            <a:schemeClr val="tx1"/>
          </a:solidFill>
          <a:latin typeface="+mn-lt"/>
          <a:ea typeface="+mn-ea"/>
          <a:cs typeface="+mn-cs"/>
        </a:defRPr>
      </a:lvl2pPr>
      <a:lvl3pPr marL="1125444" algn="l" defTabSz="1125444" rtl="0" eaLnBrk="1" latinLnBrk="1" hangingPunct="1">
        <a:defRPr sz="2215" kern="1200">
          <a:solidFill>
            <a:schemeClr val="tx1"/>
          </a:solidFill>
          <a:latin typeface="+mn-lt"/>
          <a:ea typeface="+mn-ea"/>
          <a:cs typeface="+mn-cs"/>
        </a:defRPr>
      </a:lvl3pPr>
      <a:lvl4pPr marL="1688165" algn="l" defTabSz="1125444" rtl="0" eaLnBrk="1" latinLnBrk="1" hangingPunct="1">
        <a:defRPr sz="2215" kern="1200">
          <a:solidFill>
            <a:schemeClr val="tx1"/>
          </a:solidFill>
          <a:latin typeface="+mn-lt"/>
          <a:ea typeface="+mn-ea"/>
          <a:cs typeface="+mn-cs"/>
        </a:defRPr>
      </a:lvl4pPr>
      <a:lvl5pPr marL="2250887" algn="l" defTabSz="1125444" rtl="0" eaLnBrk="1" latinLnBrk="1" hangingPunct="1">
        <a:defRPr sz="2215" kern="1200">
          <a:solidFill>
            <a:schemeClr val="tx1"/>
          </a:solidFill>
          <a:latin typeface="+mn-lt"/>
          <a:ea typeface="+mn-ea"/>
          <a:cs typeface="+mn-cs"/>
        </a:defRPr>
      </a:lvl5pPr>
      <a:lvl6pPr marL="2813609" algn="l" defTabSz="1125444" rtl="0" eaLnBrk="1" latinLnBrk="1" hangingPunct="1">
        <a:defRPr sz="2215" kern="1200">
          <a:solidFill>
            <a:schemeClr val="tx1"/>
          </a:solidFill>
          <a:latin typeface="+mn-lt"/>
          <a:ea typeface="+mn-ea"/>
          <a:cs typeface="+mn-cs"/>
        </a:defRPr>
      </a:lvl6pPr>
      <a:lvl7pPr marL="3376331" algn="l" defTabSz="1125444" rtl="0" eaLnBrk="1" latinLnBrk="1" hangingPunct="1">
        <a:defRPr sz="2215" kern="1200">
          <a:solidFill>
            <a:schemeClr val="tx1"/>
          </a:solidFill>
          <a:latin typeface="+mn-lt"/>
          <a:ea typeface="+mn-ea"/>
          <a:cs typeface="+mn-cs"/>
        </a:defRPr>
      </a:lvl7pPr>
      <a:lvl8pPr marL="3939052" algn="l" defTabSz="1125444" rtl="0" eaLnBrk="1" latinLnBrk="1" hangingPunct="1">
        <a:defRPr sz="2215" kern="1200">
          <a:solidFill>
            <a:schemeClr val="tx1"/>
          </a:solidFill>
          <a:latin typeface="+mn-lt"/>
          <a:ea typeface="+mn-ea"/>
          <a:cs typeface="+mn-cs"/>
        </a:defRPr>
      </a:lvl8pPr>
      <a:lvl9pPr marL="4501774" algn="l" defTabSz="1125444" rtl="0" eaLnBrk="1" latinLnBrk="1" hangingPunct="1">
        <a:defRPr sz="2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4181" r:id="rId1"/>
    <p:sldLayoutId id="2147484182" r:id="rId2"/>
    <p:sldLayoutId id="2147484183" r:id="rId3"/>
    <p:sldLayoutId id="2147484184" r:id="rId4"/>
    <p:sldLayoutId id="2147484185" r:id="rId5"/>
    <p:sldLayoutId id="2147484186" r:id="rId6"/>
    <p:sldLayoutId id="2147484187" r:id="rId7"/>
    <p:sldLayoutId id="2147484188" r:id="rId8"/>
  </p:sldLayoutIdLst>
  <p:hf hdr="0" ftr="0" dt="0"/>
  <p:txStyles>
    <p:titleStyle>
      <a:lvl1pPr algn="ctr" rtl="0" eaLnBrk="0" fontAlgn="base" latinLnBrk="1" hangingPunct="0">
        <a:spcBef>
          <a:spcPct val="0"/>
        </a:spcBef>
        <a:spcAft>
          <a:spcPct val="0"/>
        </a:spcAft>
        <a:defRPr sz="5416" kern="1200">
          <a:solidFill>
            <a:schemeClr val="tx1"/>
          </a:solidFill>
          <a:latin typeface="+mj-lt"/>
          <a:ea typeface="+mj-ea"/>
          <a:cs typeface="+mj-cs"/>
        </a:defRPr>
      </a:lvl1pPr>
      <a:lvl2pPr algn="ctr" rtl="0" eaLnBrk="0" fontAlgn="base" latinLnBrk="1" hangingPunct="0">
        <a:spcBef>
          <a:spcPct val="0"/>
        </a:spcBef>
        <a:spcAft>
          <a:spcPct val="0"/>
        </a:spcAft>
        <a:defRPr sz="5416">
          <a:solidFill>
            <a:schemeClr val="tx1"/>
          </a:solidFill>
          <a:latin typeface="맑은 고딕" pitchFamily="50" charset="-127"/>
          <a:ea typeface="맑은 고딕" pitchFamily="50" charset="-127"/>
        </a:defRPr>
      </a:lvl2pPr>
      <a:lvl3pPr algn="ctr" rtl="0" eaLnBrk="0" fontAlgn="base" latinLnBrk="1" hangingPunct="0">
        <a:spcBef>
          <a:spcPct val="0"/>
        </a:spcBef>
        <a:spcAft>
          <a:spcPct val="0"/>
        </a:spcAft>
        <a:defRPr sz="5416">
          <a:solidFill>
            <a:schemeClr val="tx1"/>
          </a:solidFill>
          <a:latin typeface="맑은 고딕" pitchFamily="50" charset="-127"/>
          <a:ea typeface="맑은 고딕" pitchFamily="50" charset="-127"/>
        </a:defRPr>
      </a:lvl3pPr>
      <a:lvl4pPr algn="ctr" rtl="0" eaLnBrk="0" fontAlgn="base" latinLnBrk="1" hangingPunct="0">
        <a:spcBef>
          <a:spcPct val="0"/>
        </a:spcBef>
        <a:spcAft>
          <a:spcPct val="0"/>
        </a:spcAft>
        <a:defRPr sz="5416">
          <a:solidFill>
            <a:schemeClr val="tx1"/>
          </a:solidFill>
          <a:latin typeface="맑은 고딕" pitchFamily="50" charset="-127"/>
          <a:ea typeface="맑은 고딕" pitchFamily="50" charset="-127"/>
        </a:defRPr>
      </a:lvl4pPr>
      <a:lvl5pPr algn="ctr" rtl="0" eaLnBrk="0" fontAlgn="base" latinLnBrk="1" hangingPunct="0">
        <a:spcBef>
          <a:spcPct val="0"/>
        </a:spcBef>
        <a:spcAft>
          <a:spcPct val="0"/>
        </a:spcAft>
        <a:defRPr sz="5416">
          <a:solidFill>
            <a:schemeClr val="tx1"/>
          </a:solidFill>
          <a:latin typeface="맑은 고딕" pitchFamily="50" charset="-127"/>
          <a:ea typeface="맑은 고딕" pitchFamily="50" charset="-127"/>
        </a:defRPr>
      </a:lvl5pPr>
      <a:lvl6pPr marL="562722" algn="ctr" rtl="0" fontAlgn="base" latinLnBrk="1">
        <a:spcBef>
          <a:spcPct val="0"/>
        </a:spcBef>
        <a:spcAft>
          <a:spcPct val="0"/>
        </a:spcAft>
        <a:defRPr sz="5416">
          <a:solidFill>
            <a:schemeClr val="tx1"/>
          </a:solidFill>
          <a:latin typeface="맑은 고딕" pitchFamily="50" charset="-127"/>
          <a:ea typeface="맑은 고딕" pitchFamily="50" charset="-127"/>
        </a:defRPr>
      </a:lvl6pPr>
      <a:lvl7pPr marL="1125444" algn="ctr" rtl="0" fontAlgn="base" latinLnBrk="1">
        <a:spcBef>
          <a:spcPct val="0"/>
        </a:spcBef>
        <a:spcAft>
          <a:spcPct val="0"/>
        </a:spcAft>
        <a:defRPr sz="5416">
          <a:solidFill>
            <a:schemeClr val="tx1"/>
          </a:solidFill>
          <a:latin typeface="맑은 고딕" pitchFamily="50" charset="-127"/>
          <a:ea typeface="맑은 고딕" pitchFamily="50" charset="-127"/>
        </a:defRPr>
      </a:lvl7pPr>
      <a:lvl8pPr marL="1688165" algn="ctr" rtl="0" fontAlgn="base" latinLnBrk="1">
        <a:spcBef>
          <a:spcPct val="0"/>
        </a:spcBef>
        <a:spcAft>
          <a:spcPct val="0"/>
        </a:spcAft>
        <a:defRPr sz="5416">
          <a:solidFill>
            <a:schemeClr val="tx1"/>
          </a:solidFill>
          <a:latin typeface="맑은 고딕" pitchFamily="50" charset="-127"/>
          <a:ea typeface="맑은 고딕" pitchFamily="50" charset="-127"/>
        </a:defRPr>
      </a:lvl8pPr>
      <a:lvl9pPr marL="2250887" algn="ctr" rtl="0" fontAlgn="base" latinLnBrk="1">
        <a:spcBef>
          <a:spcPct val="0"/>
        </a:spcBef>
        <a:spcAft>
          <a:spcPct val="0"/>
        </a:spcAft>
        <a:defRPr sz="5416">
          <a:solidFill>
            <a:schemeClr val="tx1"/>
          </a:solidFill>
          <a:latin typeface="맑은 고딕" pitchFamily="50" charset="-127"/>
          <a:ea typeface="맑은 고딕" pitchFamily="50" charset="-127"/>
        </a:defRPr>
      </a:lvl9pPr>
    </p:titleStyle>
    <p:bodyStyle>
      <a:lvl1pPr marL="422041" indent="-422041" algn="l" rtl="0" eaLnBrk="0" fontAlgn="base" latinLnBrk="1" hangingPunct="0">
        <a:spcBef>
          <a:spcPct val="20000"/>
        </a:spcBef>
        <a:spcAft>
          <a:spcPct val="0"/>
        </a:spcAft>
        <a:buFont typeface="Arial" charset="0"/>
        <a:buChar char="•"/>
        <a:defRPr sz="3939" kern="1200">
          <a:solidFill>
            <a:schemeClr val="tx1"/>
          </a:solidFill>
          <a:latin typeface="+mn-lt"/>
          <a:ea typeface="+mn-ea"/>
          <a:cs typeface="+mn-cs"/>
        </a:defRPr>
      </a:lvl1pPr>
      <a:lvl2pPr marL="914423" indent="-351701" algn="l" rtl="0" eaLnBrk="0" fontAlgn="base" latinLnBrk="1" hangingPunct="0">
        <a:spcBef>
          <a:spcPct val="20000"/>
        </a:spcBef>
        <a:spcAft>
          <a:spcPct val="0"/>
        </a:spcAft>
        <a:buFont typeface="Arial" charset="0"/>
        <a:buChar char="–"/>
        <a:defRPr sz="3446" kern="1200">
          <a:solidFill>
            <a:schemeClr val="tx1"/>
          </a:solidFill>
          <a:latin typeface="+mn-lt"/>
          <a:ea typeface="+mn-ea"/>
          <a:cs typeface="+mn-cs"/>
        </a:defRPr>
      </a:lvl2pPr>
      <a:lvl3pPr marL="1406804" indent="-281361" algn="l" rtl="0" eaLnBrk="0" fontAlgn="base" latinLnBrk="1" hangingPunct="0">
        <a:spcBef>
          <a:spcPct val="20000"/>
        </a:spcBef>
        <a:spcAft>
          <a:spcPct val="0"/>
        </a:spcAft>
        <a:buFont typeface="Arial" charset="0"/>
        <a:buChar char="•"/>
        <a:defRPr sz="2954" kern="1200">
          <a:solidFill>
            <a:schemeClr val="tx1"/>
          </a:solidFill>
          <a:latin typeface="+mn-lt"/>
          <a:ea typeface="+mn-ea"/>
          <a:cs typeface="+mn-cs"/>
        </a:defRPr>
      </a:lvl3pPr>
      <a:lvl4pPr marL="1969526" indent="-281361" algn="l" rtl="0" eaLnBrk="0" fontAlgn="base" latinLnBrk="1" hangingPunct="0">
        <a:spcBef>
          <a:spcPct val="20000"/>
        </a:spcBef>
        <a:spcAft>
          <a:spcPct val="0"/>
        </a:spcAft>
        <a:buFont typeface="Arial" charset="0"/>
        <a:buChar char="–"/>
        <a:defRPr sz="2462" kern="1200">
          <a:solidFill>
            <a:schemeClr val="tx1"/>
          </a:solidFill>
          <a:latin typeface="+mn-lt"/>
          <a:ea typeface="+mn-ea"/>
          <a:cs typeface="+mn-cs"/>
        </a:defRPr>
      </a:lvl4pPr>
      <a:lvl5pPr marL="2532248" indent="-281361" algn="l" rtl="0" eaLnBrk="0" fontAlgn="base" latinLnBrk="1" hangingPunct="0">
        <a:spcBef>
          <a:spcPct val="20000"/>
        </a:spcBef>
        <a:spcAft>
          <a:spcPct val="0"/>
        </a:spcAft>
        <a:buFont typeface="Arial" charset="0"/>
        <a:buChar char="»"/>
        <a:defRPr sz="2462" kern="1200">
          <a:solidFill>
            <a:schemeClr val="tx1"/>
          </a:solidFill>
          <a:latin typeface="+mn-lt"/>
          <a:ea typeface="+mn-ea"/>
          <a:cs typeface="+mn-cs"/>
        </a:defRPr>
      </a:lvl5pPr>
      <a:lvl6pPr marL="3094970" indent="-281361" algn="l" defTabSz="1125444" rtl="0" eaLnBrk="1" latinLnBrk="1" hangingPunct="1">
        <a:spcBef>
          <a:spcPct val="20000"/>
        </a:spcBef>
        <a:buFont typeface="Arial" pitchFamily="34" charset="0"/>
        <a:buChar char="•"/>
        <a:defRPr sz="2462" kern="1200">
          <a:solidFill>
            <a:schemeClr val="tx1"/>
          </a:solidFill>
          <a:latin typeface="+mn-lt"/>
          <a:ea typeface="+mn-ea"/>
          <a:cs typeface="+mn-cs"/>
        </a:defRPr>
      </a:lvl6pPr>
      <a:lvl7pPr marL="3657691" indent="-281361" algn="l" defTabSz="1125444" rtl="0" eaLnBrk="1" latinLnBrk="1" hangingPunct="1">
        <a:spcBef>
          <a:spcPct val="20000"/>
        </a:spcBef>
        <a:buFont typeface="Arial" pitchFamily="34" charset="0"/>
        <a:buChar char="•"/>
        <a:defRPr sz="2462" kern="1200">
          <a:solidFill>
            <a:schemeClr val="tx1"/>
          </a:solidFill>
          <a:latin typeface="+mn-lt"/>
          <a:ea typeface="+mn-ea"/>
          <a:cs typeface="+mn-cs"/>
        </a:defRPr>
      </a:lvl7pPr>
      <a:lvl8pPr marL="4220413" indent="-281361" algn="l" defTabSz="1125444" rtl="0" eaLnBrk="1" latinLnBrk="1" hangingPunct="1">
        <a:spcBef>
          <a:spcPct val="20000"/>
        </a:spcBef>
        <a:buFont typeface="Arial" pitchFamily="34" charset="0"/>
        <a:buChar char="•"/>
        <a:defRPr sz="2462" kern="1200">
          <a:solidFill>
            <a:schemeClr val="tx1"/>
          </a:solidFill>
          <a:latin typeface="+mn-lt"/>
          <a:ea typeface="+mn-ea"/>
          <a:cs typeface="+mn-cs"/>
        </a:defRPr>
      </a:lvl8pPr>
      <a:lvl9pPr marL="4783135" indent="-281361" algn="l" defTabSz="1125444" rtl="0" eaLnBrk="1" latinLnBrk="1" hangingPunct="1">
        <a:spcBef>
          <a:spcPct val="20000"/>
        </a:spcBef>
        <a:buFont typeface="Arial" pitchFamily="34" charset="0"/>
        <a:buChar char="•"/>
        <a:defRPr sz="2462" kern="1200">
          <a:solidFill>
            <a:schemeClr val="tx1"/>
          </a:solidFill>
          <a:latin typeface="+mn-lt"/>
          <a:ea typeface="+mn-ea"/>
          <a:cs typeface="+mn-cs"/>
        </a:defRPr>
      </a:lvl9pPr>
    </p:bodyStyle>
    <p:otherStyle>
      <a:defPPr>
        <a:defRPr lang="ko-KR"/>
      </a:defPPr>
      <a:lvl1pPr marL="0" algn="l" defTabSz="1125444" rtl="0" eaLnBrk="1" latinLnBrk="1" hangingPunct="1">
        <a:defRPr sz="2215" kern="1200">
          <a:solidFill>
            <a:schemeClr val="tx1"/>
          </a:solidFill>
          <a:latin typeface="+mn-lt"/>
          <a:ea typeface="+mn-ea"/>
          <a:cs typeface="+mn-cs"/>
        </a:defRPr>
      </a:lvl1pPr>
      <a:lvl2pPr marL="562722" algn="l" defTabSz="1125444" rtl="0" eaLnBrk="1" latinLnBrk="1" hangingPunct="1">
        <a:defRPr sz="2215" kern="1200">
          <a:solidFill>
            <a:schemeClr val="tx1"/>
          </a:solidFill>
          <a:latin typeface="+mn-lt"/>
          <a:ea typeface="+mn-ea"/>
          <a:cs typeface="+mn-cs"/>
        </a:defRPr>
      </a:lvl2pPr>
      <a:lvl3pPr marL="1125444" algn="l" defTabSz="1125444" rtl="0" eaLnBrk="1" latinLnBrk="1" hangingPunct="1">
        <a:defRPr sz="2215" kern="1200">
          <a:solidFill>
            <a:schemeClr val="tx1"/>
          </a:solidFill>
          <a:latin typeface="+mn-lt"/>
          <a:ea typeface="+mn-ea"/>
          <a:cs typeface="+mn-cs"/>
        </a:defRPr>
      </a:lvl3pPr>
      <a:lvl4pPr marL="1688165" algn="l" defTabSz="1125444" rtl="0" eaLnBrk="1" latinLnBrk="1" hangingPunct="1">
        <a:defRPr sz="2215" kern="1200">
          <a:solidFill>
            <a:schemeClr val="tx1"/>
          </a:solidFill>
          <a:latin typeface="+mn-lt"/>
          <a:ea typeface="+mn-ea"/>
          <a:cs typeface="+mn-cs"/>
        </a:defRPr>
      </a:lvl4pPr>
      <a:lvl5pPr marL="2250887" algn="l" defTabSz="1125444" rtl="0" eaLnBrk="1" latinLnBrk="1" hangingPunct="1">
        <a:defRPr sz="2215" kern="1200">
          <a:solidFill>
            <a:schemeClr val="tx1"/>
          </a:solidFill>
          <a:latin typeface="+mn-lt"/>
          <a:ea typeface="+mn-ea"/>
          <a:cs typeface="+mn-cs"/>
        </a:defRPr>
      </a:lvl5pPr>
      <a:lvl6pPr marL="2813609" algn="l" defTabSz="1125444" rtl="0" eaLnBrk="1" latinLnBrk="1" hangingPunct="1">
        <a:defRPr sz="2215" kern="1200">
          <a:solidFill>
            <a:schemeClr val="tx1"/>
          </a:solidFill>
          <a:latin typeface="+mn-lt"/>
          <a:ea typeface="+mn-ea"/>
          <a:cs typeface="+mn-cs"/>
        </a:defRPr>
      </a:lvl6pPr>
      <a:lvl7pPr marL="3376331" algn="l" defTabSz="1125444" rtl="0" eaLnBrk="1" latinLnBrk="1" hangingPunct="1">
        <a:defRPr sz="2215" kern="1200">
          <a:solidFill>
            <a:schemeClr val="tx1"/>
          </a:solidFill>
          <a:latin typeface="+mn-lt"/>
          <a:ea typeface="+mn-ea"/>
          <a:cs typeface="+mn-cs"/>
        </a:defRPr>
      </a:lvl7pPr>
      <a:lvl8pPr marL="3939052" algn="l" defTabSz="1125444" rtl="0" eaLnBrk="1" latinLnBrk="1" hangingPunct="1">
        <a:defRPr sz="2215" kern="1200">
          <a:solidFill>
            <a:schemeClr val="tx1"/>
          </a:solidFill>
          <a:latin typeface="+mn-lt"/>
          <a:ea typeface="+mn-ea"/>
          <a:cs typeface="+mn-cs"/>
        </a:defRPr>
      </a:lvl8pPr>
      <a:lvl9pPr marL="4501774" algn="l" defTabSz="1125444" rtl="0" eaLnBrk="1" latinLnBrk="1" hangingPunct="1">
        <a:defRPr sz="2215" kern="1200">
          <a:solidFill>
            <a:schemeClr val="tx1"/>
          </a:solidFill>
          <a:latin typeface="+mn-lt"/>
          <a:ea typeface="+mn-ea"/>
          <a:cs typeface="+mn-cs"/>
        </a:defRPr>
      </a:lvl9pPr>
    </p:otherStyle>
  </p:txStyles>
</p:sldMaster>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 Id="rId3" Type="http://schemas.openxmlformats.org/officeDocument/2006/relationships/chart" Target="../charts/char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1.xml"/></Relationships>
</file>

<file path=ppt/slides/_rels/slide9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2.xml"/></Relationships>
</file>

<file path=ppt/slides/_rels/slide9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3.xml"/></Relationships>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Table of Content</a:t>
            </a:r>
          </a:p>
        </p:txBody>
      </p:sp>
      <p:graphicFrame>
        <p:nvGraphicFramePr>
          <p:cNvPr id="3" name="Table 2"/>
          <p:cNvGraphicFramePr>
            <a:graphicFrameLocks noGrp="1"/>
          </p:cNvGraphicFramePr>
          <p:nvPr/>
        </p:nvGraphicFramePr>
        <p:xfrm>
          <a:off x="457200" y="914400"/>
          <a:ext cx="11247120" cy="4818888"/>
        </p:xfrm>
        <a:graphic>
          <a:graphicData uri="http://schemas.openxmlformats.org/drawingml/2006/table">
            <a:tbl>
              <a:tblPr firstRow="0" bandRow="0">
                <a:tableStyleId>{5940675A-B579-460E-94D1-54222C63F5DA}</a:tableStyleId>
              </a:tblPr>
              <a:tblGrid>
                <a:gridCol w="9418320"/>
                <a:gridCol w="1828800"/>
              </a:tblGrid>
              <a:tr h="292608">
                <a:tc>
                  <a:txBody>
                    <a:bodyPr wrap="square"/>
                    <a:lstStyle/>
                    <a:p>
                      <a:pPr latinLnBrk="0"/>
                      <a:r>
                        <a:rPr lang="en-US" sz="1400" b="1" i="0">
                          <a:solidFill>
                            <a:srgbClr val="000000"/>
                          </a:solidFill>
                          <a:latin typeface="Cambria"/>
                        </a:rPr>
                        <a:t>Title</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400" b="1" i="0">
                          <a:solidFill>
                            <a:srgbClr val="000000"/>
                          </a:solidFill>
                          <a:latin typeface="Cambria"/>
                        </a:rPr>
                        <a:t>Slide No.</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411480">
                <a:tc>
                  <a:txBody>
                    <a:bodyPr wrap="square"/>
                    <a:lstStyle/>
                    <a:p>
                      <a:pPr latinLnBrk="0"/>
                      <a:r>
                        <a:rPr lang="en-US" sz="1400" b="0" i="0">
                          <a:solidFill>
                            <a:srgbClr val="000000"/>
                          </a:solidFill>
                          <a:latin typeface="Cambria"/>
                        </a:rPr>
                        <a:t>Recommendation Summary</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400" b="0" i="0">
                          <a:solidFill>
                            <a:srgbClr val="000000"/>
                          </a:solidFill>
                          <a:latin typeface="Cambria"/>
                        </a:rPr>
                        <a:t>Slide 4</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411480">
                <a:tc>
                  <a:txBody>
                    <a:bodyPr wrap="square"/>
                    <a:lstStyle/>
                    <a:p>
                      <a:pPr latinLnBrk="0"/>
                      <a:r>
                        <a:rPr lang="en-US" sz="1400" b="0" i="0">
                          <a:solidFill>
                            <a:srgbClr val="000000"/>
                          </a:solidFill>
                          <a:latin typeface="Cambria"/>
                        </a:rPr>
                        <a:t>Opportunity Review (significance, current solutions, proposed engine, why it works)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400" b="0" i="0">
                          <a:solidFill>
                            <a:srgbClr val="000000"/>
                          </a:solidFill>
                          <a:latin typeface="Cambria"/>
                        </a:rPr>
                        <a:t>Slide 5</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411480">
                <a:tc>
                  <a:txBody>
                    <a:bodyPr wrap="square"/>
                    <a:lstStyle/>
                    <a:p>
                      <a:pPr latinLnBrk="0"/>
                      <a:r>
                        <a:rPr lang="en-US" sz="1400" b="0" i="0">
                          <a:solidFill>
                            <a:srgbClr val="000000"/>
                          </a:solidFill>
                          <a:latin typeface="Cambria"/>
                        </a:rPr>
                        <a:t>Independent and Dependent Claims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400" b="0" i="0">
                          <a:solidFill>
                            <a:srgbClr val="000000"/>
                          </a:solidFill>
                          <a:latin typeface="Cambria"/>
                        </a:rPr>
                        <a:t>Slide 10</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411480">
                <a:tc>
                  <a:txBody>
                    <a:bodyPr wrap="square"/>
                    <a:lstStyle/>
                    <a:p>
                      <a:pPr latinLnBrk="0"/>
                      <a:r>
                        <a:rPr lang="en-US" sz="1400" b="0" i="0">
                          <a:solidFill>
                            <a:srgbClr val="000000"/>
                          </a:solidFill>
                          <a:latin typeface="Cambria"/>
                        </a:rPr>
                        <a:t>Main Patentable Points (ranked by evidence)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400" b="0" i="0">
                          <a:solidFill>
                            <a:srgbClr val="000000"/>
                          </a:solidFill>
                          <a:latin typeface="Cambria"/>
                        </a:rPr>
                        <a:t>Slide 12</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411480">
                <a:tc>
                  <a:txBody>
                    <a:bodyPr wrap="square"/>
                    <a:lstStyle/>
                    <a:p>
                      <a:pPr latinLnBrk="0"/>
                      <a:r>
                        <a:rPr lang="en-US" sz="1400" b="0" i="0">
                          <a:solidFill>
                            <a:srgbClr val="000000"/>
                          </a:solidFill>
                          <a:latin typeface="Cambria"/>
                        </a:rPr>
                        <a:t>Novelty Map</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400" b="0" i="0">
                          <a:solidFill>
                            <a:srgbClr val="000000"/>
                          </a:solidFill>
                          <a:latin typeface="Cambria"/>
                        </a:rPr>
                        <a:t>Slide 13</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411480">
                <a:tc>
                  <a:txBody>
                    <a:bodyPr wrap="square"/>
                    <a:lstStyle/>
                    <a:p>
                      <a:pPr latinLnBrk="0"/>
                      <a:r>
                        <a:rPr lang="en-US" sz="1400" b="0" i="0">
                          <a:solidFill>
                            <a:srgbClr val="000000"/>
                          </a:solidFill>
                          <a:latin typeface="Cambria"/>
                        </a:rPr>
                        <a:t>Prior Art Comparison and Difference from Closest Prior Art</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400" b="0" i="0">
                          <a:solidFill>
                            <a:srgbClr val="000000"/>
                          </a:solidFill>
                          <a:latin typeface="Cambria"/>
                        </a:rPr>
                        <a:t>Slide 14</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411480">
                <a:tc>
                  <a:txBody>
                    <a:bodyPr wrap="square"/>
                    <a:lstStyle/>
                    <a:p>
                      <a:pPr latinLnBrk="0"/>
                      <a:r>
                        <a:rPr lang="en-US" sz="1400" b="0" i="0">
                          <a:solidFill>
                            <a:srgbClr val="000000"/>
                          </a:solidFill>
                          <a:latin typeface="Cambria"/>
                        </a:rPr>
                        <a:t>System Architecture &amp; Module Description</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400" b="0" i="0">
                          <a:solidFill>
                            <a:srgbClr val="000000"/>
                          </a:solidFill>
                          <a:latin typeface="Cambria"/>
                        </a:rPr>
                        <a:t>Slide 16</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411480">
                <a:tc>
                  <a:txBody>
                    <a:bodyPr wrap="square"/>
                    <a:lstStyle/>
                    <a:p>
                      <a:pPr latinLnBrk="0"/>
                      <a:r>
                        <a:rPr lang="en-US" sz="1400" b="0" i="0">
                          <a:solidFill>
                            <a:srgbClr val="000000"/>
                          </a:solidFill>
                          <a:latin typeface="Cambria"/>
                        </a:rPr>
                        <a:t>Evaluation Protocol</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400" b="0" i="0">
                          <a:solidFill>
                            <a:srgbClr val="000000"/>
                          </a:solidFill>
                          <a:latin typeface="Cambria"/>
                        </a:rPr>
                        <a:t>Slide 21</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411480">
                <a:tc>
                  <a:txBody>
                    <a:bodyPr wrap="square"/>
                    <a:lstStyle/>
                    <a:p>
                      <a:pPr latinLnBrk="0"/>
                      <a:r>
                        <a:rPr lang="en-US" sz="1400" b="0" i="0">
                          <a:solidFill>
                            <a:srgbClr val="000000"/>
                          </a:solidFill>
                          <a:latin typeface="Cambria"/>
                        </a:rPr>
                        <a:t>Technical Effect (evidence)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400" b="0" i="0">
                          <a:solidFill>
                            <a:srgbClr val="000000"/>
                          </a:solidFill>
                          <a:latin typeface="Cambria"/>
                        </a:rPr>
                        <a:t>Slide 22</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411480">
                <a:tc>
                  <a:txBody>
                    <a:bodyPr wrap="square"/>
                    <a:lstStyle/>
                    <a:p>
                      <a:pPr latinLnBrk="0"/>
                      <a:r>
                        <a:rPr lang="en-US" sz="1400" b="0" i="0">
                          <a:solidFill>
                            <a:srgbClr val="000000"/>
                          </a:solidFill>
                          <a:latin typeface="Cambria"/>
                        </a:rPr>
                        <a:t>Sample Results and Results Summary</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400" b="0" i="0">
                          <a:solidFill>
                            <a:srgbClr val="000000"/>
                          </a:solidFill>
                          <a:latin typeface="Cambria"/>
                        </a:rPr>
                        <a:t>Slide 24</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411480">
                <a:tc>
                  <a:txBody>
                    <a:bodyPr wrap="square"/>
                    <a:lstStyle/>
                    <a:p>
                      <a:pPr latinLnBrk="0"/>
                      <a:r>
                        <a:rPr lang="en-US" sz="1400" b="0" i="0">
                          <a:solidFill>
                            <a:srgbClr val="000000"/>
                          </a:solidFill>
                          <a:latin typeface="Cambria"/>
                        </a:rPr>
                        <a:t>Limitations and Next Experiments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400" b="0" i="0">
                          <a:solidFill>
                            <a:srgbClr val="000000"/>
                          </a:solidFill>
                          <a:latin typeface="Cambria"/>
                        </a:rPr>
                        <a:t>Slide 26</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Recommendation Summary</a:t>
            </a:r>
          </a:p>
        </p:txBody>
      </p:sp>
      <p:graphicFrame>
        <p:nvGraphicFramePr>
          <p:cNvPr id="3" name="Table 2"/>
          <p:cNvGraphicFramePr>
            <a:graphicFrameLocks noGrp="1"/>
          </p:cNvGraphicFramePr>
          <p:nvPr/>
        </p:nvGraphicFramePr>
        <p:xfrm>
          <a:off x="274320" y="822960"/>
          <a:ext cx="11612880" cy="5897880"/>
        </p:xfrm>
        <a:graphic>
          <a:graphicData uri="http://schemas.openxmlformats.org/drawingml/2006/table">
            <a:tbl>
              <a:tblPr firstRow="0" bandRow="0">
                <a:tableStyleId>{5940675A-B579-460E-94D1-54222C63F5DA}</a:tableStyleId>
              </a:tblPr>
              <a:tblGrid>
                <a:gridCol w="3108960"/>
                <a:gridCol w="3931920"/>
                <a:gridCol w="4572000"/>
              </a:tblGrid>
              <a:tr h="274320">
                <a:tc>
                  <a:txBody>
                    <a:bodyPr wrap="square"/>
                    <a:lstStyle/>
                    <a:p>
                      <a:pPr latinLnBrk="0" algn="ctr"/>
                      <a:r>
                        <a:rPr lang="en-US" sz="1400" b="1" i="0">
                          <a:solidFill>
                            <a:srgbClr val="000000"/>
                          </a:solidFill>
                          <a:latin typeface="Cambria"/>
                        </a:rPr>
                        <a:t>Summary of the Invention</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lgn="ctr"/>
                      <a:r>
                        <a:rPr lang="en-US" sz="1400" b="1" i="0">
                          <a:solidFill>
                            <a:srgbClr val="000000"/>
                          </a:solidFill>
                          <a:latin typeface="Cambria"/>
                        </a:rPr>
                        <a:t>Representative Drawing</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lgn="ctr"/>
                      <a:r>
                        <a:rPr lang="en-US" sz="1400" b="1" i="0">
                          <a:solidFill>
                            <a:srgbClr val="000000"/>
                          </a:solidFill>
                          <a:latin typeface="Cambria"/>
                        </a:rPr>
                        <a:t>Evaluation Opinion</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623560">
                <a:tc>
                  <a:txBody>
                    <a:bodyPr wrap="square"/>
                    <a:lstStyle/>
                    <a:p>
                      <a:pPr latinLnBrk="0"/>
                      <a:r>
                        <a:rPr lang="en-US" sz="1400" b="0" i="0">
                          <a:solidFill>
                            <a:srgbClr val="000000"/>
                          </a:solidFill>
                          <a:latin typeface="Cambria"/>
                        </a:rPr>
                        <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400" b="0" i="0">
                          <a:solidFill>
                            <a:srgbClr val="000000"/>
                          </a:solidFill>
                          <a:latin typeface="Cambria"/>
                        </a:rPr>
                        <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400" b="0" i="0">
                          <a:solidFill>
                            <a:srgbClr val="000000"/>
                          </a:solidFill>
                          <a:latin typeface="Cambria"/>
                        </a:rPr>
                        <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bl>
          </a:graphicData>
        </a:graphic>
      </p:graphicFrame>
      <p:sp>
        <p:nvSpPr>
          <p:cNvPr id="4" name="TextBox 3"/>
          <p:cNvSpPr txBox="1"/>
          <p:nvPr/>
        </p:nvSpPr>
        <p:spPr>
          <a:xfrm>
            <a:off x="320040" y="1325880"/>
            <a:ext cx="3017520" cy="5029200"/>
          </a:xfrm>
          <a:prstGeom prst="rect">
            <a:avLst/>
          </a:prstGeom>
          <a:noFill/>
        </p:spPr>
        <p:txBody>
          <a:bodyPr wrap="square" anchor="t" lIns="36576" rIns="36576" tIns="36576" bIns="36576">
            <a:spAutoFit/>
          </a:bodyPr>
          <a:lstStyle/>
          <a:p>
            <a:pPr algn="l" latinLnBrk="0">
              <a:spcAft>
                <a:spcPts val="600"/>
              </a:spcAft>
            </a:pPr>
            <a:r>
              <a:rPr lang="en-US" sz="1200" b="0" i="0">
                <a:solidFill>
                  <a:srgbClr val="000000"/>
                </a:solidFill>
                <a:latin typeface="Cambria"/>
              </a:rPr>
              <a:t>An audio deepfake screening system that goes beyond a binary real/fake call.</a:t>
            </a:r>
          </a:p>
          <a:p>
            <a:pPr algn="l" latinLnBrk="0">
              <a:spcAft>
                <a:spcPts val="600"/>
              </a:spcAft>
            </a:pPr>
            <a:r>
              <a:rPr lang="en-US" sz="1200" b="0" i="0">
                <a:solidFill>
                  <a:srgbClr val="000000"/>
                </a:solidFill>
                <a:latin typeface="Cambria"/>
              </a:rPr>
              <a:t>A two-channel (Mel-spectrogram + MFCC) picture of each 3-second window is read by a compact residual CNN with Squeeze-and-Excitation attention, giving one shared 128-number embedding.</a:t>
            </a:r>
          </a:p>
          <a:p>
            <a:pPr algn="l" latinLnBrk="0">
              <a:spcAft>
                <a:spcPts val="600"/>
              </a:spcAft>
            </a:pPr>
            <a:r>
              <a:rPr lang="en-US" sz="1200" b="0" i="0">
                <a:solidFill>
                  <a:srgbClr val="000000"/>
                </a:solidFill>
                <a:latin typeface="Cambria"/>
              </a:rPr>
              <a:t>From that one embedding, four heads run in parallel: </a:t>
            </a:r>
            <a:r>
              <a:rPr lang="en-US" sz="1200" b="0" i="0">
                <a:solidFill>
                  <a:srgbClr val="C00000"/>
                </a:solidFill>
                <a:latin typeface="Cambria"/>
              </a:rPr>
              <a:t>spoof score, attack-type, MC-dropout uncertainty and open-set novelty</a:t>
            </a:r>
            <a:r>
              <a:rPr lang="en-US" sz="1200" b="0" i="0">
                <a:solidFill>
                  <a:srgbClr val="000000"/>
                </a:solidFill>
                <a:latin typeface="Cambria"/>
              </a:rPr>
              <a:t>.</a:t>
            </a:r>
          </a:p>
          <a:p>
            <a:pPr algn="l" latinLnBrk="0">
              <a:spcAft>
                <a:spcPts val="600"/>
              </a:spcAft>
            </a:pPr>
            <a:r>
              <a:rPr lang="en-US" sz="1200" b="0" i="0">
                <a:solidFill>
                  <a:srgbClr val="000000"/>
                </a:solidFill>
                <a:latin typeface="Cambria"/>
              </a:rPr>
              <a:t>A </a:t>
            </a:r>
            <a:r>
              <a:rPr lang="en-US" sz="1200" b="0" i="0">
                <a:solidFill>
                  <a:srgbClr val="C00000"/>
                </a:solidFill>
                <a:latin typeface="Cambria"/>
              </a:rPr>
              <a:t>risk-aware gateway</a:t>
            </a:r>
            <a:r>
              <a:rPr lang="en-US" sz="1200" b="0" i="0">
                <a:solidFill>
                  <a:srgbClr val="000000"/>
                </a:solidFill>
                <a:latin typeface="Cambria"/>
              </a:rPr>
              <a:t> combines them to route each clip to Pass, Review, Block or Unknown-pattern review, with a plain-language rationale.</a:t>
            </a:r>
          </a:p>
        </p:txBody>
      </p:sp>
      <p:sp>
        <p:nvSpPr>
          <p:cNvPr id="5" name="Rounded Rectangle 4"/>
          <p:cNvSpPr/>
          <p:nvPr/>
        </p:nvSpPr>
        <p:spPr>
          <a:xfrm>
            <a:off x="3703320" y="1298448"/>
            <a:ext cx="3566160" cy="457200"/>
          </a:xfrm>
          <a:prstGeom prst="roundRect">
            <a:avLst>
              <a:gd name="adj" fmla="val 12000"/>
            </a:avLst>
          </a:prstGeom>
          <a:solidFill>
            <a:srgbClr val="E8EEF7"/>
          </a:solidFill>
          <a:ln w="12700">
            <a:solidFill>
              <a:srgbClr val="2F52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100" b="1" i="0">
                <a:solidFill>
                  <a:srgbClr val="000000"/>
                </a:solidFill>
                <a:latin typeface="Cambria"/>
              </a:rPr>
              <a:t>1  Audio input</a:t>
            </a:r>
          </a:p>
          <a:p>
            <a:pPr algn="ctr" latinLnBrk="0"/>
            <a:r>
              <a:rPr lang="en-US" sz="900" b="0" i="0">
                <a:solidFill>
                  <a:srgbClr val="595959"/>
                </a:solidFill>
                <a:latin typeface="Cambria"/>
              </a:rPr>
              <a:t>any format → 16 kHz, 3-s windows</a:t>
            </a:r>
          </a:p>
        </p:txBody>
      </p:sp>
      <p:cxnSp>
        <p:nvCxnSpPr>
          <p:cNvPr id="6" name="Connector 5"/>
          <p:cNvCxnSpPr/>
          <p:nvPr/>
        </p:nvCxnSpPr>
        <p:spPr>
          <a:xfrm>
            <a:off x="5486400" y="1755648"/>
            <a:ext cx="0" cy="128016"/>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703320" y="1883664"/>
            <a:ext cx="3566160" cy="457200"/>
          </a:xfrm>
          <a:prstGeom prst="roundRect">
            <a:avLst>
              <a:gd name="adj" fmla="val 12000"/>
            </a:avLst>
          </a:prstGeom>
          <a:solidFill>
            <a:srgbClr val="E8EEF7"/>
          </a:solidFill>
          <a:ln w="12700">
            <a:solidFill>
              <a:srgbClr val="2F52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100" b="1" i="0">
                <a:solidFill>
                  <a:srgbClr val="000000"/>
                </a:solidFill>
                <a:latin typeface="Cambria"/>
              </a:rPr>
              <a:t>2  Robustness augmentation</a:t>
            </a:r>
          </a:p>
          <a:p>
            <a:pPr algn="ctr" latinLnBrk="0"/>
            <a:r>
              <a:rPr lang="en-US" sz="900" b="0" i="0">
                <a:solidFill>
                  <a:srgbClr val="595959"/>
                </a:solidFill>
                <a:latin typeface="Cambria"/>
              </a:rPr>
              <a:t>training: MP3 · noise · reverb · 8 kHz phone</a:t>
            </a:r>
          </a:p>
        </p:txBody>
      </p:sp>
      <p:cxnSp>
        <p:nvCxnSpPr>
          <p:cNvPr id="8" name="Connector 7"/>
          <p:cNvCxnSpPr/>
          <p:nvPr/>
        </p:nvCxnSpPr>
        <p:spPr>
          <a:xfrm>
            <a:off x="5486400" y="2340864"/>
            <a:ext cx="0" cy="128016"/>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703320" y="2468880"/>
            <a:ext cx="3566160" cy="457200"/>
          </a:xfrm>
          <a:prstGeom prst="roundRect">
            <a:avLst>
              <a:gd name="adj" fmla="val 12000"/>
            </a:avLst>
          </a:prstGeom>
          <a:solidFill>
            <a:srgbClr val="E8EEF7"/>
          </a:solidFill>
          <a:ln w="12700">
            <a:solidFill>
              <a:srgbClr val="2F52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100" b="1" i="0">
                <a:solidFill>
                  <a:srgbClr val="000000"/>
                </a:solidFill>
                <a:latin typeface="Cambria"/>
              </a:rPr>
              <a:t>3  Dual-channel features</a:t>
            </a:r>
          </a:p>
          <a:p>
            <a:pPr algn="ctr" latinLnBrk="0"/>
            <a:r>
              <a:rPr lang="en-US" sz="900" b="0" i="0">
                <a:solidFill>
                  <a:srgbClr val="595959"/>
                </a:solidFill>
                <a:latin typeface="Cambria"/>
              </a:rPr>
              <a:t>Mel(64) + MFCC(64) → 2×64×94</a:t>
            </a:r>
          </a:p>
        </p:txBody>
      </p:sp>
      <p:cxnSp>
        <p:nvCxnSpPr>
          <p:cNvPr id="10" name="Connector 9"/>
          <p:cNvCxnSpPr/>
          <p:nvPr/>
        </p:nvCxnSpPr>
        <p:spPr>
          <a:xfrm>
            <a:off x="5486400" y="2926080"/>
            <a:ext cx="0" cy="128016"/>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703320" y="3054096"/>
            <a:ext cx="3566160" cy="457200"/>
          </a:xfrm>
          <a:prstGeom prst="roundRect">
            <a:avLst>
              <a:gd name="adj" fmla="val 12000"/>
            </a:avLst>
          </a:prstGeom>
          <a:solidFill>
            <a:srgbClr val="E8EEF7"/>
          </a:solidFill>
          <a:ln w="12700">
            <a:solidFill>
              <a:srgbClr val="2F52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100" b="1" i="0">
                <a:solidFill>
                  <a:srgbClr val="000000"/>
                </a:solidFill>
                <a:latin typeface="Cambria"/>
              </a:rPr>
              <a:t>4  Residual CNN + SE attention</a:t>
            </a:r>
          </a:p>
          <a:p>
            <a:pPr algn="ctr" latinLnBrk="0"/>
            <a:r>
              <a:rPr lang="en-US" sz="900" b="0" i="0">
                <a:solidFill>
                  <a:srgbClr val="595959"/>
                </a:solidFill>
                <a:latin typeface="Cambria"/>
              </a:rPr>
              <a:t>3 residual blocks · 341K parameters</a:t>
            </a:r>
          </a:p>
        </p:txBody>
      </p:sp>
      <p:cxnSp>
        <p:nvCxnSpPr>
          <p:cNvPr id="12" name="Connector 11"/>
          <p:cNvCxnSpPr/>
          <p:nvPr/>
        </p:nvCxnSpPr>
        <p:spPr>
          <a:xfrm>
            <a:off x="5486400" y="3511296"/>
            <a:ext cx="0" cy="128016"/>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703320" y="3639312"/>
            <a:ext cx="3566160" cy="457200"/>
          </a:xfrm>
          <a:prstGeom prst="roundRect">
            <a:avLst>
              <a:gd name="adj" fmla="val 12000"/>
            </a:avLst>
          </a:prstGeom>
          <a:solidFill>
            <a:srgbClr val="E8EEF7"/>
          </a:solidFill>
          <a:ln w="12700">
            <a:solidFill>
              <a:srgbClr val="2F52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100" b="1" i="0">
                <a:solidFill>
                  <a:srgbClr val="000000"/>
                </a:solidFill>
                <a:latin typeface="Cambria"/>
              </a:rPr>
              <a:t>5  Shared 128-d embedding</a:t>
            </a:r>
          </a:p>
          <a:p>
            <a:pPr algn="ctr" latinLnBrk="0"/>
            <a:r>
              <a:rPr lang="en-US" sz="900" b="0" i="0">
                <a:solidFill>
                  <a:srgbClr val="595959"/>
                </a:solidFill>
                <a:latin typeface="Cambria"/>
              </a:rPr>
              <a:t>one representation feeds all heads</a:t>
            </a:r>
          </a:p>
        </p:txBody>
      </p:sp>
      <p:cxnSp>
        <p:nvCxnSpPr>
          <p:cNvPr id="14" name="Connector 13"/>
          <p:cNvCxnSpPr/>
          <p:nvPr/>
        </p:nvCxnSpPr>
        <p:spPr>
          <a:xfrm>
            <a:off x="5486400" y="4096512"/>
            <a:ext cx="0" cy="128016"/>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703320" y="4224528"/>
            <a:ext cx="3566160" cy="457200"/>
          </a:xfrm>
          <a:prstGeom prst="roundRect">
            <a:avLst>
              <a:gd name="adj" fmla="val 12000"/>
            </a:avLst>
          </a:prstGeom>
          <a:solidFill>
            <a:srgbClr val="FDECEC"/>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100" b="1" i="0">
                <a:solidFill>
                  <a:srgbClr val="C00000"/>
                </a:solidFill>
                <a:latin typeface="Cambria"/>
              </a:rPr>
              <a:t>6  Four parallel heads</a:t>
            </a:r>
          </a:p>
          <a:p>
            <a:pPr algn="ctr" latinLnBrk="0"/>
            <a:r>
              <a:rPr lang="en-US" sz="900" b="0" i="0">
                <a:solidFill>
                  <a:srgbClr val="595959"/>
                </a:solidFill>
                <a:latin typeface="Cambria"/>
              </a:rPr>
              <a:t>spoof · attack-type · uncertainty · novelty</a:t>
            </a:r>
          </a:p>
        </p:txBody>
      </p:sp>
      <p:cxnSp>
        <p:nvCxnSpPr>
          <p:cNvPr id="16" name="Connector 15"/>
          <p:cNvCxnSpPr/>
          <p:nvPr/>
        </p:nvCxnSpPr>
        <p:spPr>
          <a:xfrm>
            <a:off x="5486400" y="4681728"/>
            <a:ext cx="0" cy="128016"/>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703320" y="4809744"/>
            <a:ext cx="3566160" cy="457200"/>
          </a:xfrm>
          <a:prstGeom prst="roundRect">
            <a:avLst>
              <a:gd name="adj" fmla="val 12000"/>
            </a:avLst>
          </a:prstGeom>
          <a:solidFill>
            <a:srgbClr val="FDECEC"/>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100" b="1" i="0">
                <a:solidFill>
                  <a:srgbClr val="C00000"/>
                </a:solidFill>
                <a:latin typeface="Cambria"/>
              </a:rPr>
              <a:t>7  Risk-aware gateway</a:t>
            </a:r>
          </a:p>
          <a:p>
            <a:pPr algn="ctr" latinLnBrk="0"/>
            <a:r>
              <a:rPr lang="en-US" sz="900" b="0" i="0">
                <a:solidFill>
                  <a:srgbClr val="595959"/>
                </a:solidFill>
                <a:latin typeface="Cambria"/>
              </a:rPr>
              <a:t>Pass / Review / Block / Unknown</a:t>
            </a:r>
          </a:p>
        </p:txBody>
      </p:sp>
      <p:cxnSp>
        <p:nvCxnSpPr>
          <p:cNvPr id="18" name="Connector 17"/>
          <p:cNvCxnSpPr/>
          <p:nvPr/>
        </p:nvCxnSpPr>
        <p:spPr>
          <a:xfrm>
            <a:off x="5486400" y="5266944"/>
            <a:ext cx="0" cy="128015"/>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703320" y="5394960"/>
            <a:ext cx="3566160" cy="457200"/>
          </a:xfrm>
          <a:prstGeom prst="roundRect">
            <a:avLst>
              <a:gd name="adj" fmla="val 12000"/>
            </a:avLst>
          </a:prstGeom>
          <a:solidFill>
            <a:srgbClr val="FDECEC"/>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100" b="1" i="0">
                <a:solidFill>
                  <a:srgbClr val="C00000"/>
                </a:solidFill>
                <a:latin typeface="Cambria"/>
              </a:rPr>
              <a:t>8  Explanation layer</a:t>
            </a:r>
          </a:p>
          <a:p>
            <a:pPr algn="ctr" latinLnBrk="0"/>
            <a:r>
              <a:rPr lang="en-US" sz="900" b="0" i="0">
                <a:solidFill>
                  <a:srgbClr val="595959"/>
                </a:solidFill>
                <a:latin typeface="Cambria"/>
              </a:rPr>
              <a:t>deterministic rationale (+ per-channel CAM*)</a:t>
            </a:r>
          </a:p>
        </p:txBody>
      </p:sp>
      <p:cxnSp>
        <p:nvCxnSpPr>
          <p:cNvPr id="20" name="Connector 19"/>
          <p:cNvCxnSpPr/>
          <p:nvPr/>
        </p:nvCxnSpPr>
        <p:spPr>
          <a:xfrm>
            <a:off x="5486400" y="5852160"/>
            <a:ext cx="0" cy="128016"/>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3703320" y="5980176"/>
            <a:ext cx="3566160" cy="457200"/>
          </a:xfrm>
          <a:prstGeom prst="roundRect">
            <a:avLst>
              <a:gd name="adj" fmla="val 12000"/>
            </a:avLst>
          </a:prstGeom>
          <a:solidFill>
            <a:srgbClr val="FFFFFF"/>
          </a:solidFill>
          <a:ln w="12700">
            <a:solidFill>
              <a:srgbClr val="59595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100" b="1" i="0">
                <a:solidFill>
                  <a:srgbClr val="595959"/>
                </a:solidFill>
                <a:latin typeface="Cambria"/>
              </a:rPr>
              <a:t>9  Continual-learning loop</a:t>
            </a:r>
          </a:p>
          <a:p>
            <a:pPr algn="ctr" latinLnBrk="0"/>
            <a:r>
              <a:rPr lang="en-US" sz="900" b="0" i="0">
                <a:solidFill>
                  <a:srgbClr val="595959"/>
                </a:solidFill>
                <a:latin typeface="Cambria"/>
              </a:rPr>
              <a:t>proposed, not yet built</a:t>
            </a:r>
          </a:p>
        </p:txBody>
      </p:sp>
      <p:sp>
        <p:nvSpPr>
          <p:cNvPr id="22" name="TextBox 21"/>
          <p:cNvSpPr txBox="1"/>
          <p:nvPr/>
        </p:nvSpPr>
        <p:spPr>
          <a:xfrm>
            <a:off x="320040" y="5715000"/>
            <a:ext cx="3017520" cy="685800"/>
          </a:xfrm>
          <a:prstGeom prst="rect">
            <a:avLst/>
          </a:prstGeom>
          <a:noFill/>
        </p:spPr>
        <p:txBody>
          <a:bodyPr wrap="square" anchor="t" lIns="36576" rIns="36576" tIns="36576" bIns="36576">
            <a:spAutoFit/>
          </a:bodyPr>
          <a:lstStyle/>
          <a:p>
            <a:pPr algn="l" latinLnBrk="0">
              <a:spcAft>
                <a:spcPts val="400"/>
              </a:spcAft>
            </a:pPr>
            <a:r>
              <a:rPr lang="en-US" sz="1000" b="0" i="0">
                <a:solidFill>
                  <a:srgbClr val="595959"/>
                </a:solidFill>
                <a:latin typeface="Cambria"/>
              </a:rPr>
              <a:t>Drawing: red = novel blocks · dashed = proposed · *code exists, not evaluated</a:t>
            </a:r>
          </a:p>
        </p:txBody>
      </p:sp>
      <p:sp>
        <p:nvSpPr>
          <p:cNvPr id="23" name="TextBox 22"/>
          <p:cNvSpPr txBox="1"/>
          <p:nvPr/>
        </p:nvSpPr>
        <p:spPr>
          <a:xfrm>
            <a:off x="7635240" y="1325880"/>
            <a:ext cx="4160520" cy="5120640"/>
          </a:xfrm>
          <a:prstGeom prst="rect">
            <a:avLst/>
          </a:prstGeom>
          <a:noFill/>
        </p:spPr>
        <p:txBody>
          <a:bodyPr wrap="square" anchor="t" lIns="36576" rIns="36576" tIns="36576" bIns="36576">
            <a:spAutoFit/>
          </a:bodyPr>
          <a:lstStyle/>
          <a:p>
            <a:pPr algn="l" latinLnBrk="0">
              <a:spcAft>
                <a:spcPts val="300"/>
              </a:spcAft>
            </a:pPr>
            <a:r>
              <a:rPr lang="en-US" sz="1300" b="1" i="0">
                <a:solidFill>
                  <a:srgbClr val="000000"/>
                </a:solidFill>
                <a:latin typeface="Cambria"/>
              </a:rPr>
              <a:t>Prior-art opinion</a:t>
            </a:r>
          </a:p>
          <a:p>
            <a:pPr algn="l" latinLnBrk="0">
              <a:spcAft>
                <a:spcPts val="300"/>
              </a:spcAft>
            </a:pPr>
            <a:r>
              <a:rPr lang="en-US" sz="1200" b="0" i="0">
                <a:solidFill>
                  <a:srgbClr val="000000"/>
                </a:solidFill>
                <a:latin typeface="Cambria"/>
              </a:rPr>
              <a:t>Each component (Mel/MFCC features, ResNet + SE, MC-dropout uncertainty, Mahalanobis out-of-distribution scoring, reject-option review) is individually known.</a:t>
            </a:r>
          </a:p>
          <a:p>
            <a:pPr algn="l" latinLnBrk="0">
              <a:spcAft>
                <a:spcPts val="300"/>
              </a:spcAft>
            </a:pPr>
            <a:r>
              <a:rPr lang="en-US" sz="1300" b="1" i="0">
                <a:solidFill>
                  <a:srgbClr val="000000"/>
                </a:solidFill>
                <a:latin typeface="Cambria"/>
              </a:rPr>
              <a:t>What is new</a:t>
            </a:r>
          </a:p>
          <a:p>
            <a:pPr algn="l" latinLnBrk="0">
              <a:spcAft>
                <a:spcPts val="300"/>
              </a:spcAft>
            </a:pPr>
            <a:r>
              <a:rPr lang="en-US" sz="1200" b="0" i="0">
                <a:solidFill>
                  <a:srgbClr val="000000"/>
                </a:solidFill>
                <a:latin typeface="Cambria"/>
              </a:rPr>
              <a:t>The </a:t>
            </a:r>
            <a:r>
              <a:rPr lang="en-US" sz="1200" b="0" i="0">
                <a:solidFill>
                  <a:srgbClr val="C00000"/>
                </a:solidFill>
                <a:latin typeface="Cambria"/>
              </a:rPr>
              <a:t>combination</a:t>
            </a:r>
            <a:r>
              <a:rPr lang="en-US" sz="1200" b="0" i="0">
                <a:solidFill>
                  <a:srgbClr val="000000"/>
                </a:solidFill>
                <a:latin typeface="Cambria"/>
              </a:rPr>
              <a:t>: four heads computed from one shared embedding and </a:t>
            </a:r>
            <a:r>
              <a:rPr lang="en-US" sz="1200" b="0" i="0">
                <a:solidFill>
                  <a:srgbClr val="C00000"/>
                </a:solidFill>
                <a:latin typeface="Cambria"/>
              </a:rPr>
              <a:t>routed jointly</a:t>
            </a:r>
            <a:r>
              <a:rPr lang="en-US" sz="1200" b="0" i="0">
                <a:solidFill>
                  <a:srgbClr val="000000"/>
                </a:solidFill>
                <a:latin typeface="Cambria"/>
              </a:rPr>
              <a:t> by a gateway calibrated to a human-review budget.</a:t>
            </a:r>
          </a:p>
          <a:p>
            <a:pPr algn="l" latinLnBrk="0">
              <a:spcAft>
                <a:spcPts val="300"/>
              </a:spcAft>
            </a:pPr>
            <a:r>
              <a:rPr lang="en-US" sz="1300" b="1" i="0">
                <a:solidFill>
                  <a:srgbClr val="000000"/>
                </a:solidFill>
                <a:latin typeface="Cambria"/>
              </a:rPr>
              <a:t>Evidence so far (verified)</a:t>
            </a:r>
          </a:p>
          <a:p>
            <a:pPr algn="l" latinLnBrk="0">
              <a:spcAft>
                <a:spcPts val="300"/>
              </a:spcAft>
            </a:pPr>
            <a:r>
              <a:rPr lang="en-US" sz="1200" b="0" i="0">
                <a:solidFill>
                  <a:srgbClr val="000000"/>
                </a:solidFill>
                <a:latin typeface="Cambria"/>
              </a:rPr>
              <a:t>A review lane at ~15% genuine workload halves both error types on never-seen generators. The heads' </a:t>
            </a:r>
            <a:r>
              <a:rPr lang="en-US" sz="1200" b="1" i="0">
                <a:solidFill>
                  <a:srgbClr val="000000"/>
                </a:solidFill>
                <a:latin typeface="Cambria"/>
              </a:rPr>
              <a:t>extra</a:t>
            </a:r>
            <a:r>
              <a:rPr lang="en-US" sz="1200" b="0" i="0">
                <a:solidFill>
                  <a:srgbClr val="000000"/>
                </a:solidFill>
                <a:latin typeface="Cambria"/>
              </a:rPr>
              <a:t> value over a score-only review rule is small but consistent (9 of 9 unseen families).</a:t>
            </a:r>
          </a:p>
          <a:p>
            <a:pPr algn="l" latinLnBrk="0">
              <a:spcAft>
                <a:spcPts val="300"/>
              </a:spcAft>
            </a:pPr>
            <a:r>
              <a:rPr lang="en-US" sz="1300" b="1" i="0">
                <a:solidFill>
                  <a:srgbClr val="000000"/>
                </a:solidFill>
                <a:latin typeface="Cambria"/>
              </a:rPr>
              <a:t>Assessment</a:t>
            </a:r>
          </a:p>
          <a:p>
            <a:pPr algn="l" latinLnBrk="0">
              <a:spcAft>
                <a:spcPts val="300"/>
              </a:spcAft>
            </a:pPr>
            <a:r>
              <a:rPr lang="en-US" sz="1200" b="0" i="0">
                <a:solidFill>
                  <a:srgbClr val="000000"/>
                </a:solidFill>
                <a:latin typeface="Cambria"/>
              </a:rPr>
              <a:t>Inventors proposed Class A1. </a:t>
            </a:r>
            <a:r>
              <a:rPr lang="en-US" sz="1200" b="0" i="0">
                <a:solidFill>
                  <a:srgbClr val="C00000"/>
                </a:solidFill>
                <a:latin typeface="Cambria"/>
              </a:rPr>
              <a:t>Current evidence supports a narrower combination claim; the inventive step is at risk</a:t>
            </a:r>
            <a:r>
              <a:rPr lang="en-US" sz="1200" b="0" i="0">
                <a:solidFill>
                  <a:srgbClr val="000000"/>
                </a:solidFill>
                <a:latin typeface="Cambria"/>
              </a:rPr>
              <a:t> until the heads' contribution is shown more strongly (slides 22–23, 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Opportunity Review: Significance</a:t>
            </a:r>
          </a:p>
        </p:txBody>
      </p:sp>
      <p:sp>
        <p:nvSpPr>
          <p:cNvPr id="3" name="TextBox 2"/>
          <p:cNvSpPr txBox="1"/>
          <p:nvPr/>
        </p:nvSpPr>
        <p:spPr>
          <a:xfrm>
            <a:off x="320040" y="868680"/>
            <a:ext cx="6766560" cy="5760720"/>
          </a:xfrm>
          <a:prstGeom prst="rect">
            <a:avLst/>
          </a:prstGeom>
          <a:noFill/>
        </p:spPr>
        <p:txBody>
          <a:bodyPr wrap="square" anchor="t" lIns="36576" rIns="36576" tIns="36576" bIns="36576">
            <a:spAutoFit/>
          </a:bodyPr>
          <a:lstStyle/>
          <a:p>
            <a:pPr algn="l" latinLnBrk="0">
              <a:spcAft>
                <a:spcPts val="500"/>
              </a:spcAft>
            </a:pPr>
            <a:r>
              <a:rPr lang="en-US" sz="1500" b="1" i="0">
                <a:solidFill>
                  <a:srgbClr val="000000"/>
                </a:solidFill>
                <a:latin typeface="Cambria"/>
              </a:rPr>
              <a:t>What is the idea?</a:t>
            </a:r>
          </a:p>
          <a:p>
            <a:pPr algn="l" latinLnBrk="0">
              <a:spcAft>
                <a:spcPts val="500"/>
              </a:spcAft>
            </a:pPr>
            <a:r>
              <a:rPr lang="en-US" sz="1400" b="0" i="0">
                <a:solidFill>
                  <a:srgbClr val="000000"/>
                </a:solidFill>
                <a:latin typeface="Cambria"/>
              </a:rPr>
              <a:t>Instead of asking only “is this audio fake?”, the system answers five questions:</a:t>
            </a:r>
          </a:p>
          <a:p>
            <a:pPr algn="l" marL="201168" indent="-182880" latinLnBrk="0">
              <a:spcAft>
                <a:spcPts val="500"/>
              </a:spcAft>
              <a:buChar char="•"/>
            </a:pPr>
            <a:r>
              <a:rPr lang="en-US" sz="1400" b="0" i="0">
                <a:solidFill>
                  <a:srgbClr val="000000"/>
                </a:solidFill>
                <a:latin typeface="Cambria"/>
              </a:rPr>
              <a:t>Is it fake?  ·  What kind of fake?  ·  How confident are we?</a:t>
            </a:r>
          </a:p>
          <a:p>
            <a:pPr algn="l" marL="201168" indent="-182880" latinLnBrk="0">
              <a:spcAft>
                <a:spcPts val="500"/>
              </a:spcAft>
              <a:buChar char="•"/>
            </a:pPr>
            <a:r>
              <a:rPr lang="en-US" sz="1400" b="0" i="0">
                <a:solidFill>
                  <a:srgbClr val="000000"/>
                </a:solidFill>
                <a:latin typeface="Cambria"/>
              </a:rPr>
              <a:t>Have we seen anything like this before?  ·  Why did we decide this?</a:t>
            </a:r>
          </a:p>
          <a:p>
            <a:pPr algn="l" latinLnBrk="0">
              <a:spcAft>
                <a:spcPts val="500"/>
              </a:spcAft>
            </a:pPr>
            <a:r>
              <a:rPr lang="en-US" sz="1500" b="1" i="0">
                <a:solidFill>
                  <a:srgbClr val="000000"/>
                </a:solidFill>
                <a:latin typeface="Cambria"/>
              </a:rPr>
              <a:t>Why is it useful?</a:t>
            </a:r>
          </a:p>
          <a:p>
            <a:pPr algn="l" latinLnBrk="0">
              <a:spcAft>
                <a:spcPts val="500"/>
              </a:spcAft>
            </a:pPr>
            <a:r>
              <a:rPr lang="en-US" sz="1400" b="0" i="0">
                <a:solidFill>
                  <a:srgbClr val="000000"/>
                </a:solidFill>
                <a:latin typeface="Cambria"/>
              </a:rPr>
              <a:t>Voice cloning improves every few months. A detector trained on today’s generators can fail on tomorrow’s, so a deployable system must recognise when it is unsure and hand the case to a person, and give a defensible reason for every block.</a:t>
            </a:r>
          </a:p>
          <a:p>
            <a:pPr algn="l" latinLnBrk="0">
              <a:spcAft>
                <a:spcPts val="500"/>
              </a:spcAft>
            </a:pPr>
            <a:r>
              <a:rPr lang="en-US" sz="1500" b="1" i="0">
                <a:solidFill>
                  <a:srgbClr val="000000"/>
                </a:solidFill>
                <a:latin typeface="Cambria"/>
              </a:rPr>
              <a:t>Significance</a:t>
            </a:r>
          </a:p>
          <a:p>
            <a:pPr algn="l" marL="201168" indent="-182880" latinLnBrk="0">
              <a:spcAft>
                <a:spcPts val="500"/>
              </a:spcAft>
              <a:buChar char="•"/>
            </a:pPr>
            <a:r>
              <a:rPr lang="en-US" sz="1400" b="0" i="0">
                <a:solidFill>
                  <a:srgbClr val="000000"/>
                </a:solidFill>
                <a:latin typeface="Cambria"/>
              </a:rPr>
              <a:t>Routes doubtful audio to human review instead of silently calling it “real”</a:t>
            </a:r>
          </a:p>
          <a:p>
            <a:pPr algn="l" marL="201168" indent="-182880" latinLnBrk="0">
              <a:spcAft>
                <a:spcPts val="500"/>
              </a:spcAft>
              <a:buChar char="•"/>
            </a:pPr>
            <a:r>
              <a:rPr lang="en-US" sz="1400" b="0" i="0">
                <a:solidFill>
                  <a:srgbClr val="000000"/>
                </a:solidFill>
                <a:latin typeface="Cambria"/>
              </a:rPr>
              <a:t>A reviewer sees the decision, scores, attack family, the most suspicious 3 s and a one-line reason</a:t>
            </a:r>
          </a:p>
          <a:p>
            <a:pPr algn="l" marL="201168" indent="-182880" latinLnBrk="0">
              <a:spcAft>
                <a:spcPts val="500"/>
              </a:spcAft>
              <a:buChar char="•"/>
            </a:pPr>
            <a:r>
              <a:rPr lang="en-US" sz="1400" b="0" i="0">
                <a:solidFill>
                  <a:srgbClr val="000000"/>
                </a:solidFill>
                <a:latin typeface="Cambria"/>
              </a:rPr>
              <a:t>Tested against MP3 compression, additive noise, reverberation and 8 kHz telephone audio</a:t>
            </a:r>
          </a:p>
          <a:p>
            <a:pPr algn="l" marL="201168" indent="-182880" latinLnBrk="0">
              <a:spcAft>
                <a:spcPts val="500"/>
              </a:spcAft>
              <a:buChar char="•"/>
            </a:pPr>
            <a:r>
              <a:rPr lang="en-US" sz="1400" b="0" i="0">
                <a:solidFill>
                  <a:srgbClr val="000000"/>
                </a:solidFill>
                <a:latin typeface="Cambria"/>
              </a:rPr>
              <a:t>Runs on a laptop CPU (~341K parameters) in well under a second per clip</a:t>
            </a:r>
          </a:p>
          <a:p>
            <a:pPr algn="l" marL="201168" indent="-182880" latinLnBrk="0">
              <a:spcAft>
                <a:spcPts val="500"/>
              </a:spcAft>
              <a:buChar char="•"/>
            </a:pPr>
            <a:r>
              <a:rPr lang="en-US" sz="1400" b="0" i="0">
                <a:solidFill>
                  <a:srgbClr val="000000"/>
                </a:solidFill>
                <a:latin typeface="Cambria"/>
              </a:rPr>
              <a:t>Pain point addressed: voice-fraud calls and contested audio evidence</a:t>
            </a:r>
          </a:p>
        </p:txBody>
      </p:sp>
      <p:pic>
        <p:nvPicPr>
          <p:cNvPr id="4" name="Picture 3" descr="result_review_uncertain_card.png"/>
          <p:cNvPicPr>
            <a:picLocks noChangeAspect="1"/>
          </p:cNvPicPr>
          <p:nvPr/>
        </p:nvPicPr>
        <p:blipFill>
          <a:blip r:embed="rId2"/>
          <a:stretch>
            <a:fillRect/>
          </a:stretch>
        </p:blipFill>
        <p:spPr>
          <a:xfrm>
            <a:off x="7315200" y="914400"/>
            <a:ext cx="4487626" cy="5257800"/>
          </a:xfrm>
          <a:prstGeom prst="rect">
            <a:avLst/>
          </a:prstGeom>
        </p:spPr>
      </p:pic>
      <p:sp>
        <p:nvSpPr>
          <p:cNvPr id="5" name="TextBox 4"/>
          <p:cNvSpPr txBox="1"/>
          <p:nvPr/>
        </p:nvSpPr>
        <p:spPr>
          <a:xfrm>
            <a:off x="7315200" y="6217920"/>
            <a:ext cx="4480560" cy="365760"/>
          </a:xfrm>
          <a:prstGeom prst="rect">
            <a:avLst/>
          </a:prstGeom>
          <a:noFill/>
        </p:spPr>
        <p:txBody>
          <a:bodyPr wrap="square" anchor="t" lIns="36576" rIns="36576" tIns="36576" bIns="36576">
            <a:spAutoFit/>
          </a:bodyPr>
          <a:lstStyle/>
          <a:p>
            <a:pPr algn="l" latinLnBrk="0">
              <a:spcAft>
                <a:spcPts val="400"/>
              </a:spcAft>
            </a:pPr>
            <a:r>
              <a:rPr lang="en-US" sz="1000" b="0" i="0">
                <a:solidFill>
                  <a:srgbClr val="595959"/>
                </a:solidFill>
                <a:latin typeface="Cambria"/>
              </a:rPr>
              <a:t>Live system: an AI-generated clip routed to human review because uncertainty is high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Opportunity Review: Current Solutions &amp; Pain Points</a:t>
            </a:r>
          </a:p>
        </p:txBody>
      </p:sp>
      <p:sp>
        <p:nvSpPr>
          <p:cNvPr id="3" name="TextBox 2"/>
          <p:cNvSpPr txBox="1"/>
          <p:nvPr/>
        </p:nvSpPr>
        <p:spPr>
          <a:xfrm>
            <a:off x="320040" y="868680"/>
            <a:ext cx="5669280" cy="5669280"/>
          </a:xfrm>
          <a:prstGeom prst="rect">
            <a:avLst/>
          </a:prstGeom>
          <a:noFill/>
        </p:spPr>
        <p:txBody>
          <a:bodyPr wrap="square" anchor="t" lIns="36576" rIns="36576" tIns="36576" bIns="36576">
            <a:spAutoFit/>
          </a:bodyPr>
          <a:lstStyle/>
          <a:p>
            <a:pPr algn="l" latinLnBrk="0">
              <a:spcAft>
                <a:spcPts val="500"/>
              </a:spcAft>
            </a:pPr>
            <a:r>
              <a:rPr lang="en-US" sz="1500" b="1" i="0">
                <a:solidFill>
                  <a:srgbClr val="000000"/>
                </a:solidFill>
                <a:latin typeface="Cambria"/>
              </a:rPr>
              <a:t>What are the current solutions?</a:t>
            </a:r>
          </a:p>
          <a:p>
            <a:pPr algn="l" marL="201168" indent="-182880" latinLnBrk="0">
              <a:spcAft>
                <a:spcPts val="500"/>
              </a:spcAft>
              <a:buChar char="•"/>
            </a:pPr>
            <a:r>
              <a:rPr lang="en-US" sz="1400" b="0" i="0">
                <a:solidFill>
                  <a:srgbClr val="000000"/>
                </a:solidFill>
                <a:latin typeface="Cambria"/>
              </a:rPr>
              <a:t>Single-channel spectrogram CNN detectors</a:t>
            </a:r>
          </a:p>
          <a:p>
            <a:pPr algn="l" marL="201168" indent="-182880" latinLnBrk="0">
              <a:spcAft>
                <a:spcPts val="500"/>
              </a:spcAft>
              <a:buChar char="•"/>
            </a:pPr>
            <a:r>
              <a:rPr lang="en-US" sz="1400" b="0" i="0">
                <a:solidFill>
                  <a:srgbClr val="000000"/>
                </a:solidFill>
                <a:latin typeface="Cambria"/>
              </a:rPr>
              <a:t>SE-ResNet / LCNN classifiers adapted from image recognition</a:t>
            </a:r>
          </a:p>
          <a:p>
            <a:pPr algn="l" marL="201168" indent="-182880" latinLnBrk="0">
              <a:spcAft>
                <a:spcPts val="500"/>
              </a:spcAft>
              <a:buChar char="•"/>
            </a:pPr>
            <a:r>
              <a:rPr lang="en-US" sz="1400" b="0" i="0">
                <a:solidFill>
                  <a:srgbClr val="000000"/>
                </a:solidFill>
                <a:latin typeface="Cambria"/>
              </a:rPr>
              <a:t>Static single-threshold binary classifiers (one probability, one cut-off)</a:t>
            </a:r>
          </a:p>
          <a:p>
            <a:pPr algn="l" marL="201168" indent="-182880" latinLnBrk="0">
              <a:spcAft>
                <a:spcPts val="500"/>
              </a:spcAft>
              <a:buChar char="•"/>
            </a:pPr>
            <a:r>
              <a:rPr lang="en-US" sz="1400" b="0" i="0">
                <a:solidFill>
                  <a:srgbClr val="000000"/>
                </a:solidFill>
                <a:latin typeface="Cambria"/>
              </a:rPr>
              <a:t>Closed-set classifiers that assume a fixed list of generators</a:t>
            </a:r>
          </a:p>
          <a:p>
            <a:pPr algn="l" marL="201168" indent="-182880" latinLnBrk="0">
              <a:spcAft>
                <a:spcPts val="500"/>
              </a:spcAft>
              <a:buChar char="•"/>
            </a:pPr>
            <a:r>
              <a:rPr lang="en-US" sz="1400" b="0" i="0">
                <a:solidFill>
                  <a:srgbClr val="000000"/>
                </a:solidFill>
                <a:latin typeface="Cambria"/>
              </a:rPr>
              <a:t>Self-supervised front-ends (wav2vec 2.0 / WavLM) with a binary head</a:t>
            </a:r>
          </a:p>
          <a:p>
            <a:pPr algn="l" marL="201168" indent="-182880" latinLnBrk="0">
              <a:spcAft>
                <a:spcPts val="500"/>
              </a:spcAft>
              <a:buChar char="•"/>
            </a:pPr>
            <a:r>
              <a:rPr lang="en-US" sz="1400" b="0" i="0">
                <a:solidFill>
                  <a:srgbClr val="000000"/>
                </a:solidFill>
                <a:latin typeface="Cambria"/>
              </a:rPr>
              <a:t>Generic Grad-CAM / SHAP saliency for explanation</a:t>
            </a:r>
          </a:p>
        </p:txBody>
      </p:sp>
      <p:sp>
        <p:nvSpPr>
          <p:cNvPr id="4" name="TextBox 3"/>
          <p:cNvSpPr txBox="1"/>
          <p:nvPr/>
        </p:nvSpPr>
        <p:spPr>
          <a:xfrm>
            <a:off x="6172200" y="868680"/>
            <a:ext cx="5715000" cy="5669280"/>
          </a:xfrm>
          <a:prstGeom prst="rect">
            <a:avLst/>
          </a:prstGeom>
          <a:noFill/>
        </p:spPr>
        <p:txBody>
          <a:bodyPr wrap="square" anchor="t" lIns="36576" rIns="36576" tIns="36576" bIns="36576">
            <a:spAutoFit/>
          </a:bodyPr>
          <a:lstStyle/>
          <a:p>
            <a:pPr algn="l" latinLnBrk="0">
              <a:spcAft>
                <a:spcPts val="500"/>
              </a:spcAft>
            </a:pPr>
            <a:r>
              <a:rPr lang="en-US" sz="1500" b="1" i="0">
                <a:solidFill>
                  <a:srgbClr val="000000"/>
                </a:solidFill>
                <a:latin typeface="Cambria"/>
              </a:rPr>
              <a:t>Pain points of current solutions</a:t>
            </a:r>
          </a:p>
          <a:p>
            <a:pPr algn="l" marL="201168" indent="-182880" latinLnBrk="0">
              <a:spcAft>
                <a:spcPts val="500"/>
              </a:spcAft>
              <a:buChar char="•"/>
            </a:pPr>
            <a:r>
              <a:rPr lang="en-US" sz="1400" b="0" i="0">
                <a:solidFill>
                  <a:srgbClr val="000000"/>
                </a:solidFill>
                <a:latin typeface="Cambria"/>
              </a:rPr>
              <a:t>Output is only real/fake: no attack family, no confidence, no reason</a:t>
            </a:r>
          </a:p>
          <a:p>
            <a:pPr algn="l" marL="201168" indent="-182880" latinLnBrk="0">
              <a:spcAft>
                <a:spcPts val="500"/>
              </a:spcAft>
              <a:buChar char="•"/>
            </a:pPr>
            <a:r>
              <a:rPr lang="en-US" sz="1400" b="0" i="0">
                <a:solidFill>
                  <a:srgbClr val="000000"/>
                </a:solidFill>
                <a:latin typeface="Cambria"/>
              </a:rPr>
              <a:t>Closed-set training: unseen generators are often silently classified as real</a:t>
            </a:r>
          </a:p>
          <a:p>
            <a:pPr algn="l" marL="201168" indent="-182880" latinLnBrk="0">
              <a:spcAft>
                <a:spcPts val="500"/>
              </a:spcAft>
              <a:buChar char="•"/>
            </a:pPr>
            <a:r>
              <a:rPr lang="en-US" sz="1400" b="0" i="0">
                <a:solidFill>
                  <a:srgbClr val="000000"/>
                </a:solidFill>
                <a:latin typeface="Cambria"/>
              </a:rPr>
              <a:t>Accuracy on random splits is inflated. DeepShield’s own earlier 97.7% fell to </a:t>
            </a:r>
            <a:r>
              <a:rPr lang="en-US" sz="1400" b="1" i="0">
                <a:solidFill>
                  <a:srgbClr val="000000"/>
                </a:solidFill>
                <a:latin typeface="Cambria"/>
              </a:rPr>
              <a:t>93.2%</a:t>
            </a:r>
            <a:r>
              <a:rPr lang="en-US" sz="1400" b="0" i="0">
                <a:solidFill>
                  <a:srgbClr val="000000"/>
                </a:solidFill>
                <a:latin typeface="Cambria"/>
              </a:rPr>
              <a:t> once recordings, sentences and speakers were kept apart (28% of random-split validation clips had a copy in training)</a:t>
            </a:r>
          </a:p>
          <a:p>
            <a:pPr algn="l" marL="201168" indent="-182880" latinLnBrk="0">
              <a:spcAft>
                <a:spcPts val="500"/>
              </a:spcAft>
              <a:buChar char="•"/>
            </a:pPr>
            <a:r>
              <a:rPr lang="en-US" sz="1400" b="0" i="0">
                <a:solidFill>
                  <a:srgbClr val="000000"/>
                </a:solidFill>
                <a:latin typeface="Cambria"/>
              </a:rPr>
              <a:t>Compression, noise, reverberation and device variation are rarely tested</a:t>
            </a:r>
          </a:p>
          <a:p>
            <a:pPr algn="l" marL="201168" indent="-182880" latinLnBrk="0">
              <a:spcAft>
                <a:spcPts val="500"/>
              </a:spcAft>
              <a:buChar char="•"/>
            </a:pPr>
            <a:r>
              <a:rPr lang="en-US" sz="1400" b="0" i="0">
                <a:solidFill>
                  <a:srgbClr val="000000"/>
                </a:solidFill>
                <a:latin typeface="Cambria"/>
              </a:rPr>
              <a:t>Generic saliency maps do not say why audio is synthetic</a:t>
            </a:r>
          </a:p>
          <a:p>
            <a:pPr algn="l" latinLnBrk="0">
              <a:spcAft>
                <a:spcPts val="500"/>
              </a:spcAft>
            </a:pPr>
            <a:r>
              <a:rPr lang="en-US" sz="1500" b="1" i="0">
                <a:solidFill>
                  <a:srgbClr val="000000"/>
                </a:solidFill>
                <a:latin typeface="Cambria"/>
              </a:rPr>
              <a:t>Key gaps</a:t>
            </a:r>
          </a:p>
          <a:p>
            <a:pPr algn="l" marL="201168" indent="-182880" latinLnBrk="0">
              <a:spcAft>
                <a:spcPts val="500"/>
              </a:spcAft>
              <a:buChar char="•"/>
            </a:pPr>
            <a:r>
              <a:rPr lang="en-US" sz="1400" b="0" i="0">
                <a:solidFill>
                  <a:srgbClr val="000000"/>
                </a:solidFill>
                <a:latin typeface="Cambria"/>
              </a:rPr>
              <a:t>No joint attribution, novelty and uncertainty routing</a:t>
            </a:r>
          </a:p>
          <a:p>
            <a:pPr algn="l" marL="201168" indent="-182880" latinLnBrk="0">
              <a:spcAft>
                <a:spcPts val="500"/>
              </a:spcAft>
              <a:buChar char="•"/>
            </a:pPr>
            <a:r>
              <a:rPr lang="en-US" sz="1400" b="0" i="0">
                <a:solidFill>
                  <a:srgbClr val="000000"/>
                </a:solidFill>
                <a:latin typeface="Cambria"/>
              </a:rPr>
              <a:t>No human-review lane with a controlled workload</a:t>
            </a:r>
          </a:p>
          <a:p>
            <a:pPr algn="l" marL="201168" indent="-182880" latinLnBrk="0">
              <a:spcAft>
                <a:spcPts val="500"/>
              </a:spcAft>
              <a:buChar char="•"/>
            </a:pPr>
            <a:r>
              <a:rPr lang="en-US" sz="1400" b="0" i="0">
                <a:solidFill>
                  <a:srgbClr val="000000"/>
                </a:solidFill>
                <a:latin typeface="Cambria"/>
              </a:rPr>
              <a:t>No defensible, per-decision explanation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Opportunity Review: Proposed Engine and Build Status</a:t>
            </a:r>
          </a:p>
        </p:txBody>
      </p:sp>
      <p:graphicFrame>
        <p:nvGraphicFramePr>
          <p:cNvPr id="3" name="Table 2"/>
          <p:cNvGraphicFramePr>
            <a:graphicFrameLocks noGrp="1"/>
          </p:cNvGraphicFramePr>
          <p:nvPr/>
        </p:nvGraphicFramePr>
        <p:xfrm>
          <a:off x="274320" y="868680"/>
          <a:ext cx="11612880" cy="4773168"/>
        </p:xfrm>
        <a:graphic>
          <a:graphicData uri="http://schemas.openxmlformats.org/drawingml/2006/table">
            <a:tbl>
              <a:tblPr firstRow="0" bandRow="0">
                <a:tableStyleId>{5940675A-B579-460E-94D1-54222C63F5DA}</a:tableStyleId>
              </a:tblPr>
              <a:tblGrid>
                <a:gridCol w="2926080"/>
                <a:gridCol w="6035040"/>
                <a:gridCol w="2651760"/>
              </a:tblGrid>
              <a:tr h="384048">
                <a:tc>
                  <a:txBody>
                    <a:bodyPr wrap="square"/>
                    <a:lstStyle/>
                    <a:p>
                      <a:pPr latinLnBrk="0"/>
                      <a:r>
                        <a:rPr lang="en-US" sz="1300" b="1" i="0">
                          <a:solidFill>
                            <a:srgbClr val="000000"/>
                          </a:solidFill>
                          <a:latin typeface="Cambria"/>
                        </a:rPr>
                        <a:t>Module</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1" i="0">
                          <a:solidFill>
                            <a:srgbClr val="000000"/>
                          </a:solidFill>
                          <a:latin typeface="Cambria"/>
                        </a:rPr>
                        <a:t>What it does</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1" i="0">
                          <a:solidFill>
                            <a:srgbClr val="000000"/>
                          </a:solidFill>
                          <a:latin typeface="Cambria"/>
                        </a:rPr>
                        <a:t>Status</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48640">
                <a:tc>
                  <a:txBody>
                    <a:bodyPr wrap="square"/>
                    <a:lstStyle/>
                    <a:p>
                      <a:pPr latinLnBrk="0"/>
                      <a:r>
                        <a:rPr lang="en-US" sz="1300" b="0" i="0">
                          <a:solidFill>
                            <a:srgbClr val="000000"/>
                          </a:solidFill>
                          <a:latin typeface="Cambria"/>
                        </a:rPr>
                        <a:t>Robustness-aware augmentation</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MP3 32–128 kbps, noise 0–20 dB SNR, synthetic reverb, 8 kHz telephone band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1" i="0">
                          <a:solidFill>
                            <a:srgbClr val="000000"/>
                          </a:solidFill>
                          <a:latin typeface="Cambria"/>
                        </a:rPr>
                        <a:t>Implemented &amp; evaluated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48640">
                <a:tc>
                  <a:txBody>
                    <a:bodyPr wrap="square"/>
                    <a:lstStyle/>
                    <a:p>
                      <a:pPr latinLnBrk="0"/>
                      <a:r>
                        <a:rPr lang="en-US" sz="1300" b="0" i="0">
                          <a:solidFill>
                            <a:srgbClr val="000000"/>
                          </a:solidFill>
                          <a:latin typeface="Cambria"/>
                        </a:rPr>
                        <a:t>Dual-channel feature grid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Mel(64) + MFCC(64) stacked → 2 × 64 × 94 per 3-s window</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1" i="0">
                          <a:solidFill>
                            <a:srgbClr val="000000"/>
                          </a:solidFill>
                          <a:latin typeface="Cambria"/>
                        </a:rPr>
                        <a:t>Implemented &amp; evaluated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48640">
                <a:tc>
                  <a:txBody>
                    <a:bodyPr wrap="square"/>
                    <a:lstStyle/>
                    <a:p>
                      <a:pPr latinLnBrk="0"/>
                      <a:r>
                        <a:rPr lang="en-US" sz="1300" b="0" i="0">
                          <a:solidFill>
                            <a:srgbClr val="000000"/>
                          </a:solidFill>
                          <a:latin typeface="Cambria"/>
                        </a:rPr>
                        <a:t>Residual CNN + SE attention</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3 residual blocks, 32→64→128 channels, SE after block 2; 341,254 parameters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1" i="0">
                          <a:solidFill>
                            <a:srgbClr val="000000"/>
                          </a:solidFill>
                          <a:latin typeface="Cambria"/>
                        </a:rPr>
                        <a:t>Implemented &amp; evaluated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48640">
                <a:tc>
                  <a:txBody>
                    <a:bodyPr wrap="square"/>
                    <a:lstStyle/>
                    <a:p>
                      <a:pPr latinLnBrk="0"/>
                      <a:r>
                        <a:rPr lang="en-US" sz="1300" b="0" i="0">
                          <a:solidFill>
                            <a:srgbClr val="000000"/>
                          </a:solidFill>
                          <a:latin typeface="Cambria"/>
                        </a:rPr>
                        <a:t>Shared 128-d embedding</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Global-pooled output read by every head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1" i="0">
                          <a:solidFill>
                            <a:srgbClr val="000000"/>
                          </a:solidFill>
                          <a:latin typeface="Cambria"/>
                        </a:rPr>
                        <a:t>Implemented &amp; evaluated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48640">
                <a:tc>
                  <a:txBody>
                    <a:bodyPr wrap="square"/>
                    <a:lstStyle/>
                    <a:p>
                      <a:pPr latinLnBrk="0"/>
                      <a:r>
                        <a:rPr lang="en-US" sz="1300" b="0" i="0">
                          <a:solidFill>
                            <a:srgbClr val="C00000"/>
                          </a:solidFill>
                          <a:latin typeface="Cambria"/>
                        </a:rPr>
                        <a:t>Four parallel heads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Spoof score · attack-type (5 classes) · MC-dropout uncertainty · Mahalanobis novelty</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1" i="0">
                          <a:solidFill>
                            <a:srgbClr val="000000"/>
                          </a:solidFill>
                          <a:latin typeface="Cambria"/>
                        </a:rPr>
                        <a:t>Implemented &amp; evaluated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48640">
                <a:tc>
                  <a:txBody>
                    <a:bodyPr wrap="square"/>
                    <a:lstStyle/>
                    <a:p>
                      <a:pPr latinLnBrk="0"/>
                      <a:r>
                        <a:rPr lang="en-US" sz="1300" b="0" i="0">
                          <a:solidFill>
                            <a:srgbClr val="C00000"/>
                          </a:solidFill>
                          <a:latin typeface="Cambria"/>
                        </a:rPr>
                        <a:t>Risk-aware gateway</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Novelty → uncertainty → probability bands; uncertainty threshold calibrated to a review budget</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1" i="0">
                          <a:solidFill>
                            <a:srgbClr val="000000"/>
                          </a:solidFill>
                          <a:latin typeface="Cambria"/>
                        </a:rPr>
                        <a:t>Implemented &amp; evaluated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48640">
                <a:tc>
                  <a:txBody>
                    <a:bodyPr wrap="square"/>
                    <a:lstStyle/>
                    <a:p>
                      <a:pPr latinLnBrk="0"/>
                      <a:r>
                        <a:rPr lang="en-US" sz="1300" b="0" i="0">
                          <a:solidFill>
                            <a:srgbClr val="C00000"/>
                          </a:solidFill>
                          <a:latin typeface="Cambria"/>
                        </a:rPr>
                        <a:t>Explanation layer</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Deterministic rationale (live). Per-channel Mel-vs-MFCC CAM disagreement map</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C00000"/>
                          </a:solidFill>
                          <a:latin typeface="Cambria"/>
                        </a:rPr>
                        <a:t>Rationale live; CAM code not evaluated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48640">
                <a:tc>
                  <a:txBody>
                    <a:bodyPr wrap="square"/>
                    <a:lstStyle/>
                    <a:p>
                      <a:pPr latinLnBrk="0"/>
                      <a:r>
                        <a:rPr lang="en-US" sz="1300" b="0" i="0">
                          <a:solidFill>
                            <a:srgbClr val="000000"/>
                          </a:solidFill>
                          <a:latin typeface="Cambria"/>
                        </a:rPr>
                        <a:t>Continual-learning loop</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Reviewer-confirmed + high-novelty samples → periodic fine-tune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C00000"/>
                          </a:solidFill>
                          <a:latin typeface="Cambria"/>
                        </a:rPr>
                        <a:t>Proposed, not built</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bl>
          </a:graphicData>
        </a:graphic>
      </p:graphicFrame>
      <p:sp>
        <p:nvSpPr>
          <p:cNvPr id="4" name="TextBox 3"/>
          <p:cNvSpPr txBox="1"/>
          <p:nvPr/>
        </p:nvSpPr>
        <p:spPr>
          <a:xfrm>
            <a:off x="320040" y="5943600"/>
            <a:ext cx="11521440" cy="731520"/>
          </a:xfrm>
          <a:prstGeom prst="rect">
            <a:avLst/>
          </a:prstGeom>
          <a:noFill/>
        </p:spPr>
        <p:txBody>
          <a:bodyPr wrap="square" anchor="t" lIns="36576" rIns="36576" tIns="36576" bIns="36576">
            <a:spAutoFit/>
          </a:bodyPr>
          <a:lstStyle/>
          <a:p>
            <a:pPr algn="l" latinLnBrk="0">
              <a:spcAft>
                <a:spcPts val="400"/>
              </a:spcAft>
            </a:pPr>
            <a:r>
              <a:rPr lang="en-US" sz="1300" b="1" i="0">
                <a:solidFill>
                  <a:srgbClr val="000000"/>
                </a:solidFill>
                <a:latin typeface="Cambria"/>
              </a:rPr>
              <a:t>Advantages: </a:t>
            </a:r>
            <a:r>
              <a:rPr lang="en-US" sz="1300" b="0" i="0">
                <a:solidFill>
                  <a:srgbClr val="000000"/>
                </a:solidFill>
                <a:latin typeface="Cambria"/>
              </a:rPr>
              <a:t>answers “what kind of fake” as well as “is it fake”; flags unfamiliar inputs; confidence from MC-dropout; review workload is a tunable parameter; every decision carries a deterministic reason.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Opportunity Review: Why the New Engine Works</a:t>
            </a:r>
          </a:p>
        </p:txBody>
      </p:sp>
      <p:sp>
        <p:nvSpPr>
          <p:cNvPr id="3" name="TextBox 2"/>
          <p:cNvSpPr txBox="1"/>
          <p:nvPr/>
        </p:nvSpPr>
        <p:spPr>
          <a:xfrm>
            <a:off x="320040" y="868680"/>
            <a:ext cx="6035040" cy="5760720"/>
          </a:xfrm>
          <a:prstGeom prst="rect">
            <a:avLst/>
          </a:prstGeom>
          <a:noFill/>
        </p:spPr>
        <p:txBody>
          <a:bodyPr wrap="square" anchor="t" lIns="36576" rIns="36576" tIns="36576" bIns="36576">
            <a:spAutoFit/>
          </a:bodyPr>
          <a:lstStyle/>
          <a:p>
            <a:pPr algn="l" latinLnBrk="0">
              <a:spcAft>
                <a:spcPts val="800"/>
              </a:spcAft>
            </a:pPr>
            <a:r>
              <a:rPr lang="en-US" sz="1300" b="1" i="0">
                <a:solidFill>
                  <a:srgbClr val="000000"/>
                </a:solidFill>
                <a:latin typeface="Cambria"/>
              </a:rPr>
              <a:t>Dual-channel fusion. </a:t>
            </a:r>
            <a:r>
              <a:rPr lang="en-US" sz="1300" b="0" i="0">
                <a:solidFill>
                  <a:srgbClr val="000000"/>
                </a:solidFill>
                <a:latin typeface="Cambria"/>
              </a:rPr>
              <a:t>The Mel channel exposes fine spectral artefacts left by vocoders; the MFCC channel summarises the vocal-tract envelope. Stacking them lets one network reason across both.</a:t>
            </a:r>
          </a:p>
          <a:p>
            <a:pPr algn="l" latinLnBrk="0">
              <a:spcAft>
                <a:spcPts val="800"/>
              </a:spcAft>
            </a:pPr>
            <a:r>
              <a:rPr lang="en-US" sz="1300" b="1" i="0">
                <a:solidFill>
                  <a:srgbClr val="000000"/>
                </a:solidFill>
                <a:latin typeface="Cambria"/>
              </a:rPr>
              <a:t>One shared embedding. </a:t>
            </a:r>
            <a:r>
              <a:rPr lang="en-US" sz="1300" b="0" i="0">
                <a:solidFill>
                  <a:srgbClr val="000000"/>
                </a:solidFill>
                <a:latin typeface="Cambria"/>
              </a:rPr>
              <a:t>All heads judge the same 128-d representation, so their outputs are consistent and inference stays cheap.</a:t>
            </a:r>
          </a:p>
          <a:p>
            <a:pPr algn="l" latinLnBrk="0">
              <a:spcAft>
                <a:spcPts val="800"/>
              </a:spcAft>
            </a:pPr>
            <a:r>
              <a:rPr lang="en-US" sz="1300" b="1" i="0">
                <a:solidFill>
                  <a:srgbClr val="000000"/>
                </a:solidFill>
                <a:latin typeface="Cambria"/>
              </a:rPr>
              <a:t>Uncertainty by repeated stochastic passes. </a:t>
            </a:r>
            <a:r>
              <a:rPr lang="en-US" sz="1300" b="0" i="0">
                <a:solidFill>
                  <a:srgbClr val="000000"/>
                </a:solidFill>
                <a:latin typeface="Cambria"/>
              </a:rPr>
              <a:t>Dropout is kept active at inference and the spoof head is queried N times; the spread of answers is the uncertainty. Wrong verdicts average 0.37 vs 0.17 for correct ones.</a:t>
            </a:r>
          </a:p>
          <a:p>
            <a:pPr algn="l" latinLnBrk="0">
              <a:spcAft>
                <a:spcPts val="800"/>
              </a:spcAft>
            </a:pPr>
            <a:r>
              <a:rPr lang="en-US" sz="1300" b="1" i="0">
                <a:solidFill>
                  <a:srgbClr val="000000"/>
                </a:solidFill>
                <a:latin typeface="Cambria"/>
              </a:rPr>
              <a:t>Genuine-only novelty boundary. </a:t>
            </a:r>
            <a:r>
              <a:rPr lang="en-US" sz="1300" b="0" i="0">
                <a:solidFill>
                  <a:srgbClr val="000000"/>
                </a:solidFill>
                <a:latin typeface="Cambria"/>
              </a:rPr>
              <a:t>A Gaussian is fitted to embeddings of authentic speech only. On seen generators novelty carries no signal (AUC 0.55), but on never-seen generators it does (AUC 0.60–0.78), which is the intended open-set effect.</a:t>
            </a:r>
          </a:p>
          <a:p>
            <a:pPr algn="l" latinLnBrk="0">
              <a:spcAft>
                <a:spcPts val="800"/>
              </a:spcAft>
            </a:pPr>
            <a:r>
              <a:rPr lang="en-US" sz="1300" b="1" i="0">
                <a:solidFill>
                  <a:srgbClr val="000000"/>
                </a:solidFill>
                <a:latin typeface="Cambria"/>
              </a:rPr>
              <a:t>Review lane with a fixed budget. </a:t>
            </a:r>
            <a:r>
              <a:rPr lang="en-US" sz="1300" b="0" i="0">
                <a:solidFill>
                  <a:srgbClr val="000000"/>
                </a:solidFill>
                <a:latin typeface="Cambria"/>
              </a:rPr>
              <a:t>Doubtful clips go to people; the threshold is set so ≤15% of genuine validation audio is reviewed.</a:t>
            </a:r>
          </a:p>
          <a:p>
            <a:pPr algn="l" latinLnBrk="0">
              <a:spcAft>
                <a:spcPts val="800"/>
              </a:spcAft>
            </a:pPr>
            <a:r>
              <a:rPr lang="en-US" sz="1300" b="0" i="0">
                <a:solidFill>
                  <a:srgbClr val="C00000"/>
                </a:solidFill>
                <a:latin typeface="Cambria"/>
              </a:rPr>
              <a:t>Removed from this version: </a:t>
            </a:r>
            <a:r>
              <a:rPr lang="en-US" sz="1300" b="0" i="0">
                <a:solidFill>
                  <a:srgbClr val="000000"/>
                </a:solidFill>
                <a:latin typeface="Cambria"/>
              </a:rPr>
              <a:t>the earlier claim about “invariant cues” (breath, jitter/shimmer, glottal periodicity) is not implemented and is moved to future work.</a:t>
            </a:r>
          </a:p>
        </p:txBody>
      </p:sp>
      <p:pic>
        <p:nvPicPr>
          <p:cNvPr id="4" name="Picture 3" descr="two_views_genuine_vs_fake.png"/>
          <p:cNvPicPr>
            <a:picLocks noChangeAspect="1"/>
          </p:cNvPicPr>
          <p:nvPr/>
        </p:nvPicPr>
        <p:blipFill>
          <a:blip r:embed="rId2"/>
          <a:stretch>
            <a:fillRect/>
          </a:stretch>
        </p:blipFill>
        <p:spPr>
          <a:xfrm>
            <a:off x="6537960" y="960120"/>
            <a:ext cx="5394960" cy="2787396"/>
          </a:xfrm>
          <a:prstGeom prst="rect">
            <a:avLst/>
          </a:prstGeom>
        </p:spPr>
      </p:pic>
      <p:sp>
        <p:nvSpPr>
          <p:cNvPr id="5" name="TextBox 4"/>
          <p:cNvSpPr txBox="1"/>
          <p:nvPr/>
        </p:nvSpPr>
        <p:spPr>
          <a:xfrm>
            <a:off x="6537960" y="3840480"/>
            <a:ext cx="5394960" cy="548640"/>
          </a:xfrm>
          <a:prstGeom prst="rect">
            <a:avLst/>
          </a:prstGeom>
          <a:noFill/>
        </p:spPr>
        <p:txBody>
          <a:bodyPr wrap="square" anchor="t" lIns="36576" rIns="36576" tIns="36576" bIns="36576">
            <a:spAutoFit/>
          </a:bodyPr>
          <a:lstStyle/>
          <a:p>
            <a:pPr algn="l" latinLnBrk="0">
              <a:spcAft>
                <a:spcPts val="400"/>
              </a:spcAft>
            </a:pPr>
            <a:r>
              <a:rPr lang="en-US" sz="1000" b="0" i="0">
                <a:solidFill>
                  <a:srgbClr val="595959"/>
                </a:solidFill>
                <a:latin typeface="Cambria"/>
              </a:rPr>
              <a:t>The two channels for a genuine clip (left) and an AI-generated clip (right). Note the unnaturally clean silences in the fake.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Recommendation</a:t>
            </a:r>
          </a:p>
        </p:txBody>
      </p:sp>
      <p:graphicFrame>
        <p:nvGraphicFramePr>
          <p:cNvPr id="3" name="Table 2"/>
          <p:cNvGraphicFramePr>
            <a:graphicFrameLocks noGrp="1"/>
          </p:cNvGraphicFramePr>
          <p:nvPr/>
        </p:nvGraphicFramePr>
        <p:xfrm>
          <a:off x="274320" y="868680"/>
          <a:ext cx="5715000" cy="2651760"/>
        </p:xfrm>
        <a:graphic>
          <a:graphicData uri="http://schemas.openxmlformats.org/drawingml/2006/table">
            <a:tbl>
              <a:tblPr firstRow="0" bandRow="0">
                <a:tableStyleId>{5940675A-B579-460E-94D1-54222C63F5DA}</a:tableStyleId>
              </a:tblPr>
              <a:tblGrid>
                <a:gridCol w="5715000"/>
              </a:tblGrid>
              <a:tr h="457200">
                <a:tc>
                  <a:txBody>
                    <a:bodyPr wrap="square"/>
                    <a:lstStyle/>
                    <a:p>
                      <a:pPr latinLnBrk="0"/>
                      <a:r>
                        <a:rPr lang="en-US" sz="1300" b="1" i="0">
                          <a:solidFill>
                            <a:srgbClr val="000000"/>
                          </a:solidFill>
                          <a:latin typeface="Cambria"/>
                        </a:rPr>
                        <a:t>1) What is the core technology in this idea?</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2194560">
                <a:tc>
                  <a:txBody>
                    <a:bodyPr wrap="square"/>
                    <a:lstStyle/>
                    <a:p>
                      <a:pPr latinLnBrk="0"/>
                      <a:r>
                        <a:rPr lang="en-US" sz="1300" b="0" i="0">
                          <a:solidFill>
                            <a:srgbClr val="000000"/>
                          </a:solidFill>
                          <a:latin typeface="Cambria"/>
                        </a:rPr>
                        <a:t>A dual-channel (Mel + MFCC) residual CNN with SE attention producing one shared embedding, read in parallel by four heads (spoof, attack-type, uncertainty, novelty), with a risk-aware gateway and explanation layer on top.</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bl>
          </a:graphicData>
        </a:graphic>
      </p:graphicFrame>
      <p:graphicFrame>
        <p:nvGraphicFramePr>
          <p:cNvPr id="4" name="Table 3"/>
          <p:cNvGraphicFramePr>
            <a:graphicFrameLocks noGrp="1"/>
          </p:cNvGraphicFramePr>
          <p:nvPr/>
        </p:nvGraphicFramePr>
        <p:xfrm>
          <a:off x="6172200" y="868680"/>
          <a:ext cx="5715000" cy="2651760"/>
        </p:xfrm>
        <a:graphic>
          <a:graphicData uri="http://schemas.openxmlformats.org/drawingml/2006/table">
            <a:tbl>
              <a:tblPr firstRow="0" bandRow="0">
                <a:tableStyleId>{5940675A-B579-460E-94D1-54222C63F5DA}</a:tableStyleId>
              </a:tblPr>
              <a:tblGrid>
                <a:gridCol w="5715000"/>
              </a:tblGrid>
              <a:tr h="457200">
                <a:tc>
                  <a:txBody>
                    <a:bodyPr wrap="square"/>
                    <a:lstStyle/>
                    <a:p>
                      <a:pPr latinLnBrk="0"/>
                      <a:r>
                        <a:rPr lang="en-US" sz="1300" b="1" i="0">
                          <a:solidFill>
                            <a:srgbClr val="000000"/>
                          </a:solidFill>
                          <a:latin typeface="Cambria"/>
                        </a:rPr>
                        <a:t>2) What complex problem is solved?</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2194560">
                <a:tc>
                  <a:txBody>
                    <a:bodyPr wrap="square"/>
                    <a:lstStyle/>
                    <a:p>
                      <a:pPr latinLnBrk="0"/>
                      <a:r>
                        <a:rPr lang="en-US" sz="1300" b="0" i="0">
                          <a:solidFill>
                            <a:srgbClr val="000000"/>
                          </a:solidFill>
                          <a:latin typeface="Cambria"/>
                        </a:rPr>
                        <a:t>Screening speech audio when new voice generators keep appearing: the system must still catch most fakes, avoid accusing genuine speakers, and say “I am not sure” in a controlled number of cases.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bl>
          </a:graphicData>
        </a:graphic>
      </p:graphicFrame>
      <p:graphicFrame>
        <p:nvGraphicFramePr>
          <p:cNvPr id="5" name="Table 4"/>
          <p:cNvGraphicFramePr>
            <a:graphicFrameLocks noGrp="1"/>
          </p:cNvGraphicFramePr>
          <p:nvPr/>
        </p:nvGraphicFramePr>
        <p:xfrm>
          <a:off x="274320" y="3749039"/>
          <a:ext cx="5715000" cy="2651760"/>
        </p:xfrm>
        <a:graphic>
          <a:graphicData uri="http://schemas.openxmlformats.org/drawingml/2006/table">
            <a:tbl>
              <a:tblPr firstRow="0" bandRow="0">
                <a:tableStyleId>{5940675A-B579-460E-94D1-54222C63F5DA}</a:tableStyleId>
              </a:tblPr>
              <a:tblGrid>
                <a:gridCol w="5715000"/>
              </a:tblGrid>
              <a:tr h="457200">
                <a:tc>
                  <a:txBody>
                    <a:bodyPr wrap="square"/>
                    <a:lstStyle/>
                    <a:p>
                      <a:pPr latinLnBrk="0"/>
                      <a:r>
                        <a:rPr lang="en-US" sz="1300" b="1" i="0">
                          <a:solidFill>
                            <a:srgbClr val="000000"/>
                          </a:solidFill>
                          <a:latin typeface="Cambria"/>
                        </a:rPr>
                        <a:t>3) Why could it be game-changing?</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2194560">
                <a:tc>
                  <a:txBody>
                    <a:bodyPr wrap="square"/>
                    <a:lstStyle/>
                    <a:p>
                      <a:pPr latinLnBrk="0"/>
                      <a:r>
                        <a:rPr lang="en-US" sz="1300" b="0" i="0">
                          <a:solidFill>
                            <a:srgbClr val="000000"/>
                          </a:solidFill>
                          <a:latin typeface="Cambria"/>
                        </a:rPr>
                        <a:t>It turns a one-number classifier into a trust workflow: detect, attribute, estimate confidence, flag the unfamiliar, explain, and route to people with a predictable workload.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bl>
          </a:graphicData>
        </a:graphic>
      </p:graphicFrame>
      <p:graphicFrame>
        <p:nvGraphicFramePr>
          <p:cNvPr id="6" name="Table 5"/>
          <p:cNvGraphicFramePr>
            <a:graphicFrameLocks noGrp="1"/>
          </p:cNvGraphicFramePr>
          <p:nvPr/>
        </p:nvGraphicFramePr>
        <p:xfrm>
          <a:off x="6172200" y="3749039"/>
          <a:ext cx="5715000" cy="2651760"/>
        </p:xfrm>
        <a:graphic>
          <a:graphicData uri="http://schemas.openxmlformats.org/drawingml/2006/table">
            <a:tbl>
              <a:tblPr firstRow="0" bandRow="0">
                <a:tableStyleId>{5940675A-B579-460E-94D1-54222C63F5DA}</a:tableStyleId>
              </a:tblPr>
              <a:tblGrid>
                <a:gridCol w="5715000"/>
              </a:tblGrid>
              <a:tr h="457200">
                <a:tc>
                  <a:txBody>
                    <a:bodyPr wrap="square"/>
                    <a:lstStyle/>
                    <a:p>
                      <a:pPr latinLnBrk="0"/>
                      <a:r>
                        <a:rPr lang="en-US" sz="1300" b="1" i="0">
                          <a:solidFill>
                            <a:srgbClr val="000000"/>
                          </a:solidFill>
                          <a:latin typeface="Cambria"/>
                        </a:rPr>
                        <a:t>4) What is the breakthrough, and how strong is the evidence?</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2194560">
                <a:tc>
                  <a:txBody>
                    <a:bodyPr wrap="square"/>
                    <a:lstStyle/>
                    <a:p>
                      <a:pPr latinLnBrk="0"/>
                      <a:r>
                        <a:rPr lang="en-US" sz="1300" b="0" i="0">
                          <a:solidFill>
                            <a:srgbClr val="000000"/>
                          </a:solidFill>
                          <a:latin typeface="Cambria"/>
                        </a:rPr>
                        <a:t>The jointly routed gateway. Verified: a ~15% review lane halves both error types on unseen generators. </a:t>
                      </a:r>
                      <a:r>
                        <a:rPr lang="en-US" sz="1300" b="0" i="0">
                          <a:solidFill>
                            <a:srgbClr val="C00000"/>
                          </a:solidFill>
                          <a:latin typeface="Cambria"/>
                        </a:rPr>
                        <a:t>Not yet shown strongly: that the uncertainty/novelty heads beat a score-only review rule at the same workload.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Independent Claims</a:t>
            </a:r>
          </a:p>
        </p:txBody>
      </p:sp>
      <p:sp>
        <p:nvSpPr>
          <p:cNvPr id="3" name="TextBox 2"/>
          <p:cNvSpPr txBox="1"/>
          <p:nvPr/>
        </p:nvSpPr>
        <p:spPr>
          <a:xfrm>
            <a:off x="6949440" y="164592"/>
            <a:ext cx="5029200" cy="365760"/>
          </a:xfrm>
          <a:prstGeom prst="rect">
            <a:avLst/>
          </a:prstGeom>
          <a:noFill/>
        </p:spPr>
        <p:txBody>
          <a:bodyPr wrap="square" anchor="t" lIns="36576" rIns="36576" tIns="36576" bIns="36576">
            <a:spAutoFit/>
          </a:bodyPr>
          <a:lstStyle/>
          <a:p>
            <a:pPr algn="l" latinLnBrk="0">
              <a:spcAft>
                <a:spcPts val="400"/>
              </a:spcAft>
            </a:pPr>
            <a:r>
              <a:rPr lang="en-US" sz="1100" b="0" i="0">
                <a:solidFill>
                  <a:srgbClr val="595959"/>
                </a:solidFill>
                <a:latin typeface="Cambria"/>
              </a:rPr>
              <a:t>In order of relevancy. Novel features highlighted in </a:t>
            </a:r>
            <a:r>
              <a:rPr lang="en-US" sz="1100" b="0" i="0">
                <a:solidFill>
                  <a:srgbClr val="C00000"/>
                </a:solidFill>
                <a:latin typeface="Cambria"/>
              </a:rPr>
              <a:t>red</a:t>
            </a:r>
            <a:r>
              <a:rPr lang="en-US" sz="1100" b="0" i="0">
                <a:solidFill>
                  <a:srgbClr val="595959"/>
                </a:solidFill>
                <a:latin typeface="Cambria"/>
              </a:rPr>
              <a:t>.</a:t>
            </a:r>
          </a:p>
        </p:txBody>
      </p:sp>
      <p:sp>
        <p:nvSpPr>
          <p:cNvPr id="4" name="TextBox 3"/>
          <p:cNvSpPr txBox="1"/>
          <p:nvPr/>
        </p:nvSpPr>
        <p:spPr>
          <a:xfrm>
            <a:off x="320040" y="868680"/>
            <a:ext cx="4572000" cy="5760720"/>
          </a:xfrm>
          <a:prstGeom prst="rect">
            <a:avLst/>
          </a:prstGeom>
          <a:noFill/>
        </p:spPr>
        <p:txBody>
          <a:bodyPr wrap="square" anchor="t" lIns="36576" rIns="36576" tIns="36576" bIns="36576">
            <a:spAutoFit/>
          </a:bodyPr>
          <a:lstStyle/>
          <a:p>
            <a:pPr algn="l" latinLnBrk="0">
              <a:spcAft>
                <a:spcPts val="500"/>
              </a:spcAft>
            </a:pPr>
            <a:r>
              <a:rPr lang="en-US" sz="1400" b="1" i="0">
                <a:solidFill>
                  <a:srgbClr val="000000"/>
                </a:solidFill>
                <a:latin typeface="Cambria"/>
              </a:rPr>
              <a:t>Abstract</a:t>
            </a:r>
          </a:p>
          <a:p>
            <a:pPr algn="l" latinLnBrk="0">
              <a:spcAft>
                <a:spcPts val="500"/>
              </a:spcAft>
            </a:pPr>
            <a:r>
              <a:rPr lang="en-US" sz="1300" b="0" i="0">
                <a:solidFill>
                  <a:srgbClr val="000000"/>
                </a:solidFill>
                <a:latin typeface="Cambria"/>
              </a:rPr>
              <a:t>A speech-audio screening method and system that detects synthetic speech, attributes the generator family, estimates its own uncertainty, flags inputs unlike authentic speech, and routes each input to automatic pass, automatic block or human review, with a deterministic explanation, all from one shared dual-channel embedding.</a:t>
            </a:r>
          </a:p>
          <a:p>
            <a:pPr algn="l" latinLnBrk="0">
              <a:spcAft>
                <a:spcPts val="500"/>
              </a:spcAft>
            </a:pPr>
            <a:r>
              <a:rPr lang="en-US" sz="1400" b="1" i="0">
                <a:solidFill>
                  <a:srgbClr val="000000"/>
                </a:solidFill>
                <a:latin typeface="Cambria"/>
              </a:rPr>
              <a:t>Use cases</a:t>
            </a:r>
          </a:p>
          <a:p>
            <a:pPr algn="l" marL="201168" indent="-182880" latinLnBrk="0">
              <a:spcAft>
                <a:spcPts val="500"/>
              </a:spcAft>
              <a:buChar char="•"/>
            </a:pPr>
            <a:r>
              <a:rPr lang="en-US" sz="1300" b="0" i="0">
                <a:solidFill>
                  <a:srgbClr val="000000"/>
                </a:solidFill>
                <a:latin typeface="Cambria"/>
              </a:rPr>
              <a:t>Voice-fraud screening of calls and voice notes</a:t>
            </a:r>
          </a:p>
          <a:p>
            <a:pPr algn="l" marL="201168" indent="-182880" latinLnBrk="0">
              <a:spcAft>
                <a:spcPts val="500"/>
              </a:spcAft>
              <a:buChar char="•"/>
            </a:pPr>
            <a:r>
              <a:rPr lang="en-US" sz="1300" b="0" i="0">
                <a:solidFill>
                  <a:srgbClr val="000000"/>
                </a:solidFill>
                <a:latin typeface="Cambria"/>
              </a:rPr>
              <a:t>Call-centre and voice-biometric authentication</a:t>
            </a:r>
          </a:p>
          <a:p>
            <a:pPr algn="l" marL="201168" indent="-182880" latinLnBrk="0">
              <a:spcAft>
                <a:spcPts val="500"/>
              </a:spcAft>
              <a:buChar char="•"/>
            </a:pPr>
            <a:r>
              <a:rPr lang="en-US" sz="1300" b="0" i="0">
                <a:solidFill>
                  <a:srgbClr val="000000"/>
                </a:solidFill>
                <a:latin typeface="Cambria"/>
              </a:rPr>
              <a:t>Forensic triage of recorded evidence</a:t>
            </a:r>
          </a:p>
          <a:p>
            <a:pPr algn="l" marL="201168" indent="-182880" latinLnBrk="0">
              <a:spcAft>
                <a:spcPts val="500"/>
              </a:spcAft>
              <a:buChar char="•"/>
            </a:pPr>
            <a:r>
              <a:rPr lang="en-US" sz="1300" b="0" i="0">
                <a:solidFill>
                  <a:srgbClr val="000000"/>
                </a:solidFill>
                <a:latin typeface="Cambria"/>
              </a:rPr>
              <a:t>Compliance workflows with a human review queue</a:t>
            </a:r>
          </a:p>
        </p:txBody>
      </p:sp>
      <p:cxnSp>
        <p:nvCxnSpPr>
          <p:cNvPr id="5" name="Connector 4"/>
          <p:cNvCxnSpPr/>
          <p:nvPr/>
        </p:nvCxnSpPr>
        <p:spPr>
          <a:xfrm>
            <a:off x="5074920" y="868680"/>
            <a:ext cx="0" cy="5715000"/>
          </a:xfrm>
          <a:prstGeom prst="line">
            <a:avLst/>
          </a:prstGeom>
          <a:ln>
            <a:solidFill>
              <a:srgbClr val="595959"/>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257800" y="868680"/>
            <a:ext cx="6675120" cy="5852160"/>
          </a:xfrm>
          <a:prstGeom prst="rect">
            <a:avLst/>
          </a:prstGeom>
          <a:noFill/>
        </p:spPr>
        <p:txBody>
          <a:bodyPr wrap="square" anchor="t" lIns="36576" rIns="36576" tIns="36576" bIns="36576">
            <a:spAutoFit/>
          </a:bodyPr>
          <a:lstStyle/>
          <a:p>
            <a:pPr algn="l" latinLnBrk="0">
              <a:spcAft>
                <a:spcPts val="400"/>
              </a:spcAft>
            </a:pPr>
            <a:r>
              <a:rPr lang="en-US" sz="1300" b="1" i="0">
                <a:solidFill>
                  <a:srgbClr val="000000"/>
                </a:solidFill>
                <a:latin typeface="Cambria"/>
              </a:rPr>
              <a:t>Claim 1 (method)</a:t>
            </a:r>
          </a:p>
          <a:p>
            <a:pPr algn="l" latinLnBrk="0">
              <a:spcAft>
                <a:spcPts val="400"/>
              </a:spcAft>
            </a:pPr>
            <a:r>
              <a:rPr lang="en-US" sz="1200" b="0" i="0">
                <a:solidFill>
                  <a:srgbClr val="000000"/>
                </a:solidFill>
                <a:latin typeface="Cambria"/>
              </a:rPr>
              <a:t>A computer-implemented method for screening speech audio, comprising:</a:t>
            </a:r>
          </a:p>
          <a:p>
            <a:pPr algn="l" latinLnBrk="0">
              <a:spcAft>
                <a:spcPts val="400"/>
              </a:spcAft>
            </a:pPr>
            <a:r>
              <a:rPr lang="en-US" sz="1200" b="0" i="0">
                <a:solidFill>
                  <a:srgbClr val="000000"/>
                </a:solidFill>
                <a:latin typeface="Cambria"/>
              </a:rPr>
              <a:t>(a) dividing the audio into fixed-length windows and forming, for each window, a two-channel time–frequency array whose first channel is a log-power Mel spectrogram and whose second channel is a matrix of Mel-frequency cepstral coefficients;</a:t>
            </a:r>
          </a:p>
          <a:p>
            <a:pPr algn="l" latinLnBrk="0">
              <a:spcAft>
                <a:spcPts val="400"/>
              </a:spcAft>
            </a:pPr>
            <a:r>
              <a:rPr lang="en-US" sz="1200" b="0" i="0">
                <a:solidFill>
                  <a:srgbClr val="000000"/>
                </a:solidFill>
                <a:latin typeface="Cambria"/>
              </a:rPr>
              <a:t>(b) processing the array with a residual convolutional network having channel attention to obtain a single shared embedding;</a:t>
            </a:r>
          </a:p>
          <a:p>
            <a:pPr algn="l" latinLnBrk="0">
              <a:spcAft>
                <a:spcPts val="400"/>
              </a:spcAft>
            </a:pPr>
            <a:r>
              <a:rPr lang="en-US" sz="1200" b="0" i="0">
                <a:solidFill>
                  <a:srgbClr val="000000"/>
                </a:solidFill>
                <a:latin typeface="Cambria"/>
              </a:rPr>
              <a:t>(c) computing from that same shared embedding, in parallel, a spoof probability, an attack-family attribution, </a:t>
            </a:r>
            <a:r>
              <a:rPr lang="en-US" sz="1200" b="0" i="0">
                <a:solidFill>
                  <a:srgbClr val="C00000"/>
                </a:solidFill>
                <a:latin typeface="Cambria"/>
              </a:rPr>
              <a:t>a predictive-uncertainty estimate obtained from repeated stochastic forward passes, and a novelty score measuring the distance of the embedding from a distribution fitted only on embeddings of authentic speech</a:t>
            </a:r>
            <a:r>
              <a:rPr lang="en-US" sz="1200" b="0" i="0">
                <a:solidFill>
                  <a:srgbClr val="000000"/>
                </a:solidFill>
                <a:latin typeface="Cambria"/>
              </a:rPr>
              <a:t>;</a:t>
            </a:r>
          </a:p>
          <a:p>
            <a:pPr algn="l" latinLnBrk="0">
              <a:spcAft>
                <a:spcPts val="400"/>
              </a:spcAft>
            </a:pPr>
            <a:r>
              <a:rPr lang="en-US" sz="1200" b="0" i="0">
                <a:solidFill>
                  <a:srgbClr val="000000"/>
                </a:solidFill>
                <a:latin typeface="Cambria"/>
              </a:rPr>
              <a:t>(d) </a:t>
            </a:r>
            <a:r>
              <a:rPr lang="en-US" sz="1200" b="0" i="0">
                <a:solidFill>
                  <a:srgbClr val="C00000"/>
                </a:solidFill>
                <a:latin typeface="Cambria"/>
              </a:rPr>
              <a:t>routing the audio to one of automatic pass, automatic block, human review or unknown-pattern review as a joint function of the spoof probability, the uncertainty estimate and the novelty score, wherein the novelty and uncertainty conditions take precedence over the spoof-probability thresholds</a:t>
            </a:r>
            <a:r>
              <a:rPr lang="en-US" sz="1200" b="0" i="0">
                <a:solidFill>
                  <a:srgbClr val="000000"/>
                </a:solidFill>
                <a:latin typeface="Cambria"/>
              </a:rPr>
              <a:t>; and</a:t>
            </a:r>
          </a:p>
          <a:p>
            <a:pPr algn="l" latinLnBrk="0">
              <a:spcAft>
                <a:spcPts val="400"/>
              </a:spcAft>
            </a:pPr>
            <a:r>
              <a:rPr lang="en-US" sz="1200" b="0" i="0">
                <a:solidFill>
                  <a:srgbClr val="000000"/>
                </a:solidFill>
                <a:latin typeface="Cambria"/>
              </a:rPr>
              <a:t>(e) outputting the routing decision together with an explanation generated from the head outputs.</a:t>
            </a:r>
          </a:p>
          <a:p>
            <a:pPr algn="l" latinLnBrk="0">
              <a:spcAft>
                <a:spcPts val="400"/>
              </a:spcAft>
            </a:pPr>
            <a:r>
              <a:rPr lang="en-US" sz="1300" b="1" i="0">
                <a:solidFill>
                  <a:srgbClr val="000000"/>
                </a:solidFill>
                <a:latin typeface="Cambria"/>
              </a:rPr>
              <a:t>Claim 2 (system)</a:t>
            </a:r>
          </a:p>
          <a:p>
            <a:pPr algn="l" latinLnBrk="0">
              <a:spcAft>
                <a:spcPts val="400"/>
              </a:spcAft>
            </a:pPr>
            <a:r>
              <a:rPr lang="en-US" sz="1200" b="0" i="0">
                <a:solidFill>
                  <a:srgbClr val="000000"/>
                </a:solidFill>
                <a:latin typeface="Cambria"/>
              </a:rPr>
              <a:t>A system comprising one or more processors and memory storing instructions that implement a feature module, the residual network, the four heads and </a:t>
            </a:r>
            <a:r>
              <a:rPr lang="en-US" sz="1200" b="0" i="0">
                <a:solidFill>
                  <a:srgbClr val="C00000"/>
                </a:solidFill>
                <a:latin typeface="Cambria"/>
              </a:rPr>
              <a:t>a gateway module configured to perform step (d) of claim 1</a:t>
            </a:r>
            <a:r>
              <a:rPr lang="en-US" sz="1200" b="0" i="0">
                <a:solidFill>
                  <a:srgbClr val="000000"/>
                </a:solidFill>
                <a:latin typeface="Cambria"/>
              </a:rP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Dependent Claims</a:t>
            </a:r>
          </a:p>
        </p:txBody>
      </p:sp>
      <p:sp>
        <p:nvSpPr>
          <p:cNvPr id="3" name="TextBox 2"/>
          <p:cNvSpPr txBox="1"/>
          <p:nvPr/>
        </p:nvSpPr>
        <p:spPr>
          <a:xfrm>
            <a:off x="6949440" y="164592"/>
            <a:ext cx="5029200" cy="365760"/>
          </a:xfrm>
          <a:prstGeom prst="rect">
            <a:avLst/>
          </a:prstGeom>
          <a:noFill/>
        </p:spPr>
        <p:txBody>
          <a:bodyPr wrap="square" anchor="t" lIns="36576" rIns="36576" tIns="36576" bIns="36576">
            <a:spAutoFit/>
          </a:bodyPr>
          <a:lstStyle/>
          <a:p>
            <a:pPr algn="l" latinLnBrk="0">
              <a:spcAft>
                <a:spcPts val="400"/>
              </a:spcAft>
            </a:pPr>
            <a:r>
              <a:rPr lang="en-US" sz="1100" b="0" i="0">
                <a:solidFill>
                  <a:srgbClr val="595959"/>
                </a:solidFill>
                <a:latin typeface="Cambria"/>
              </a:rPr>
              <a:t>Status in brackets: [E] implemented &amp; evaluated · [C] code only · [P] proposed</a:t>
            </a:r>
          </a:p>
        </p:txBody>
      </p:sp>
      <p:sp>
        <p:nvSpPr>
          <p:cNvPr id="4" name="TextBox 3"/>
          <p:cNvSpPr txBox="1"/>
          <p:nvPr/>
        </p:nvSpPr>
        <p:spPr>
          <a:xfrm>
            <a:off x="320040" y="777240"/>
            <a:ext cx="11567160" cy="5943600"/>
          </a:xfrm>
          <a:prstGeom prst="rect">
            <a:avLst/>
          </a:prstGeom>
          <a:noFill/>
        </p:spPr>
        <p:txBody>
          <a:bodyPr wrap="square" anchor="t" lIns="36576" rIns="36576" tIns="36576" bIns="36576">
            <a:spAutoFit/>
          </a:bodyPr>
          <a:lstStyle/>
          <a:p>
            <a:pPr algn="l" latinLnBrk="0">
              <a:spcAft>
                <a:spcPts val="500"/>
              </a:spcAft>
            </a:pPr>
            <a:r>
              <a:rPr lang="en-US" sz="1200" b="1" i="0">
                <a:solidFill>
                  <a:srgbClr val="000000"/>
                </a:solidFill>
                <a:latin typeface="Cambria"/>
              </a:rPr>
              <a:t>Claim 3: </a:t>
            </a:r>
            <a:r>
              <a:rPr lang="en-US" sz="1200" b="0" i="0">
                <a:solidFill>
                  <a:srgbClr val="000000"/>
                </a:solidFill>
                <a:latin typeface="Cambria"/>
              </a:rPr>
              <a:t>The method of claim 1, wherein the novelty score is a Mahalanobis distance from a Gaussian fitted on authentic-speech embeddings, with the threshold at a percentile (97.5th) of authentic training distances, </a:t>
            </a:r>
            <a:r>
              <a:rPr lang="en-US" sz="1200" b="0" i="0">
                <a:solidFill>
                  <a:srgbClr val="C00000"/>
                </a:solidFill>
                <a:latin typeface="Cambria"/>
              </a:rPr>
              <a:t>checked before any probability threshold</a:t>
            </a:r>
            <a:r>
              <a:rPr lang="en-US" sz="1200" b="0" i="0">
                <a:solidFill>
                  <a:srgbClr val="000000"/>
                </a:solidFill>
                <a:latin typeface="Cambria"/>
              </a:rPr>
              <a:t>. [E]</a:t>
            </a:r>
          </a:p>
          <a:p>
            <a:pPr algn="l" latinLnBrk="0">
              <a:spcAft>
                <a:spcPts val="500"/>
              </a:spcAft>
            </a:pPr>
            <a:r>
              <a:rPr lang="en-US" sz="1200" b="1" i="0">
                <a:solidFill>
                  <a:srgbClr val="000000"/>
                </a:solidFill>
                <a:latin typeface="Cambria"/>
              </a:rPr>
              <a:t>Claim 4: </a:t>
            </a:r>
            <a:r>
              <a:rPr lang="en-US" sz="1200" b="0" i="0">
                <a:solidFill>
                  <a:srgbClr val="000000"/>
                </a:solidFill>
                <a:latin typeface="Cambria"/>
              </a:rPr>
              <a:t>The method of claim 1, wherein the uncertainty estimate is the standard deviation of the spoof probability over N stochastic passes with dropout applied to the shared embedding and kept active at inference. [E]</a:t>
            </a:r>
          </a:p>
          <a:p>
            <a:pPr algn="l" latinLnBrk="0">
              <a:spcAft>
                <a:spcPts val="500"/>
              </a:spcAft>
            </a:pPr>
            <a:r>
              <a:rPr lang="en-US" sz="1200" b="1" i="0">
                <a:solidFill>
                  <a:srgbClr val="000000"/>
                </a:solidFill>
                <a:latin typeface="Cambria"/>
              </a:rPr>
              <a:t>Claim 5: </a:t>
            </a:r>
            <a:r>
              <a:rPr lang="en-US" sz="1200" b="0" i="0">
                <a:solidFill>
                  <a:srgbClr val="000000"/>
                </a:solidFill>
                <a:latin typeface="Cambria"/>
              </a:rPr>
              <a:t>The method of claim 1, wherein </a:t>
            </a:r>
            <a:r>
              <a:rPr lang="en-US" sz="1200" b="0" i="0">
                <a:solidFill>
                  <a:srgbClr val="C00000"/>
                </a:solidFill>
                <a:latin typeface="Cambria"/>
              </a:rPr>
              <a:t>the uncertainty threshold is calibrated on held-out validation data so that at most a target fraction (e.g. 15%) of authentic inputs is routed to human review</a:t>
            </a:r>
            <a:r>
              <a:rPr lang="en-US" sz="1200" b="0" i="0">
                <a:solidFill>
                  <a:srgbClr val="000000"/>
                </a:solidFill>
                <a:latin typeface="Cambria"/>
              </a:rPr>
              <a:t>. [E]</a:t>
            </a:r>
          </a:p>
          <a:p>
            <a:pPr algn="l" latinLnBrk="0">
              <a:spcAft>
                <a:spcPts val="500"/>
              </a:spcAft>
            </a:pPr>
            <a:r>
              <a:rPr lang="en-US" sz="1200" b="1" i="0">
                <a:solidFill>
                  <a:srgbClr val="000000"/>
                </a:solidFill>
                <a:latin typeface="Cambria"/>
              </a:rPr>
              <a:t>Claim 6: </a:t>
            </a:r>
            <a:r>
              <a:rPr lang="en-US" sz="1200" b="0" i="0">
                <a:solidFill>
                  <a:srgbClr val="000000"/>
                </a:solidFill>
                <a:latin typeface="Cambria"/>
              </a:rPr>
              <a:t>The method of claim 1, wherein </a:t>
            </a:r>
            <a:r>
              <a:rPr lang="en-US" sz="1200" b="0" i="0">
                <a:solidFill>
                  <a:srgbClr val="C00000"/>
                </a:solidFill>
                <a:latin typeface="Cambria"/>
              </a:rPr>
              <a:t>the routing uses a combined risk score: a weighted combination of the spoof-probability margin, the uncertainty estimate and the novelty score, with the weights fitted on validation data</a:t>
            </a:r>
            <a:r>
              <a:rPr lang="en-US" sz="1200" b="0" i="0">
                <a:solidFill>
                  <a:srgbClr val="000000"/>
                </a:solidFill>
                <a:latin typeface="Cambria"/>
              </a:rPr>
              <a:t>. [C: preliminary analysis, slide 23]</a:t>
            </a:r>
          </a:p>
          <a:p>
            <a:pPr algn="l" latinLnBrk="0">
              <a:spcAft>
                <a:spcPts val="500"/>
              </a:spcAft>
            </a:pPr>
            <a:r>
              <a:rPr lang="en-US" sz="1200" b="1" i="0">
                <a:solidFill>
                  <a:srgbClr val="000000"/>
                </a:solidFill>
                <a:latin typeface="Cambria"/>
              </a:rPr>
              <a:t>Claim 7: </a:t>
            </a:r>
            <a:r>
              <a:rPr lang="en-US" sz="1200" b="0" i="0">
                <a:solidFill>
                  <a:srgbClr val="000000"/>
                </a:solidFill>
                <a:latin typeface="Cambria"/>
              </a:rPr>
              <a:t>The method of claim 1, wherein a long recording is scanned in several windows, the decision is based on the most suspicious window, and its time offset is reported to the reviewer. [E]</a:t>
            </a:r>
          </a:p>
          <a:p>
            <a:pPr algn="l" latinLnBrk="0">
              <a:spcAft>
                <a:spcPts val="500"/>
              </a:spcAft>
            </a:pPr>
            <a:r>
              <a:rPr lang="en-US" sz="1200" b="1" i="0">
                <a:solidFill>
                  <a:srgbClr val="000000"/>
                </a:solidFill>
                <a:latin typeface="Cambria"/>
              </a:rPr>
              <a:t>Claim 8: </a:t>
            </a:r>
            <a:r>
              <a:rPr lang="en-US" sz="1200" b="0" i="0">
                <a:solidFill>
                  <a:srgbClr val="000000"/>
                </a:solidFill>
                <a:latin typeface="Cambria"/>
              </a:rPr>
              <a:t>The method of claim 1, wherein </a:t>
            </a:r>
            <a:r>
              <a:rPr lang="en-US" sz="1200" b="0" i="0">
                <a:solidFill>
                  <a:srgbClr val="C00000"/>
                </a:solidFill>
                <a:latin typeface="Cambria"/>
              </a:rPr>
              <a:t>audio shorter than a minimum duration (e.g. 2 s) is routed to human review</a:t>
            </a:r>
            <a:r>
              <a:rPr lang="en-US" sz="1200" b="0" i="0">
                <a:solidFill>
                  <a:srgbClr val="000000"/>
                </a:solidFill>
                <a:latin typeface="Cambria"/>
              </a:rPr>
              <a:t> instead of receiving an automatic decision. [E: demo clips]</a:t>
            </a:r>
          </a:p>
          <a:p>
            <a:pPr algn="l" latinLnBrk="0">
              <a:spcAft>
                <a:spcPts val="500"/>
              </a:spcAft>
            </a:pPr>
            <a:r>
              <a:rPr lang="en-US" sz="1200" b="1" i="0">
                <a:solidFill>
                  <a:srgbClr val="000000"/>
                </a:solidFill>
                <a:latin typeface="Cambria"/>
              </a:rPr>
              <a:t>Claim 9: </a:t>
            </a:r>
            <a:r>
              <a:rPr lang="en-US" sz="1200" b="0" i="0">
                <a:solidFill>
                  <a:srgbClr val="000000"/>
                </a:solidFill>
                <a:latin typeface="Cambria"/>
              </a:rPr>
              <a:t>The method of claim 1, wherein the attack-family head classifies among real, vocoder artefact, TTS prosody, splice/edit and unknown-synthetic, trained jointly with the spoof head. [E, splice/edit class untrained]</a:t>
            </a:r>
          </a:p>
          <a:p>
            <a:pPr algn="l" latinLnBrk="0">
              <a:spcAft>
                <a:spcPts val="500"/>
              </a:spcAft>
            </a:pPr>
            <a:r>
              <a:rPr lang="en-US" sz="1200" b="1" i="0">
                <a:solidFill>
                  <a:srgbClr val="000000"/>
                </a:solidFill>
                <a:latin typeface="Cambria"/>
              </a:rPr>
              <a:t>Claim 10: </a:t>
            </a:r>
            <a:r>
              <a:rPr lang="en-US" sz="1200" b="0" i="0">
                <a:solidFill>
                  <a:srgbClr val="000000"/>
                </a:solidFill>
                <a:latin typeface="Cambria"/>
              </a:rPr>
              <a:t>The method of claim 1, wherein the explanation is a deterministic template assembled from the head outputs, never generated free-form. [E]</a:t>
            </a:r>
          </a:p>
          <a:p>
            <a:pPr algn="l" latinLnBrk="0">
              <a:spcAft>
                <a:spcPts val="500"/>
              </a:spcAft>
            </a:pPr>
            <a:r>
              <a:rPr lang="en-US" sz="1200" b="1" i="0">
                <a:solidFill>
                  <a:srgbClr val="000000"/>
                </a:solidFill>
                <a:latin typeface="Cambria"/>
              </a:rPr>
              <a:t>Claim 11: </a:t>
            </a:r>
            <a:r>
              <a:rPr lang="en-US" sz="1200" b="0" i="0">
                <a:solidFill>
                  <a:srgbClr val="000000"/>
                </a:solidFill>
                <a:latin typeface="Cambria"/>
              </a:rPr>
              <a:t>The method of claim 1, further comprising </a:t>
            </a:r>
            <a:r>
              <a:rPr lang="en-US" sz="1200" b="0" i="0">
                <a:solidFill>
                  <a:srgbClr val="C00000"/>
                </a:solidFill>
                <a:latin typeface="Cambria"/>
              </a:rPr>
              <a:t>per-channel activation maps computed separately for the Mel and MFCC channels, whose disagreement map is shown to the reviewer</a:t>
            </a:r>
            <a:r>
              <a:rPr lang="en-US" sz="1200" b="0" i="0">
                <a:solidFill>
                  <a:srgbClr val="000000"/>
                </a:solidFill>
                <a:latin typeface="Cambria"/>
              </a:rPr>
              <a:t>. [C]</a:t>
            </a:r>
          </a:p>
          <a:p>
            <a:pPr algn="l" latinLnBrk="0">
              <a:spcAft>
                <a:spcPts val="500"/>
              </a:spcAft>
            </a:pPr>
            <a:r>
              <a:rPr lang="en-US" sz="1200" b="1" i="0">
                <a:solidFill>
                  <a:srgbClr val="000000"/>
                </a:solidFill>
                <a:latin typeface="Cambria"/>
              </a:rPr>
              <a:t>Claim 12: </a:t>
            </a:r>
            <a:r>
              <a:rPr lang="en-US" sz="1200" b="0" i="0">
                <a:solidFill>
                  <a:srgbClr val="000000"/>
                </a:solidFill>
                <a:latin typeface="Cambria"/>
              </a:rPr>
              <a:t>The method of claim 1, further comprising training with randomised MP3 re-encoding, additive noise at controlled SNR, reverberation and 8 kHz band-limiting. [E]</a:t>
            </a:r>
          </a:p>
          <a:p>
            <a:pPr algn="l" latinLnBrk="0">
              <a:spcAft>
                <a:spcPts val="500"/>
              </a:spcAft>
            </a:pPr>
            <a:r>
              <a:rPr lang="en-US" sz="1200" b="1" i="0">
                <a:solidFill>
                  <a:srgbClr val="000000"/>
                </a:solidFill>
                <a:latin typeface="Cambria"/>
              </a:rPr>
              <a:t>Claim 13: </a:t>
            </a:r>
            <a:r>
              <a:rPr lang="en-US" sz="1200" b="0" i="0">
                <a:solidFill>
                  <a:srgbClr val="000000"/>
                </a:solidFill>
                <a:latin typeface="Cambria"/>
              </a:rPr>
              <a:t>The method of claim 1, further comprising queuing reviewer-confirmed and high-novelty samples for periodic fine-tuning with versioned model releases. [P]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Main Patentable Points (ranked by evidence)</a:t>
            </a:r>
          </a:p>
        </p:txBody>
      </p:sp>
      <p:graphicFrame>
        <p:nvGraphicFramePr>
          <p:cNvPr id="3" name="Table 2"/>
          <p:cNvGraphicFramePr>
            <a:graphicFrameLocks noGrp="1"/>
          </p:cNvGraphicFramePr>
          <p:nvPr/>
        </p:nvGraphicFramePr>
        <p:xfrm>
          <a:off x="274320" y="868680"/>
          <a:ext cx="11612880" cy="4572000"/>
        </p:xfrm>
        <a:graphic>
          <a:graphicData uri="http://schemas.openxmlformats.org/drawingml/2006/table">
            <a:tbl>
              <a:tblPr firstRow="0" bandRow="0">
                <a:tableStyleId>{5940675A-B579-460E-94D1-54222C63F5DA}</a:tableStyleId>
              </a:tblPr>
              <a:tblGrid>
                <a:gridCol w="365760"/>
                <a:gridCol w="4206240"/>
                <a:gridCol w="5120640"/>
                <a:gridCol w="1920240"/>
              </a:tblGrid>
              <a:tr h="457200">
                <a:tc>
                  <a:txBody>
                    <a:bodyPr wrap="square"/>
                    <a:lstStyle/>
                    <a:p>
                      <a:pPr latinLnBrk="0"/>
                      <a:r>
                        <a:rPr lang="en-US" sz="1200" b="1" i="0">
                          <a:solidFill>
                            <a:srgbClr val="000000"/>
                          </a:solidFill>
                          <a:latin typeface="Cambria"/>
                        </a:rPr>
                        <a:t>#</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1" i="0">
                          <a:solidFill>
                            <a:srgbClr val="000000"/>
                          </a:solidFill>
                          <a:latin typeface="Cambria"/>
                        </a:rPr>
                        <a:t>Patentable point</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1" i="0">
                          <a:solidFill>
                            <a:srgbClr val="000000"/>
                          </a:solidFill>
                          <a:latin typeface="Cambria"/>
                        </a:rPr>
                        <a:t>Evidence from our evaluation</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1" i="0">
                          <a:solidFill>
                            <a:srgbClr val="000000"/>
                          </a:solidFill>
                          <a:latin typeface="Cambria"/>
                        </a:rPr>
                        <a:t>Strength</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822960">
                <a:tc>
                  <a:txBody>
                    <a:bodyPr wrap="square"/>
                    <a:lstStyle/>
                    <a:p>
                      <a:pPr latinLnBrk="0"/>
                      <a:r>
                        <a:rPr lang="en-US" sz="1200" b="0" i="0">
                          <a:solidFill>
                            <a:srgbClr val="000000"/>
                          </a:solidFill>
                          <a:latin typeface="Cambria"/>
                        </a:rPr>
                        <a:t>1</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C00000"/>
                          </a:solidFill>
                          <a:latin typeface="Cambria"/>
                        </a:rPr>
                        <a:t>Joint routing from one embedding using spoof score, uncertainty and novelty</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Review lane at ~15% workload halves errors on unseen generators. Over a score-only review rule at equal workload: current rules no better; a fitted combination is better in 9/9 families but by a small margin (error-spotting AUC 0.79 → 0.81).</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1" i="0">
                          <a:solidFill>
                            <a:srgbClr val="C00000"/>
                          </a:solidFill>
                          <a:latin typeface="Cambria"/>
                        </a:rPr>
                        <a:t>Moderate–weak</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822960">
                <a:tc>
                  <a:txBody>
                    <a:bodyPr wrap="square"/>
                    <a:lstStyle/>
                    <a:p>
                      <a:pPr latinLnBrk="0"/>
                      <a:r>
                        <a:rPr lang="en-US" sz="1200" b="0" i="0">
                          <a:solidFill>
                            <a:srgbClr val="000000"/>
                          </a:solidFill>
                          <a:latin typeface="Cambria"/>
                        </a:rPr>
                        <a:t>2</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C00000"/>
                          </a:solidFill>
                          <a:latin typeface="Cambria"/>
                        </a:rPr>
                        <a:t>Workload-calibrated review threshold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Calibrated on validation to ≤15%; achieved 13.8% on test, 14.4% on unseen generators. Calibration as such is a known technique.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1" i="0">
                          <a:solidFill>
                            <a:srgbClr val="000000"/>
                          </a:solidFill>
                          <a:latin typeface="Cambria"/>
                        </a:rPr>
                        <a:t>Moderate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822960">
                <a:tc>
                  <a:txBody>
                    <a:bodyPr wrap="square"/>
                    <a:lstStyle/>
                    <a:p>
                      <a:pPr latinLnBrk="0"/>
                      <a:r>
                        <a:rPr lang="en-US" sz="1200" b="0" i="0">
                          <a:solidFill>
                            <a:srgbClr val="000000"/>
                          </a:solidFill>
                          <a:latin typeface="Cambria"/>
                        </a:rPr>
                        <a:t>3</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C00000"/>
                          </a:solidFill>
                          <a:latin typeface="Cambria"/>
                        </a:rPr>
                        <a:t>Genuine-only novelty boundary checked first</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No signal on seen generators (AUC 0.55); real signal on unseen ones (0.60–0.78). Flags 0–31% of unseen fakes at the current threshold.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1" i="0">
                          <a:solidFill>
                            <a:srgbClr val="C00000"/>
                          </a:solidFill>
                          <a:latin typeface="Cambria"/>
                        </a:rPr>
                        <a:t>Moderate–weak</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822960">
                <a:tc>
                  <a:txBody>
                    <a:bodyPr wrap="square"/>
                    <a:lstStyle/>
                    <a:p>
                      <a:pPr latinLnBrk="0"/>
                      <a:r>
                        <a:rPr lang="en-US" sz="1200" b="0" i="0">
                          <a:solidFill>
                            <a:srgbClr val="000000"/>
                          </a:solidFill>
                          <a:latin typeface="Cambria"/>
                        </a:rPr>
                        <a:t>4</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Attack-family attribution trained jointly with detection</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91.0% correct on test fakes; classes are coarse and the splice/edit class has no training data.</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1" i="0">
                          <a:solidFill>
                            <a:srgbClr val="000000"/>
                          </a:solidFill>
                          <a:latin typeface="Cambria"/>
                        </a:rPr>
                        <a:t>Moderate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822960">
                <a:tc>
                  <a:txBody>
                    <a:bodyPr wrap="square"/>
                    <a:lstStyle/>
                    <a:p>
                      <a:pPr latinLnBrk="0"/>
                      <a:r>
                        <a:rPr lang="en-US" sz="1200" b="0" i="0">
                          <a:solidFill>
                            <a:srgbClr val="000000"/>
                          </a:solidFill>
                          <a:latin typeface="Cambria"/>
                        </a:rPr>
                        <a:t>5</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C00000"/>
                          </a:solidFill>
                          <a:latin typeface="Cambria"/>
                        </a:rPr>
                        <a:t>Per-channel (Mel vs MFCC) disagreement explanation</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Code exists; never evaluated or shown to users.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1" i="0">
                          <a:solidFill>
                            <a:srgbClr val="C00000"/>
                          </a:solidFill>
                          <a:latin typeface="Cambria"/>
                        </a:rPr>
                        <a:t>None yet</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bl>
          </a:graphicData>
        </a:graphic>
      </p:graphicFrame>
      <p:sp>
        <p:nvSpPr>
          <p:cNvPr id="4" name="TextBox 3"/>
          <p:cNvSpPr txBox="1"/>
          <p:nvPr/>
        </p:nvSpPr>
        <p:spPr>
          <a:xfrm>
            <a:off x="320040" y="6172200"/>
            <a:ext cx="11521440" cy="548640"/>
          </a:xfrm>
          <a:prstGeom prst="rect">
            <a:avLst/>
          </a:prstGeom>
          <a:noFill/>
        </p:spPr>
        <p:txBody>
          <a:bodyPr wrap="square" anchor="t" lIns="36576" rIns="36576" tIns="36576" bIns="36576">
            <a:spAutoFit/>
          </a:bodyPr>
          <a:lstStyle/>
          <a:p>
            <a:pPr algn="l" latinLnBrk="0">
              <a:spcAft>
                <a:spcPts val="400"/>
              </a:spcAft>
            </a:pPr>
            <a:r>
              <a:rPr lang="en-US" sz="1300" b="1" i="0">
                <a:solidFill>
                  <a:srgbClr val="000000"/>
                </a:solidFill>
                <a:latin typeface="Cambria"/>
              </a:rPr>
              <a:t>Recommendation to the patent team: </a:t>
            </a:r>
            <a:r>
              <a:rPr lang="en-US" sz="1300" b="0" i="0">
                <a:solidFill>
                  <a:srgbClr val="000000"/>
                </a:solidFill>
                <a:latin typeface="Cambria"/>
              </a:rPr>
              <a:t>lead with point 1 as a combination claim and support it with point 2. Points 3 and 5 need the experiments on slide 26 before they can carry weight.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Novelty Map: what is new, and why</a:t>
            </a:r>
          </a:p>
        </p:txBody>
      </p:sp>
      <p:graphicFrame>
        <p:nvGraphicFramePr>
          <p:cNvPr id="3" name="Table 2"/>
          <p:cNvGraphicFramePr>
            <a:graphicFrameLocks noGrp="1"/>
          </p:cNvGraphicFramePr>
          <p:nvPr/>
        </p:nvGraphicFramePr>
        <p:xfrm>
          <a:off x="274320" y="868680"/>
          <a:ext cx="11612880" cy="4365345"/>
        </p:xfrm>
        <a:graphic>
          <a:graphicData uri="http://schemas.openxmlformats.org/drawingml/2006/table">
            <a:tbl>
              <a:tblPr firstRow="0" bandRow="0">
                <a:tableStyleId>{5940675A-B579-460E-94D1-54222C63F5DA}</a:tableStyleId>
              </a:tblPr>
              <a:tblGrid>
                <a:gridCol w="2834640"/>
                <a:gridCol w="3840480"/>
                <a:gridCol w="1463040"/>
                <a:gridCol w="3474720"/>
              </a:tblGrid>
              <a:tr h="396849">
                <a:tc>
                  <a:txBody>
                    <a:bodyPr wrap="square"/>
                    <a:lstStyle/>
                    <a:p>
                      <a:pPr latinLnBrk="0"/>
                      <a:r>
                        <a:rPr lang="en-US" sz="1200" b="1" i="0">
                          <a:solidFill>
                            <a:srgbClr val="000000"/>
                          </a:solidFill>
                          <a:latin typeface="Cambria"/>
                        </a:rPr>
                        <a:t>Block</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1" i="0">
                          <a:solidFill>
                            <a:srgbClr val="000000"/>
                          </a:solidFill>
                          <a:latin typeface="Cambria"/>
                        </a:rPr>
                        <a:t>Closest known technique</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1" i="0">
                          <a:solidFill>
                            <a:srgbClr val="000000"/>
                          </a:solidFill>
                          <a:latin typeface="Cambria"/>
                        </a:rPr>
                        <a:t>Novel here?</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1" i="0">
                          <a:solidFill>
                            <a:srgbClr val="000000"/>
                          </a:solidFill>
                          <a:latin typeface="Cambria"/>
                        </a:rPr>
                        <a:t>Why / why not</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66928">
                <a:tc>
                  <a:txBody>
                    <a:bodyPr wrap="square"/>
                    <a:lstStyle/>
                    <a:p>
                      <a:pPr latinLnBrk="0"/>
                      <a:r>
                        <a:rPr lang="en-US" sz="1200" b="0" i="0">
                          <a:solidFill>
                            <a:srgbClr val="000000"/>
                          </a:solidFill>
                          <a:latin typeface="Cambria"/>
                        </a:rPr>
                        <a:t>Mel + MFCC two-channel input</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Common hand-crafted front-ends in ASVspoof systems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No</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Established; chosen for complementary cues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66928">
                <a:tc>
                  <a:txBody>
                    <a:bodyPr wrap="square"/>
                    <a:lstStyle/>
                    <a:p>
                      <a:pPr latinLnBrk="0"/>
                      <a:r>
                        <a:rPr lang="en-US" sz="1200" b="0" i="0">
                          <a:solidFill>
                            <a:srgbClr val="000000"/>
                          </a:solidFill>
                          <a:latin typeface="Cambria"/>
                        </a:rPr>
                        <a:t>Residual CNN + SE attention</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ResNet / SE-Net (image recognition), widely used in anti-spoofing</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No</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Established backbone, deliberately compact</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66928">
                <a:tc>
                  <a:txBody>
                    <a:bodyPr wrap="square"/>
                    <a:lstStyle/>
                    <a:p>
                      <a:pPr latinLnBrk="0"/>
                      <a:r>
                        <a:rPr lang="en-US" sz="1200" b="0" i="0">
                          <a:solidFill>
                            <a:srgbClr val="000000"/>
                          </a:solidFill>
                          <a:latin typeface="Cambria"/>
                        </a:rPr>
                        <a:t>MC-dropout uncertainty</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Gal &amp; Ghahramani, 2016</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No (alone)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Known estimator; new in how it drives routing</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66928">
                <a:tc>
                  <a:txBody>
                    <a:bodyPr wrap="square"/>
                    <a:lstStyle/>
                    <a:p>
                      <a:pPr latinLnBrk="0"/>
                      <a:r>
                        <a:rPr lang="en-US" sz="1200" b="0" i="0">
                          <a:solidFill>
                            <a:srgbClr val="000000"/>
                          </a:solidFill>
                          <a:latin typeface="Cambria"/>
                        </a:rPr>
                        <a:t>Mahalanobis novelty score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Lee et al., 2018 (out-of-distribution detection)</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No (alone)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Known; new in being fitted on authentic speech only and checked first in routing</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66928">
                <a:tc>
                  <a:txBody>
                    <a:bodyPr wrap="square"/>
                    <a:lstStyle/>
                    <a:p>
                      <a:pPr latinLnBrk="0"/>
                      <a:r>
                        <a:rPr lang="en-US" sz="1200" b="0" i="0">
                          <a:solidFill>
                            <a:srgbClr val="000000"/>
                          </a:solidFill>
                          <a:latin typeface="Cambria"/>
                        </a:rPr>
                        <a:t>Human-review lane / reject option</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Selective classification (Geifman &amp; El-Yaniv, 2017)</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No (alone)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Known; DeepShield sets it by a review budget</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66928">
                <a:tc>
                  <a:txBody>
                    <a:bodyPr wrap="square"/>
                    <a:lstStyle/>
                    <a:p>
                      <a:pPr latinLnBrk="0"/>
                      <a:r>
                        <a:rPr lang="en-US" sz="1200" b="0" i="0">
                          <a:solidFill>
                            <a:srgbClr val="C00000"/>
                          </a:solidFill>
                          <a:latin typeface="Cambria"/>
                        </a:rPr>
                        <a:t>Four heads on one shared embedding + jointly routed gateway</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No single reference combining all four signals in one routing function (per inventors’ search)</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1" i="0">
                          <a:solidFill>
                            <a:srgbClr val="C00000"/>
                          </a:solidFill>
                          <a:latin typeface="Cambria"/>
                        </a:rPr>
                        <a:t>Candidate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Integrated combination; effect modest so far (slides 22–23)</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66928">
                <a:tc>
                  <a:txBody>
                    <a:bodyPr wrap="square"/>
                    <a:lstStyle/>
                    <a:p>
                      <a:pPr latinLnBrk="0"/>
                      <a:r>
                        <a:rPr lang="en-US" sz="1200" b="0" i="0">
                          <a:solidFill>
                            <a:srgbClr val="C00000"/>
                          </a:solidFill>
                          <a:latin typeface="Cambria"/>
                        </a:rPr>
                        <a:t>Per-channel disagreement explanation</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Grad-CAM (Selvaraju et al., 2017) applied per input channel</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1" i="0">
                          <a:solidFill>
                            <a:srgbClr val="C00000"/>
                          </a:solidFill>
                          <a:latin typeface="Cambria"/>
                        </a:rPr>
                        <a:t>Candidate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Specific to the two-channel design; not yet evaluated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bl>
          </a:graphicData>
        </a:graphic>
      </p:graphicFrame>
      <p:sp>
        <p:nvSpPr>
          <p:cNvPr id="4" name="TextBox 3"/>
          <p:cNvSpPr txBox="1"/>
          <p:nvPr/>
        </p:nvSpPr>
        <p:spPr>
          <a:xfrm>
            <a:off x="320040" y="6126480"/>
            <a:ext cx="11521440" cy="548640"/>
          </a:xfrm>
          <a:prstGeom prst="rect">
            <a:avLst/>
          </a:prstGeom>
          <a:noFill/>
        </p:spPr>
        <p:txBody>
          <a:bodyPr wrap="square" anchor="t" lIns="36576" rIns="36576" tIns="36576" bIns="36576">
            <a:spAutoFit/>
          </a:bodyPr>
          <a:lstStyle/>
          <a:p>
            <a:pPr algn="l" latinLnBrk="0">
              <a:spcAft>
                <a:spcPts val="400"/>
              </a:spcAft>
            </a:pPr>
            <a:r>
              <a:rPr lang="en-US" sz="1100" b="0" i="0">
                <a:solidFill>
                  <a:srgbClr val="595959"/>
                </a:solidFill>
                <a:latin typeface="Cambria"/>
              </a:rPr>
              <a:t>Academic references are well-known papers named for orientation; a formal prior-art search is still required.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Prior Art Comparison</a:t>
            </a:r>
          </a:p>
        </p:txBody>
      </p:sp>
      <p:graphicFrame>
        <p:nvGraphicFramePr>
          <p:cNvPr id="3" name="Table 2"/>
          <p:cNvGraphicFramePr>
            <a:graphicFrameLocks noGrp="1"/>
          </p:cNvGraphicFramePr>
          <p:nvPr/>
        </p:nvGraphicFramePr>
        <p:xfrm>
          <a:off x="274320" y="868680"/>
          <a:ext cx="11612880" cy="4572000"/>
        </p:xfrm>
        <a:graphic>
          <a:graphicData uri="http://schemas.openxmlformats.org/drawingml/2006/table">
            <a:tbl>
              <a:tblPr firstRow="0" bandRow="0">
                <a:tableStyleId>{5940675A-B579-460E-94D1-54222C63F5DA}</a:tableStyleId>
              </a:tblPr>
              <a:tblGrid>
                <a:gridCol w="4572000"/>
                <a:gridCol w="7040880"/>
              </a:tblGrid>
              <a:tr h="457200">
                <a:tc>
                  <a:txBody>
                    <a:bodyPr wrap="square"/>
                    <a:lstStyle/>
                    <a:p>
                      <a:pPr latinLnBrk="0"/>
                      <a:r>
                        <a:rPr lang="en-US" sz="1300" b="1" i="0">
                          <a:solidFill>
                            <a:srgbClr val="000000"/>
                          </a:solidFill>
                          <a:latin typeface="Cambria"/>
                        </a:rPr>
                        <a:t>Prior-art reference</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1" i="0">
                          <a:solidFill>
                            <a:srgbClr val="000000"/>
                          </a:solidFill>
                          <a:latin typeface="Cambria"/>
                        </a:rPr>
                        <a:t>Difference from DeepShield</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822960">
                <a:tc>
                  <a:txBody>
                    <a:bodyPr wrap="square"/>
                    <a:lstStyle/>
                    <a:p>
                      <a:pPr latinLnBrk="0"/>
                      <a:r>
                        <a:rPr lang="en-US" sz="1300" b="0" i="0">
                          <a:solidFill>
                            <a:srgbClr val="000000"/>
                          </a:solidFill>
                          <a:latin typeface="Cambria"/>
                        </a:rPr>
                        <a:t>Single-channel spectrogram CNN detectors (US 12,462,813 B1, cited by the inventors)*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DeepShield fuses Mel + MFCC into one 2 × 64 × 94 input and adds attribution, uncertainty and novelty heads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822960">
                <a:tc>
                  <a:txBody>
                    <a:bodyPr wrap="square"/>
                    <a:lstStyle/>
                    <a:p>
                      <a:pPr latinLnBrk="0"/>
                      <a:r>
                        <a:rPr lang="en-US" sz="1300" b="0" i="0">
                          <a:solidFill>
                            <a:srgbClr val="000000"/>
                          </a:solidFill>
                          <a:latin typeface="Cambria"/>
                        </a:rPr>
                        <a:t>Static single-threshold binary classifiers (US 12,592,239 B2, cited by the inventors)*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DeepShield routes on spoof score, uncertainty and novelty together, with a budgeted human-review lane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822960">
                <a:tc>
                  <a:txBody>
                    <a:bodyPr wrap="square"/>
                    <a:lstStyle/>
                    <a:p>
                      <a:pPr latinLnBrk="0"/>
                      <a:r>
                        <a:rPr lang="en-US" sz="1300" b="0" i="0">
                          <a:solidFill>
                            <a:srgbClr val="000000"/>
                          </a:solidFill>
                          <a:latin typeface="Cambria"/>
                        </a:rPr>
                        <a:t>Closed-set generator classifiers (ASVspoof 2019 LA challenge systems)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DeepShield adds a novelty score fitted on authentic speech only and an Unknown-pattern route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822960">
                <a:tc>
                  <a:txBody>
                    <a:bodyPr wrap="square"/>
                    <a:lstStyle/>
                    <a:p>
                      <a:pPr latinLnBrk="0"/>
                      <a:r>
                        <a:rPr lang="en-US" sz="1300" b="0" i="0">
                          <a:solidFill>
                            <a:srgbClr val="000000"/>
                          </a:solidFill>
                          <a:latin typeface="Cambria"/>
                        </a:rPr>
                        <a:t>Selective classification / reject option (Geifman &amp; El-Yaniv, 2017)</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DeepShield’s review decision uses head signals beyond the classifier’s own confidence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822960">
                <a:tc>
                  <a:txBody>
                    <a:bodyPr wrap="square"/>
                    <a:lstStyle/>
                    <a:p>
                      <a:pPr latinLnBrk="0"/>
                      <a:r>
                        <a:rPr lang="en-US" sz="1300" b="0" i="0">
                          <a:solidFill>
                            <a:srgbClr val="000000"/>
                          </a:solidFill>
                          <a:latin typeface="Cambria"/>
                        </a:rPr>
                        <a:t>Generic Grad-CAM / SHAP saliency (Selvaraju et al., 2017; Lundberg &amp; Lee, 2017)</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DeepShield adds a deterministic rationale and proposes a Mel-vs-MFCC disagreement map</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bl>
          </a:graphicData>
        </a:graphic>
      </p:graphicFrame>
      <p:sp>
        <p:nvSpPr>
          <p:cNvPr id="4" name="TextBox 3"/>
          <p:cNvSpPr txBox="1"/>
          <p:nvPr/>
        </p:nvSpPr>
        <p:spPr>
          <a:xfrm>
            <a:off x="320040" y="5989320"/>
            <a:ext cx="11521440" cy="640080"/>
          </a:xfrm>
          <a:prstGeom prst="rect">
            <a:avLst/>
          </a:prstGeom>
          <a:noFill/>
        </p:spPr>
        <p:txBody>
          <a:bodyPr wrap="square" anchor="t" lIns="36576" rIns="36576" tIns="36576" bIns="36576">
            <a:spAutoFit/>
          </a:bodyPr>
          <a:lstStyle/>
          <a:p>
            <a:pPr algn="l" latinLnBrk="0">
              <a:spcAft>
                <a:spcPts val="400"/>
              </a:spcAft>
            </a:pPr>
            <a:r>
              <a:rPr lang="en-US" sz="1200" b="0" i="0">
                <a:solidFill>
                  <a:srgbClr val="C00000"/>
                </a:solidFill>
                <a:latin typeface="Cambria"/>
              </a:rPr>
              <a:t>* Patent numbers as cited in the inventors’ draft; not independently verified. To be confirmed by the patent team’s search.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Difference from Closest Prior Art</a:t>
            </a:r>
          </a:p>
        </p:txBody>
      </p:sp>
      <p:graphicFrame>
        <p:nvGraphicFramePr>
          <p:cNvPr id="3" name="Table 2"/>
          <p:cNvGraphicFramePr>
            <a:graphicFrameLocks noGrp="1"/>
          </p:cNvGraphicFramePr>
          <p:nvPr/>
        </p:nvGraphicFramePr>
        <p:xfrm>
          <a:off x="274320" y="868680"/>
          <a:ext cx="11612880" cy="3749040"/>
        </p:xfrm>
        <a:graphic>
          <a:graphicData uri="http://schemas.openxmlformats.org/drawingml/2006/table">
            <a:tbl>
              <a:tblPr firstRow="0" bandRow="0">
                <a:tableStyleId>{5940675A-B579-460E-94D1-54222C63F5DA}</a:tableStyleId>
              </a:tblPr>
              <a:tblGrid>
                <a:gridCol w="2286000"/>
                <a:gridCol w="4937760"/>
                <a:gridCol w="4389120"/>
              </a:tblGrid>
              <a:tr h="457200">
                <a:tc>
                  <a:txBody>
                    <a:bodyPr wrap="square"/>
                    <a:lstStyle/>
                    <a:p>
                      <a:pPr latinLnBrk="0"/>
                      <a:r>
                        <a:rPr lang="en-US" sz="1300" b="1" i="0">
                          <a:solidFill>
                            <a:srgbClr val="000000"/>
                          </a:solidFill>
                          <a:latin typeface="Cambria"/>
                        </a:rPr>
                        <a:t>Feature</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1" i="0">
                          <a:solidFill>
                            <a:srgbClr val="000000"/>
                          </a:solidFill>
                          <a:latin typeface="Cambria"/>
                        </a:rPr>
                        <a:t>Proposed (DeepShield)</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1" i="0">
                          <a:solidFill>
                            <a:srgbClr val="000000"/>
                          </a:solidFill>
                          <a:latin typeface="Cambria"/>
                        </a:rPr>
                        <a:t>Prior art</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658368">
                <a:tc>
                  <a:txBody>
                    <a:bodyPr wrap="square"/>
                    <a:lstStyle/>
                    <a:p>
                      <a:pPr latinLnBrk="0"/>
                      <a:r>
                        <a:rPr lang="en-US" sz="1300" b="0" i="0">
                          <a:solidFill>
                            <a:srgbClr val="000000"/>
                          </a:solidFill>
                          <a:latin typeface="Cambria"/>
                        </a:rPr>
                        <a:t>Output</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Spoof score + attack family + uncertainty + novelty from one shared embedding</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Single real/fake probability</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658368">
                <a:tc>
                  <a:txBody>
                    <a:bodyPr wrap="square"/>
                    <a:lstStyle/>
                    <a:p>
                      <a:pPr latinLnBrk="0"/>
                      <a:r>
                        <a:rPr lang="en-US" sz="1300" b="0" i="0">
                          <a:solidFill>
                            <a:srgbClr val="000000"/>
                          </a:solidFill>
                          <a:latin typeface="Cambria"/>
                        </a:rPr>
                        <a:t>Unseen generators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Novelty and uncertainty can divert doubtful inputs to review</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Closed set; often silently classified as real</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658368">
                <a:tc>
                  <a:txBody>
                    <a:bodyPr wrap="square"/>
                    <a:lstStyle/>
                    <a:p>
                      <a:pPr latinLnBrk="0"/>
                      <a:r>
                        <a:rPr lang="en-US" sz="1300" b="0" i="0">
                          <a:solidFill>
                            <a:srgbClr val="000000"/>
                          </a:solidFill>
                          <a:latin typeface="Cambria"/>
                        </a:rPr>
                        <a:t>Decision routing</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Joint function of three signals; novelty checked first; review budget calibrated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Fixed threshold on one score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658368">
                <a:tc>
                  <a:txBody>
                    <a:bodyPr wrap="square"/>
                    <a:lstStyle/>
                    <a:p>
                      <a:pPr latinLnBrk="0"/>
                      <a:r>
                        <a:rPr lang="en-US" sz="1300" b="0" i="0">
                          <a:solidFill>
                            <a:srgbClr val="000000"/>
                          </a:solidFill>
                          <a:latin typeface="Cambria"/>
                        </a:rPr>
                        <a:t>Workload control</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Genuine review rate set in advance (≤15% on validation)</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Not addressed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658368">
                <a:tc>
                  <a:txBody>
                    <a:bodyPr wrap="square"/>
                    <a:lstStyle/>
                    <a:p>
                      <a:pPr latinLnBrk="0"/>
                      <a:r>
                        <a:rPr lang="en-US" sz="1300" b="0" i="0">
                          <a:solidFill>
                            <a:srgbClr val="000000"/>
                          </a:solidFill>
                          <a:latin typeface="Cambria"/>
                        </a:rPr>
                        <a:t>Explainability</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Deterministic rationale; per-channel disagreement map (proposed)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300" b="0" i="0">
                          <a:solidFill>
                            <a:srgbClr val="000000"/>
                          </a:solidFill>
                          <a:latin typeface="Cambria"/>
                        </a:rPr>
                        <a:t>Generic saliency, or none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bl>
          </a:graphicData>
        </a:graphic>
      </p:graphicFrame>
      <p:sp>
        <p:nvSpPr>
          <p:cNvPr id="4" name="TextBox 3"/>
          <p:cNvSpPr txBox="1"/>
          <p:nvPr/>
        </p:nvSpPr>
        <p:spPr>
          <a:xfrm>
            <a:off x="320040" y="5120640"/>
            <a:ext cx="11521440" cy="1463040"/>
          </a:xfrm>
          <a:prstGeom prst="rect">
            <a:avLst/>
          </a:prstGeom>
          <a:noFill/>
        </p:spPr>
        <p:txBody>
          <a:bodyPr wrap="square" anchor="t" lIns="36576" rIns="36576" tIns="36576" bIns="36576">
            <a:spAutoFit/>
          </a:bodyPr>
          <a:lstStyle/>
          <a:p>
            <a:pPr algn="l" latinLnBrk="0">
              <a:spcAft>
                <a:spcPts val="400"/>
              </a:spcAft>
            </a:pPr>
            <a:r>
              <a:rPr lang="en-US" sz="1400" b="1" i="0">
                <a:solidFill>
                  <a:srgbClr val="000000"/>
                </a:solidFill>
                <a:latin typeface="Cambria"/>
              </a:rPr>
              <a:t>Summary of deficiencies in prior approaches</a:t>
            </a:r>
          </a:p>
          <a:p>
            <a:pPr algn="l" latinLnBrk="0">
              <a:spcAft>
                <a:spcPts val="400"/>
              </a:spcAft>
            </a:pPr>
            <a:r>
              <a:rPr lang="en-US" sz="1300" b="0" i="0">
                <a:solidFill>
                  <a:srgbClr val="000000"/>
                </a:solidFill>
                <a:latin typeface="Cambria"/>
              </a:rPr>
              <a:t>A bare real/fake score fails silently on unseen generators and degraded audio, gives no usable confidence, no workload control and no specific explanation. DeepShield addresses each of these structurally; the size of the gain attributable to the extra heads is still being established.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38328" y="3017520"/>
            <a:ext cx="11521440" cy="822960"/>
          </a:xfrm>
          <a:prstGeom prst="rect">
            <a:avLst/>
          </a:prstGeom>
          <a:noFill/>
        </p:spPr>
        <p:txBody>
          <a:bodyPr wrap="square" anchor="t" lIns="36576" rIns="36576" tIns="36576" bIns="36576">
            <a:spAutoFit/>
          </a:bodyPr>
          <a:lstStyle/>
          <a:p>
            <a:pPr algn="l" latinLnBrk="0">
              <a:spcAft>
                <a:spcPts val="400"/>
              </a:spcAft>
            </a:pPr>
            <a:r>
              <a:rPr lang="en-US" sz="3200" b="1" i="0">
                <a:solidFill>
                  <a:srgbClr val="000000"/>
                </a:solidFill>
                <a:latin typeface="Cambria"/>
              </a:rPr>
              <a:t>System Architecture &amp; Module Description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6. Systems and Methods: End-to-End Pipeline</a:t>
            </a:r>
          </a:p>
        </p:txBody>
      </p:sp>
      <p:sp>
        <p:nvSpPr>
          <p:cNvPr id="3" name="Oval 2"/>
          <p:cNvSpPr/>
          <p:nvPr/>
        </p:nvSpPr>
        <p:spPr>
          <a:xfrm>
            <a:off x="9326880" y="310896"/>
            <a:ext cx="201168" cy="201168"/>
          </a:xfrm>
          <a:prstGeom prst="ellipse">
            <a:avLst/>
          </a:prstGeom>
          <a:solidFill>
            <a:srgbClr val="FDECEC"/>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0" y="256031"/>
            <a:ext cx="914400" cy="320040"/>
          </a:xfrm>
          <a:prstGeom prst="rect">
            <a:avLst/>
          </a:prstGeom>
          <a:noFill/>
        </p:spPr>
        <p:txBody>
          <a:bodyPr wrap="square" anchor="t" lIns="36576" rIns="36576" tIns="36576" bIns="36576">
            <a:spAutoFit/>
          </a:bodyPr>
          <a:lstStyle/>
          <a:p>
            <a:pPr algn="l" latinLnBrk="0">
              <a:spcAft>
                <a:spcPts val="400"/>
              </a:spcAft>
            </a:pPr>
            <a:r>
              <a:rPr lang="en-US" sz="1200" b="0" i="0">
                <a:solidFill>
                  <a:srgbClr val="C00000"/>
                </a:solidFill>
                <a:latin typeface="Cambria"/>
              </a:rPr>
              <a:t>Novel block</a:t>
            </a:r>
          </a:p>
        </p:txBody>
      </p:sp>
      <p:sp>
        <p:nvSpPr>
          <p:cNvPr id="5" name="Oval 4"/>
          <p:cNvSpPr/>
          <p:nvPr/>
        </p:nvSpPr>
        <p:spPr>
          <a:xfrm>
            <a:off x="10652759" y="310896"/>
            <a:ext cx="201168" cy="201168"/>
          </a:xfrm>
          <a:prstGeom prst="ellipse">
            <a:avLst/>
          </a:prstGeom>
          <a:solidFill>
            <a:srgbClr val="E8EEF7"/>
          </a:solidFill>
          <a:ln w="12700">
            <a:solidFill>
              <a:srgbClr val="2F528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927080" y="256031"/>
            <a:ext cx="1097280" cy="320040"/>
          </a:xfrm>
          <a:prstGeom prst="rect">
            <a:avLst/>
          </a:prstGeom>
          <a:noFill/>
        </p:spPr>
        <p:txBody>
          <a:bodyPr wrap="square" anchor="t" lIns="36576" rIns="36576" tIns="36576" bIns="36576">
            <a:spAutoFit/>
          </a:bodyPr>
          <a:lstStyle/>
          <a:p>
            <a:pPr algn="l" latinLnBrk="0">
              <a:spcAft>
                <a:spcPts val="400"/>
              </a:spcAft>
            </a:pPr>
            <a:r>
              <a:rPr lang="en-US" sz="1200" b="0" i="0">
                <a:solidFill>
                  <a:srgbClr val="000000"/>
                </a:solidFill>
                <a:latin typeface="Cambria"/>
              </a:rPr>
              <a:t>Established</a:t>
            </a:r>
          </a:p>
        </p:txBody>
      </p:sp>
      <p:sp>
        <p:nvSpPr>
          <p:cNvPr id="7" name="Rounded Rectangle 6"/>
          <p:cNvSpPr/>
          <p:nvPr/>
        </p:nvSpPr>
        <p:spPr>
          <a:xfrm>
            <a:off x="320040" y="1143000"/>
            <a:ext cx="1691640" cy="868680"/>
          </a:xfrm>
          <a:prstGeom prst="roundRect">
            <a:avLst>
              <a:gd name="adj" fmla="val 12000"/>
            </a:avLst>
          </a:prstGeom>
          <a:solidFill>
            <a:srgbClr val="E8EEF7"/>
          </a:solidFill>
          <a:ln w="12700">
            <a:solidFill>
              <a:srgbClr val="2F52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200" b="1" i="0">
                <a:solidFill>
                  <a:srgbClr val="000000"/>
                </a:solidFill>
                <a:latin typeface="Cambria"/>
              </a:rPr>
              <a:t>Audio input</a:t>
            </a:r>
          </a:p>
          <a:p>
            <a:pPr algn="ctr" latinLnBrk="0"/>
            <a:r>
              <a:rPr lang="en-US" sz="1000" b="0" i="0">
                <a:solidFill>
                  <a:srgbClr val="595959"/>
                </a:solidFill>
                <a:latin typeface="Cambria"/>
              </a:rPr>
              <a:t>any format → 16 kHz</a:t>
            </a:r>
          </a:p>
        </p:txBody>
      </p:sp>
      <p:cxnSp>
        <p:nvCxnSpPr>
          <p:cNvPr id="8" name="Connector 7"/>
          <p:cNvCxnSpPr/>
          <p:nvPr/>
        </p:nvCxnSpPr>
        <p:spPr>
          <a:xfrm>
            <a:off x="2011680" y="1572768"/>
            <a:ext cx="246888"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258568" y="1143000"/>
            <a:ext cx="1691640" cy="868680"/>
          </a:xfrm>
          <a:prstGeom prst="roundRect">
            <a:avLst>
              <a:gd name="adj" fmla="val 12000"/>
            </a:avLst>
          </a:prstGeom>
          <a:solidFill>
            <a:srgbClr val="E8EEF7"/>
          </a:solidFill>
          <a:ln w="12700">
            <a:solidFill>
              <a:srgbClr val="2F52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200" b="1" i="0">
                <a:solidFill>
                  <a:srgbClr val="000000"/>
                </a:solidFill>
                <a:latin typeface="Cambria"/>
              </a:rPr>
              <a:t>Windowing</a:t>
            </a:r>
          </a:p>
          <a:p>
            <a:pPr algn="ctr" latinLnBrk="0"/>
            <a:r>
              <a:rPr lang="en-US" sz="1000" b="0" i="0">
                <a:solidFill>
                  <a:srgbClr val="595959"/>
                </a:solidFill>
                <a:latin typeface="Cambria"/>
              </a:rPr>
              <a:t>3-s windows, up to 12 per clip</a:t>
            </a:r>
          </a:p>
        </p:txBody>
      </p:sp>
      <p:cxnSp>
        <p:nvCxnSpPr>
          <p:cNvPr id="10" name="Connector 9"/>
          <p:cNvCxnSpPr/>
          <p:nvPr/>
        </p:nvCxnSpPr>
        <p:spPr>
          <a:xfrm>
            <a:off x="3950208" y="1572768"/>
            <a:ext cx="246888"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197096" y="1143000"/>
            <a:ext cx="1691640" cy="868680"/>
          </a:xfrm>
          <a:prstGeom prst="roundRect">
            <a:avLst>
              <a:gd name="adj" fmla="val 12000"/>
            </a:avLst>
          </a:prstGeom>
          <a:solidFill>
            <a:srgbClr val="E8EEF7"/>
          </a:solidFill>
          <a:ln w="12700">
            <a:solidFill>
              <a:srgbClr val="2F52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200" b="1" i="0">
                <a:solidFill>
                  <a:srgbClr val="000000"/>
                </a:solidFill>
                <a:latin typeface="Cambria"/>
              </a:rPr>
              <a:t>Augmentation</a:t>
            </a:r>
          </a:p>
          <a:p>
            <a:pPr algn="ctr" latinLnBrk="0"/>
            <a:r>
              <a:rPr lang="en-US" sz="1000" b="0" i="0">
                <a:solidFill>
                  <a:srgbClr val="595959"/>
                </a:solidFill>
                <a:latin typeface="Cambria"/>
              </a:rPr>
              <a:t>training only</a:t>
            </a:r>
          </a:p>
        </p:txBody>
      </p:sp>
      <p:cxnSp>
        <p:nvCxnSpPr>
          <p:cNvPr id="12" name="Connector 11"/>
          <p:cNvCxnSpPr/>
          <p:nvPr/>
        </p:nvCxnSpPr>
        <p:spPr>
          <a:xfrm>
            <a:off x="5888736" y="1572768"/>
            <a:ext cx="246887"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135624" y="1143000"/>
            <a:ext cx="1691640" cy="868680"/>
          </a:xfrm>
          <a:prstGeom prst="roundRect">
            <a:avLst>
              <a:gd name="adj" fmla="val 12000"/>
            </a:avLst>
          </a:prstGeom>
          <a:solidFill>
            <a:srgbClr val="E8EEF7"/>
          </a:solidFill>
          <a:ln w="12700">
            <a:solidFill>
              <a:srgbClr val="2F52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200" b="1" i="0">
                <a:solidFill>
                  <a:srgbClr val="000000"/>
                </a:solidFill>
                <a:latin typeface="Cambria"/>
              </a:rPr>
              <a:t>Dual-channel grid</a:t>
            </a:r>
          </a:p>
          <a:p>
            <a:pPr algn="ctr" latinLnBrk="0"/>
            <a:r>
              <a:rPr lang="en-US" sz="1000" b="0" i="0">
                <a:solidFill>
                  <a:srgbClr val="595959"/>
                </a:solidFill>
                <a:latin typeface="Cambria"/>
              </a:rPr>
              <a:t>Mel + MFCC, 2×64×94</a:t>
            </a:r>
          </a:p>
        </p:txBody>
      </p:sp>
      <p:cxnSp>
        <p:nvCxnSpPr>
          <p:cNvPr id="14" name="Connector 13"/>
          <p:cNvCxnSpPr/>
          <p:nvPr/>
        </p:nvCxnSpPr>
        <p:spPr>
          <a:xfrm>
            <a:off x="7827264" y="1572768"/>
            <a:ext cx="246888"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074152" y="1143000"/>
            <a:ext cx="1691640" cy="868680"/>
          </a:xfrm>
          <a:prstGeom prst="roundRect">
            <a:avLst>
              <a:gd name="adj" fmla="val 12000"/>
            </a:avLst>
          </a:prstGeom>
          <a:solidFill>
            <a:srgbClr val="E8EEF7"/>
          </a:solidFill>
          <a:ln w="12700">
            <a:solidFill>
              <a:srgbClr val="2F52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200" b="1" i="0">
                <a:solidFill>
                  <a:srgbClr val="000000"/>
                </a:solidFill>
                <a:latin typeface="Cambria"/>
              </a:rPr>
              <a:t>Residual CNN + SE</a:t>
            </a:r>
          </a:p>
          <a:p>
            <a:pPr algn="ctr" latinLnBrk="0"/>
            <a:r>
              <a:rPr lang="en-US" sz="1000" b="0" i="0">
                <a:solidFill>
                  <a:srgbClr val="595959"/>
                </a:solidFill>
                <a:latin typeface="Cambria"/>
              </a:rPr>
              <a:t>341K parameters</a:t>
            </a:r>
          </a:p>
        </p:txBody>
      </p:sp>
      <p:cxnSp>
        <p:nvCxnSpPr>
          <p:cNvPr id="16" name="Connector 15"/>
          <p:cNvCxnSpPr/>
          <p:nvPr/>
        </p:nvCxnSpPr>
        <p:spPr>
          <a:xfrm>
            <a:off x="9765792" y="1572768"/>
            <a:ext cx="246888"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0012680" y="1143000"/>
            <a:ext cx="1691640" cy="868680"/>
          </a:xfrm>
          <a:prstGeom prst="roundRect">
            <a:avLst>
              <a:gd name="adj" fmla="val 12000"/>
            </a:avLst>
          </a:prstGeom>
          <a:solidFill>
            <a:srgbClr val="E8EEF7"/>
          </a:solidFill>
          <a:ln w="12700">
            <a:solidFill>
              <a:srgbClr val="2F52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200" b="1" i="0">
                <a:solidFill>
                  <a:srgbClr val="000000"/>
                </a:solidFill>
                <a:latin typeface="Cambria"/>
              </a:rPr>
              <a:t>Shared embedding</a:t>
            </a:r>
          </a:p>
          <a:p>
            <a:pPr algn="ctr" latinLnBrk="0"/>
            <a:r>
              <a:rPr lang="en-US" sz="1000" b="0" i="0">
                <a:solidFill>
                  <a:srgbClr val="595959"/>
                </a:solidFill>
                <a:latin typeface="Cambria"/>
              </a:rPr>
              <a:t>128-d</a:t>
            </a:r>
          </a:p>
        </p:txBody>
      </p:sp>
      <p:cxnSp>
        <p:nvCxnSpPr>
          <p:cNvPr id="18" name="Connector 17"/>
          <p:cNvCxnSpPr/>
          <p:nvPr/>
        </p:nvCxnSpPr>
        <p:spPr>
          <a:xfrm>
            <a:off x="10858500" y="2011680"/>
            <a:ext cx="0" cy="32004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011680" y="2331720"/>
            <a:ext cx="8846820" cy="0"/>
          </a:xfrm>
          <a:prstGeom prst="line">
            <a:avLst/>
          </a:prstGeom>
          <a:ln>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011680" y="2331720"/>
            <a:ext cx="0" cy="36576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22960" y="2697480"/>
            <a:ext cx="2377440" cy="777240"/>
          </a:xfrm>
          <a:prstGeom prst="roundRect">
            <a:avLst>
              <a:gd name="adj" fmla="val 12000"/>
            </a:avLst>
          </a:prstGeom>
          <a:solidFill>
            <a:srgbClr val="FDECEC"/>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200" b="1" i="0">
                <a:solidFill>
                  <a:srgbClr val="C00000"/>
                </a:solidFill>
                <a:latin typeface="Cambria"/>
              </a:rPr>
              <a:t>Spoof score</a:t>
            </a:r>
          </a:p>
          <a:p>
            <a:pPr algn="ctr" latinLnBrk="0"/>
            <a:r>
              <a:rPr lang="en-US" sz="1000" b="0" i="0">
                <a:solidFill>
                  <a:srgbClr val="595959"/>
                </a:solidFill>
                <a:latin typeface="Cambria"/>
              </a:rPr>
              <a:t>P(fake)</a:t>
            </a:r>
          </a:p>
        </p:txBody>
      </p:sp>
      <p:cxnSp>
        <p:nvCxnSpPr>
          <p:cNvPr id="22" name="Connector 21"/>
          <p:cNvCxnSpPr/>
          <p:nvPr/>
        </p:nvCxnSpPr>
        <p:spPr>
          <a:xfrm>
            <a:off x="4709160" y="2331720"/>
            <a:ext cx="0" cy="36576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520440" y="2697480"/>
            <a:ext cx="2377440" cy="777240"/>
          </a:xfrm>
          <a:prstGeom prst="roundRect">
            <a:avLst>
              <a:gd name="adj" fmla="val 12000"/>
            </a:avLst>
          </a:prstGeom>
          <a:solidFill>
            <a:srgbClr val="FDECEC"/>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200" b="1" i="0">
                <a:solidFill>
                  <a:srgbClr val="C00000"/>
                </a:solidFill>
                <a:latin typeface="Cambria"/>
              </a:rPr>
              <a:t>Attack-type</a:t>
            </a:r>
          </a:p>
          <a:p>
            <a:pPr algn="ctr" latinLnBrk="0"/>
            <a:r>
              <a:rPr lang="en-US" sz="1000" b="0" i="0">
                <a:solidFill>
                  <a:srgbClr val="595959"/>
                </a:solidFill>
                <a:latin typeface="Cambria"/>
              </a:rPr>
              <a:t>5 families</a:t>
            </a:r>
          </a:p>
        </p:txBody>
      </p:sp>
      <p:cxnSp>
        <p:nvCxnSpPr>
          <p:cNvPr id="24" name="Connector 23"/>
          <p:cNvCxnSpPr/>
          <p:nvPr/>
        </p:nvCxnSpPr>
        <p:spPr>
          <a:xfrm>
            <a:off x="7406640" y="2331720"/>
            <a:ext cx="0" cy="36576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217920" y="2697480"/>
            <a:ext cx="2377440" cy="777240"/>
          </a:xfrm>
          <a:prstGeom prst="roundRect">
            <a:avLst>
              <a:gd name="adj" fmla="val 12000"/>
            </a:avLst>
          </a:prstGeom>
          <a:solidFill>
            <a:srgbClr val="FDECEC"/>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200" b="1" i="0">
                <a:solidFill>
                  <a:srgbClr val="C00000"/>
                </a:solidFill>
                <a:latin typeface="Cambria"/>
              </a:rPr>
              <a:t>Uncertainty</a:t>
            </a:r>
          </a:p>
          <a:p>
            <a:pPr algn="ctr" latinLnBrk="0"/>
            <a:r>
              <a:rPr lang="en-US" sz="1000" b="0" i="0">
                <a:solidFill>
                  <a:srgbClr val="595959"/>
                </a:solidFill>
                <a:latin typeface="Cambria"/>
              </a:rPr>
              <a:t>MC-dropout, N passes</a:t>
            </a:r>
          </a:p>
        </p:txBody>
      </p:sp>
      <p:cxnSp>
        <p:nvCxnSpPr>
          <p:cNvPr id="26" name="Connector 25"/>
          <p:cNvCxnSpPr/>
          <p:nvPr/>
        </p:nvCxnSpPr>
        <p:spPr>
          <a:xfrm>
            <a:off x="10104120" y="2331720"/>
            <a:ext cx="0" cy="36576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915400" y="2697480"/>
            <a:ext cx="2377440" cy="777240"/>
          </a:xfrm>
          <a:prstGeom prst="roundRect">
            <a:avLst>
              <a:gd name="adj" fmla="val 12000"/>
            </a:avLst>
          </a:prstGeom>
          <a:solidFill>
            <a:srgbClr val="FDECEC"/>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200" b="1" i="0">
                <a:solidFill>
                  <a:srgbClr val="C00000"/>
                </a:solidFill>
                <a:latin typeface="Cambria"/>
              </a:rPr>
              <a:t>Novelty</a:t>
            </a:r>
          </a:p>
          <a:p>
            <a:pPr algn="ctr" latinLnBrk="0"/>
            <a:r>
              <a:rPr lang="en-US" sz="1000" b="0" i="0">
                <a:solidFill>
                  <a:srgbClr val="595959"/>
                </a:solidFill>
                <a:latin typeface="Cambria"/>
              </a:rPr>
              <a:t>Mahalanobis, genuine-only</a:t>
            </a:r>
          </a:p>
        </p:txBody>
      </p:sp>
      <p:sp>
        <p:nvSpPr>
          <p:cNvPr id="28" name="Rounded Rectangle 27"/>
          <p:cNvSpPr/>
          <p:nvPr/>
        </p:nvSpPr>
        <p:spPr>
          <a:xfrm>
            <a:off x="2880360" y="4069080"/>
            <a:ext cx="5120640" cy="868680"/>
          </a:xfrm>
          <a:prstGeom prst="roundRect">
            <a:avLst>
              <a:gd name="adj" fmla="val 12000"/>
            </a:avLst>
          </a:prstGeom>
          <a:solidFill>
            <a:srgbClr val="FDECEC"/>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300" b="1" i="0">
                <a:solidFill>
                  <a:srgbClr val="C00000"/>
                </a:solidFill>
                <a:latin typeface="Cambria"/>
              </a:rPr>
              <a:t>Risk-aware gateway</a:t>
            </a:r>
          </a:p>
          <a:p>
            <a:pPr algn="ctr" latinLnBrk="0"/>
            <a:r>
              <a:rPr lang="en-US" sz="1100" b="0" i="0">
                <a:solidFill>
                  <a:srgbClr val="595959"/>
                </a:solidFill>
                <a:latin typeface="Cambria"/>
              </a:rPr>
              <a:t>joint routing · novelty → uncertainty → bands · review budget</a:t>
            </a:r>
          </a:p>
        </p:txBody>
      </p:sp>
      <p:cxnSp>
        <p:nvCxnSpPr>
          <p:cNvPr id="29" name="Connector 28"/>
          <p:cNvCxnSpPr/>
          <p:nvPr/>
        </p:nvCxnSpPr>
        <p:spPr>
          <a:xfrm>
            <a:off x="2011680" y="3474720"/>
            <a:ext cx="1508759" cy="59436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709160" y="3474720"/>
            <a:ext cx="91440" cy="59436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6080760" y="3474720"/>
            <a:ext cx="1325880" cy="59436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7360919" y="3474720"/>
            <a:ext cx="2743201" cy="59436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822960" y="5440680"/>
            <a:ext cx="2011680" cy="548640"/>
          </a:xfrm>
          <a:prstGeom prst="roundRect">
            <a:avLst>
              <a:gd name="adj" fmla="val 12000"/>
            </a:avLst>
          </a:prstGeom>
          <a:solidFill>
            <a:srgbClr val="FFFFFF"/>
          </a:solidFill>
          <a:ln w="22225">
            <a:solidFill>
              <a:srgbClr val="0E7A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r>
              <a:rPr lang="en-US" sz="1300" b="1" i="0">
                <a:solidFill>
                  <a:srgbClr val="0E7A4F"/>
                </a:solidFill>
                <a:latin typeface="Cambria"/>
              </a:rPr>
              <a:t>Pass</a:t>
            </a:r>
          </a:p>
        </p:txBody>
      </p:sp>
      <p:cxnSp>
        <p:nvCxnSpPr>
          <p:cNvPr id="34" name="Connector 33"/>
          <p:cNvCxnSpPr/>
          <p:nvPr/>
        </p:nvCxnSpPr>
        <p:spPr>
          <a:xfrm flipH="1">
            <a:off x="1828800" y="4937760"/>
            <a:ext cx="1691639" cy="50292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3063240" y="5440680"/>
            <a:ext cx="2011680" cy="548640"/>
          </a:xfrm>
          <a:prstGeom prst="roundRect">
            <a:avLst>
              <a:gd name="adj" fmla="val 12000"/>
            </a:avLst>
          </a:prstGeom>
          <a:solidFill>
            <a:srgbClr val="FFFFFF"/>
          </a:solidFill>
          <a:ln w="22225">
            <a:solidFill>
              <a:srgbClr val="B26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r>
              <a:rPr lang="en-US" sz="1300" b="1" i="0">
                <a:solidFill>
                  <a:srgbClr val="B26B00"/>
                </a:solidFill>
                <a:latin typeface="Cambria"/>
              </a:rPr>
              <a:t>Human review</a:t>
            </a:r>
          </a:p>
        </p:txBody>
      </p:sp>
      <p:cxnSp>
        <p:nvCxnSpPr>
          <p:cNvPr id="36" name="Connector 35"/>
          <p:cNvCxnSpPr/>
          <p:nvPr/>
        </p:nvCxnSpPr>
        <p:spPr>
          <a:xfrm flipH="1">
            <a:off x="4069080" y="4937760"/>
            <a:ext cx="731520" cy="50292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5303520" y="5440680"/>
            <a:ext cx="2011680" cy="548640"/>
          </a:xfrm>
          <a:prstGeom prst="roundRect">
            <a:avLst>
              <a:gd name="adj" fmla="val 12000"/>
            </a:avLst>
          </a:prstGeom>
          <a:solidFill>
            <a:srgbClr val="FFFFFF"/>
          </a:solidFill>
          <a:ln w="22225">
            <a:solidFill>
              <a:srgbClr val="B26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r>
              <a:rPr lang="en-US" sz="1300" b="1" i="0">
                <a:solidFill>
                  <a:srgbClr val="B26B00"/>
                </a:solidFill>
                <a:latin typeface="Cambria"/>
              </a:rPr>
              <a:t>Unknown pattern</a:t>
            </a:r>
          </a:p>
        </p:txBody>
      </p:sp>
      <p:cxnSp>
        <p:nvCxnSpPr>
          <p:cNvPr id="38" name="Connector 37"/>
          <p:cNvCxnSpPr/>
          <p:nvPr/>
        </p:nvCxnSpPr>
        <p:spPr>
          <a:xfrm>
            <a:off x="6080760" y="4937760"/>
            <a:ext cx="228600" cy="50292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7543800" y="5440680"/>
            <a:ext cx="2011680" cy="548640"/>
          </a:xfrm>
          <a:prstGeom prst="roundRect">
            <a:avLst>
              <a:gd name="adj" fmla="val 12000"/>
            </a:avLst>
          </a:prstGeom>
          <a:solidFill>
            <a:srgbClr val="FFFFFF"/>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latinLnBrk="0"/>
            <a:r>
              <a:rPr lang="en-US" sz="1300" b="1" i="0">
                <a:solidFill>
                  <a:srgbClr val="C00000"/>
                </a:solidFill>
                <a:latin typeface="Cambria"/>
              </a:rPr>
              <a:t>Block</a:t>
            </a:r>
          </a:p>
        </p:txBody>
      </p:sp>
      <p:cxnSp>
        <p:nvCxnSpPr>
          <p:cNvPr id="40" name="Connector 39"/>
          <p:cNvCxnSpPr/>
          <p:nvPr/>
        </p:nvCxnSpPr>
        <p:spPr>
          <a:xfrm>
            <a:off x="7360919" y="4937760"/>
            <a:ext cx="1188721" cy="50292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8641080" y="4069080"/>
            <a:ext cx="3200400" cy="868680"/>
          </a:xfrm>
          <a:prstGeom prst="roundRect">
            <a:avLst>
              <a:gd name="adj" fmla="val 12000"/>
            </a:avLst>
          </a:prstGeom>
          <a:solidFill>
            <a:srgbClr val="FDECEC"/>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200" b="1" i="0">
                <a:solidFill>
                  <a:srgbClr val="C00000"/>
                </a:solidFill>
                <a:latin typeface="Cambria"/>
              </a:rPr>
              <a:t>Explanation layer</a:t>
            </a:r>
          </a:p>
          <a:p>
            <a:pPr algn="ctr" latinLnBrk="0"/>
            <a:r>
              <a:rPr lang="en-US" sz="1000" b="0" i="0">
                <a:solidFill>
                  <a:srgbClr val="595959"/>
                </a:solidFill>
                <a:latin typeface="Cambria"/>
              </a:rPr>
              <a:t>rationale (+ per-channel CAM*)</a:t>
            </a:r>
          </a:p>
        </p:txBody>
      </p:sp>
      <p:cxnSp>
        <p:nvCxnSpPr>
          <p:cNvPr id="42" name="Connector 41"/>
          <p:cNvCxnSpPr/>
          <p:nvPr/>
        </p:nvCxnSpPr>
        <p:spPr>
          <a:xfrm>
            <a:off x="8001000" y="4498848"/>
            <a:ext cx="640080"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829800" y="5440680"/>
            <a:ext cx="2011680" cy="548640"/>
          </a:xfrm>
          <a:prstGeom prst="roundRect">
            <a:avLst>
              <a:gd name="adj" fmla="val 12000"/>
            </a:avLst>
          </a:prstGeom>
          <a:solidFill>
            <a:srgbClr val="FFFFFF"/>
          </a:solidFill>
          <a:ln w="12700">
            <a:solidFill>
              <a:srgbClr val="59595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100" b="1" i="0">
                <a:solidFill>
                  <a:srgbClr val="595959"/>
                </a:solidFill>
                <a:latin typeface="Cambria"/>
              </a:rPr>
              <a:t>Continual learning</a:t>
            </a:r>
          </a:p>
          <a:p>
            <a:pPr algn="ctr" latinLnBrk="0"/>
            <a:r>
              <a:rPr lang="en-US" sz="900" b="0" i="0">
                <a:solidFill>
                  <a:srgbClr val="595959"/>
                </a:solidFill>
                <a:latin typeface="Cambria"/>
              </a:rPr>
              <a:t>proposed</a:t>
            </a:r>
          </a:p>
        </p:txBody>
      </p:sp>
      <p:cxnSp>
        <p:nvCxnSpPr>
          <p:cNvPr id="44" name="Connector 43"/>
          <p:cNvCxnSpPr/>
          <p:nvPr/>
        </p:nvCxnSpPr>
        <p:spPr>
          <a:xfrm>
            <a:off x="10835640" y="4937760"/>
            <a:ext cx="0" cy="50292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320040" y="6172200"/>
            <a:ext cx="11521440" cy="502920"/>
          </a:xfrm>
          <a:prstGeom prst="rect">
            <a:avLst/>
          </a:prstGeom>
          <a:noFill/>
        </p:spPr>
        <p:txBody>
          <a:bodyPr wrap="square" anchor="t" lIns="36576" rIns="36576" tIns="36576" bIns="36576">
            <a:spAutoFit/>
          </a:bodyPr>
          <a:lstStyle/>
          <a:p>
            <a:pPr algn="l" latinLnBrk="0">
              <a:spcAft>
                <a:spcPts val="400"/>
              </a:spcAft>
            </a:pPr>
            <a:r>
              <a:rPr lang="en-US" sz="1100" b="0" i="0">
                <a:solidFill>
                  <a:srgbClr val="595959"/>
                </a:solidFill>
                <a:latin typeface="Cambria"/>
              </a:rPr>
              <a:t>Each window is scored; the most suspicious window drives the decision and its offset is shown to the reviewer. *Code exists, not evaluated.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6. Systems and Methods: Gateway Decision Logic</a:t>
            </a:r>
          </a:p>
        </p:txBody>
      </p:sp>
      <p:sp>
        <p:nvSpPr>
          <p:cNvPr id="3" name="Oval 2"/>
          <p:cNvSpPr/>
          <p:nvPr/>
        </p:nvSpPr>
        <p:spPr>
          <a:xfrm>
            <a:off x="9326880" y="310896"/>
            <a:ext cx="201168" cy="201168"/>
          </a:xfrm>
          <a:prstGeom prst="ellipse">
            <a:avLst/>
          </a:prstGeom>
          <a:solidFill>
            <a:srgbClr val="FDECEC"/>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0" y="256031"/>
            <a:ext cx="914400" cy="320040"/>
          </a:xfrm>
          <a:prstGeom prst="rect">
            <a:avLst/>
          </a:prstGeom>
          <a:noFill/>
        </p:spPr>
        <p:txBody>
          <a:bodyPr wrap="square" anchor="t" lIns="36576" rIns="36576" tIns="36576" bIns="36576">
            <a:spAutoFit/>
          </a:bodyPr>
          <a:lstStyle/>
          <a:p>
            <a:pPr algn="l" latinLnBrk="0">
              <a:spcAft>
                <a:spcPts val="400"/>
              </a:spcAft>
            </a:pPr>
            <a:r>
              <a:rPr lang="en-US" sz="1200" b="0" i="0">
                <a:solidFill>
                  <a:srgbClr val="C00000"/>
                </a:solidFill>
                <a:latin typeface="Cambria"/>
              </a:rPr>
              <a:t>Novel block</a:t>
            </a:r>
          </a:p>
        </p:txBody>
      </p:sp>
      <p:sp>
        <p:nvSpPr>
          <p:cNvPr id="5" name="Oval 4"/>
          <p:cNvSpPr/>
          <p:nvPr/>
        </p:nvSpPr>
        <p:spPr>
          <a:xfrm>
            <a:off x="10652759" y="310896"/>
            <a:ext cx="201168" cy="201168"/>
          </a:xfrm>
          <a:prstGeom prst="ellipse">
            <a:avLst/>
          </a:prstGeom>
          <a:solidFill>
            <a:srgbClr val="E8EEF7"/>
          </a:solidFill>
          <a:ln w="12700">
            <a:solidFill>
              <a:srgbClr val="2F528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927080" y="256031"/>
            <a:ext cx="1097280" cy="320040"/>
          </a:xfrm>
          <a:prstGeom prst="rect">
            <a:avLst/>
          </a:prstGeom>
          <a:noFill/>
        </p:spPr>
        <p:txBody>
          <a:bodyPr wrap="square" anchor="t" lIns="36576" rIns="36576" tIns="36576" bIns="36576">
            <a:spAutoFit/>
          </a:bodyPr>
          <a:lstStyle/>
          <a:p>
            <a:pPr algn="l" latinLnBrk="0">
              <a:spcAft>
                <a:spcPts val="400"/>
              </a:spcAft>
            </a:pPr>
            <a:r>
              <a:rPr lang="en-US" sz="1200" b="0" i="0">
                <a:solidFill>
                  <a:srgbClr val="000000"/>
                </a:solidFill>
                <a:latin typeface="Cambria"/>
              </a:rPr>
              <a:t>Established</a:t>
            </a:r>
          </a:p>
        </p:txBody>
      </p:sp>
      <p:sp>
        <p:nvSpPr>
          <p:cNvPr id="7" name="Rounded Rectangle 6"/>
          <p:cNvSpPr/>
          <p:nvPr/>
        </p:nvSpPr>
        <p:spPr>
          <a:xfrm>
            <a:off x="548640" y="1005840"/>
            <a:ext cx="5120640" cy="713232"/>
          </a:xfrm>
          <a:prstGeom prst="roundRect">
            <a:avLst>
              <a:gd name="adj" fmla="val 12000"/>
            </a:avLst>
          </a:prstGeom>
          <a:solidFill>
            <a:srgbClr val="E8EEF7"/>
          </a:solidFill>
          <a:ln w="12700">
            <a:solidFill>
              <a:srgbClr val="2F52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300" b="1" i="0">
                <a:solidFill>
                  <a:srgbClr val="000000"/>
                </a:solidFill>
                <a:latin typeface="Cambria"/>
              </a:rPr>
              <a:t>Audio shorter than 2 s?</a:t>
            </a:r>
          </a:p>
        </p:txBody>
      </p:sp>
      <p:sp>
        <p:nvSpPr>
          <p:cNvPr id="8" name="Rounded Rectangle 7"/>
          <p:cNvSpPr/>
          <p:nvPr/>
        </p:nvSpPr>
        <p:spPr>
          <a:xfrm>
            <a:off x="6492240" y="1078992"/>
            <a:ext cx="4023360" cy="566928"/>
          </a:xfrm>
          <a:prstGeom prst="roundRect">
            <a:avLst>
              <a:gd name="adj" fmla="val 12000"/>
            </a:avLst>
          </a:prstGeom>
          <a:solidFill>
            <a:srgbClr val="FFFFFF"/>
          </a:solidFill>
          <a:ln w="22225">
            <a:solidFill>
              <a:srgbClr val="B26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atinLnBrk="0" algn="ctr"/>
            <a:r>
              <a:rPr lang="en-US" sz="1300" b="1" i="0">
                <a:solidFill>
                  <a:srgbClr val="B26B00"/>
                </a:solidFill>
                <a:latin typeface="Cambria"/>
              </a:rPr>
              <a:t>Review: too short to judge</a:t>
            </a:r>
          </a:p>
        </p:txBody>
      </p:sp>
      <p:cxnSp>
        <p:nvCxnSpPr>
          <p:cNvPr id="9" name="Connector 8"/>
          <p:cNvCxnSpPr/>
          <p:nvPr/>
        </p:nvCxnSpPr>
        <p:spPr>
          <a:xfrm>
            <a:off x="5669280" y="1362456"/>
            <a:ext cx="822960"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806440" y="1069848"/>
            <a:ext cx="548640" cy="274320"/>
          </a:xfrm>
          <a:prstGeom prst="rect">
            <a:avLst/>
          </a:prstGeom>
          <a:noFill/>
        </p:spPr>
        <p:txBody>
          <a:bodyPr wrap="square" anchor="t" lIns="36576" rIns="36576" tIns="36576" bIns="36576">
            <a:spAutoFit/>
          </a:bodyPr>
          <a:lstStyle/>
          <a:p>
            <a:pPr algn="l" latinLnBrk="0">
              <a:spcAft>
                <a:spcPts val="400"/>
              </a:spcAft>
            </a:pPr>
            <a:r>
              <a:rPr lang="en-US" sz="1000" b="0" i="0">
                <a:solidFill>
                  <a:srgbClr val="595959"/>
                </a:solidFill>
                <a:latin typeface="Cambria"/>
              </a:rPr>
              <a:t>yes</a:t>
            </a:r>
          </a:p>
        </p:txBody>
      </p:sp>
      <p:cxnSp>
        <p:nvCxnSpPr>
          <p:cNvPr id="11" name="Connector 10"/>
          <p:cNvCxnSpPr/>
          <p:nvPr/>
        </p:nvCxnSpPr>
        <p:spPr>
          <a:xfrm>
            <a:off x="3108960" y="1719072"/>
            <a:ext cx="0" cy="301752"/>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200400" y="1719072"/>
            <a:ext cx="457200" cy="274320"/>
          </a:xfrm>
          <a:prstGeom prst="rect">
            <a:avLst/>
          </a:prstGeom>
          <a:noFill/>
        </p:spPr>
        <p:txBody>
          <a:bodyPr wrap="square" anchor="t" lIns="36576" rIns="36576" tIns="36576" bIns="36576">
            <a:spAutoFit/>
          </a:bodyPr>
          <a:lstStyle/>
          <a:p>
            <a:pPr algn="l" latinLnBrk="0">
              <a:spcAft>
                <a:spcPts val="400"/>
              </a:spcAft>
            </a:pPr>
            <a:r>
              <a:rPr lang="en-US" sz="1000" b="0" i="0">
                <a:solidFill>
                  <a:srgbClr val="595959"/>
                </a:solidFill>
                <a:latin typeface="Cambria"/>
              </a:rPr>
              <a:t>no</a:t>
            </a:r>
          </a:p>
        </p:txBody>
      </p:sp>
      <p:sp>
        <p:nvSpPr>
          <p:cNvPr id="13" name="Rounded Rectangle 12"/>
          <p:cNvSpPr/>
          <p:nvPr/>
        </p:nvSpPr>
        <p:spPr>
          <a:xfrm>
            <a:off x="548640" y="2020824"/>
            <a:ext cx="5120640" cy="713232"/>
          </a:xfrm>
          <a:prstGeom prst="roundRect">
            <a:avLst>
              <a:gd name="adj" fmla="val 12000"/>
            </a:avLst>
          </a:prstGeom>
          <a:solidFill>
            <a:srgbClr val="FDECEC"/>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300" b="1" i="0">
                <a:solidFill>
                  <a:srgbClr val="C00000"/>
                </a:solidFill>
                <a:latin typeface="Cambria"/>
              </a:rPr>
              <a:t>Novelty score &gt; threshold (97.5th pct. of genuine)?</a:t>
            </a:r>
          </a:p>
        </p:txBody>
      </p:sp>
      <p:sp>
        <p:nvSpPr>
          <p:cNvPr id="14" name="Rounded Rectangle 13"/>
          <p:cNvSpPr/>
          <p:nvPr/>
        </p:nvSpPr>
        <p:spPr>
          <a:xfrm>
            <a:off x="6492240" y="2093976"/>
            <a:ext cx="4023360" cy="566928"/>
          </a:xfrm>
          <a:prstGeom prst="roundRect">
            <a:avLst>
              <a:gd name="adj" fmla="val 12000"/>
            </a:avLst>
          </a:prstGeom>
          <a:solidFill>
            <a:srgbClr val="FFFFFF"/>
          </a:solidFill>
          <a:ln w="22225">
            <a:solidFill>
              <a:srgbClr val="B26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atinLnBrk="0" algn="ctr"/>
            <a:r>
              <a:rPr lang="en-US" sz="1300" b="1" i="0">
                <a:solidFill>
                  <a:srgbClr val="B26B00"/>
                </a:solidFill>
                <a:latin typeface="Cambria"/>
              </a:rPr>
              <a:t>Unknown pattern → human review</a:t>
            </a:r>
          </a:p>
        </p:txBody>
      </p:sp>
      <p:cxnSp>
        <p:nvCxnSpPr>
          <p:cNvPr id="15" name="Connector 14"/>
          <p:cNvCxnSpPr/>
          <p:nvPr/>
        </p:nvCxnSpPr>
        <p:spPr>
          <a:xfrm>
            <a:off x="5669280" y="2377440"/>
            <a:ext cx="822960"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806440" y="2084832"/>
            <a:ext cx="548640" cy="274320"/>
          </a:xfrm>
          <a:prstGeom prst="rect">
            <a:avLst/>
          </a:prstGeom>
          <a:noFill/>
        </p:spPr>
        <p:txBody>
          <a:bodyPr wrap="square" anchor="t" lIns="36576" rIns="36576" tIns="36576" bIns="36576">
            <a:spAutoFit/>
          </a:bodyPr>
          <a:lstStyle/>
          <a:p>
            <a:pPr algn="l" latinLnBrk="0">
              <a:spcAft>
                <a:spcPts val="400"/>
              </a:spcAft>
            </a:pPr>
            <a:r>
              <a:rPr lang="en-US" sz="1000" b="0" i="0">
                <a:solidFill>
                  <a:srgbClr val="595959"/>
                </a:solidFill>
                <a:latin typeface="Cambria"/>
              </a:rPr>
              <a:t>yes</a:t>
            </a:r>
          </a:p>
        </p:txBody>
      </p:sp>
      <p:cxnSp>
        <p:nvCxnSpPr>
          <p:cNvPr id="17" name="Connector 16"/>
          <p:cNvCxnSpPr/>
          <p:nvPr/>
        </p:nvCxnSpPr>
        <p:spPr>
          <a:xfrm>
            <a:off x="3108960" y="2734056"/>
            <a:ext cx="0" cy="301752"/>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200400" y="2734056"/>
            <a:ext cx="457200" cy="274320"/>
          </a:xfrm>
          <a:prstGeom prst="rect">
            <a:avLst/>
          </a:prstGeom>
          <a:noFill/>
        </p:spPr>
        <p:txBody>
          <a:bodyPr wrap="square" anchor="t" lIns="36576" rIns="36576" tIns="36576" bIns="36576">
            <a:spAutoFit/>
          </a:bodyPr>
          <a:lstStyle/>
          <a:p>
            <a:pPr algn="l" latinLnBrk="0">
              <a:spcAft>
                <a:spcPts val="400"/>
              </a:spcAft>
            </a:pPr>
            <a:r>
              <a:rPr lang="en-US" sz="1000" b="0" i="0">
                <a:solidFill>
                  <a:srgbClr val="595959"/>
                </a:solidFill>
                <a:latin typeface="Cambria"/>
              </a:rPr>
              <a:t>no</a:t>
            </a:r>
          </a:p>
        </p:txBody>
      </p:sp>
      <p:sp>
        <p:nvSpPr>
          <p:cNvPr id="19" name="Rounded Rectangle 18"/>
          <p:cNvSpPr/>
          <p:nvPr/>
        </p:nvSpPr>
        <p:spPr>
          <a:xfrm>
            <a:off x="548640" y="3035808"/>
            <a:ext cx="5120640" cy="713232"/>
          </a:xfrm>
          <a:prstGeom prst="roundRect">
            <a:avLst>
              <a:gd name="adj" fmla="val 12000"/>
            </a:avLst>
          </a:prstGeom>
          <a:solidFill>
            <a:srgbClr val="FDECEC"/>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300" b="1" i="0">
                <a:solidFill>
                  <a:srgbClr val="C00000"/>
                </a:solidFill>
                <a:latin typeface="Cambria"/>
              </a:rPr>
              <a:t>Uncertainty &gt; calibrated threshold (0.445)?</a:t>
            </a:r>
          </a:p>
        </p:txBody>
      </p:sp>
      <p:sp>
        <p:nvSpPr>
          <p:cNvPr id="20" name="Rounded Rectangle 19"/>
          <p:cNvSpPr/>
          <p:nvPr/>
        </p:nvSpPr>
        <p:spPr>
          <a:xfrm>
            <a:off x="6492240" y="3108960"/>
            <a:ext cx="4023360" cy="566928"/>
          </a:xfrm>
          <a:prstGeom prst="roundRect">
            <a:avLst>
              <a:gd name="adj" fmla="val 12000"/>
            </a:avLst>
          </a:prstGeom>
          <a:solidFill>
            <a:srgbClr val="FFFFFF"/>
          </a:solidFill>
          <a:ln w="22225">
            <a:solidFill>
              <a:srgbClr val="B26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atinLnBrk="0" algn="ctr"/>
            <a:r>
              <a:rPr lang="en-US" sz="1300" b="1" i="0">
                <a:solidFill>
                  <a:srgbClr val="B26B00"/>
                </a:solidFill>
                <a:latin typeface="Cambria"/>
              </a:rPr>
              <a:t>High uncertainty → human review</a:t>
            </a:r>
          </a:p>
        </p:txBody>
      </p:sp>
      <p:cxnSp>
        <p:nvCxnSpPr>
          <p:cNvPr id="21" name="Connector 20"/>
          <p:cNvCxnSpPr/>
          <p:nvPr/>
        </p:nvCxnSpPr>
        <p:spPr>
          <a:xfrm>
            <a:off x="5669280" y="3392424"/>
            <a:ext cx="822960"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806440" y="3099816"/>
            <a:ext cx="548640" cy="274320"/>
          </a:xfrm>
          <a:prstGeom prst="rect">
            <a:avLst/>
          </a:prstGeom>
          <a:noFill/>
        </p:spPr>
        <p:txBody>
          <a:bodyPr wrap="square" anchor="t" lIns="36576" rIns="36576" tIns="36576" bIns="36576">
            <a:spAutoFit/>
          </a:bodyPr>
          <a:lstStyle/>
          <a:p>
            <a:pPr algn="l" latinLnBrk="0">
              <a:spcAft>
                <a:spcPts val="400"/>
              </a:spcAft>
            </a:pPr>
            <a:r>
              <a:rPr lang="en-US" sz="1000" b="0" i="0">
                <a:solidFill>
                  <a:srgbClr val="595959"/>
                </a:solidFill>
                <a:latin typeface="Cambria"/>
              </a:rPr>
              <a:t>yes</a:t>
            </a:r>
          </a:p>
        </p:txBody>
      </p:sp>
      <p:cxnSp>
        <p:nvCxnSpPr>
          <p:cNvPr id="23" name="Connector 22"/>
          <p:cNvCxnSpPr/>
          <p:nvPr/>
        </p:nvCxnSpPr>
        <p:spPr>
          <a:xfrm>
            <a:off x="3108960" y="3749040"/>
            <a:ext cx="0" cy="301752"/>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200400" y="3749040"/>
            <a:ext cx="457200" cy="274320"/>
          </a:xfrm>
          <a:prstGeom prst="rect">
            <a:avLst/>
          </a:prstGeom>
          <a:noFill/>
        </p:spPr>
        <p:txBody>
          <a:bodyPr wrap="square" anchor="t" lIns="36576" rIns="36576" tIns="36576" bIns="36576">
            <a:spAutoFit/>
          </a:bodyPr>
          <a:lstStyle/>
          <a:p>
            <a:pPr algn="l" latinLnBrk="0">
              <a:spcAft>
                <a:spcPts val="400"/>
              </a:spcAft>
            </a:pPr>
            <a:r>
              <a:rPr lang="en-US" sz="1000" b="0" i="0">
                <a:solidFill>
                  <a:srgbClr val="595959"/>
                </a:solidFill>
                <a:latin typeface="Cambria"/>
              </a:rPr>
              <a:t>no</a:t>
            </a:r>
          </a:p>
        </p:txBody>
      </p:sp>
      <p:sp>
        <p:nvSpPr>
          <p:cNvPr id="25" name="Rounded Rectangle 24"/>
          <p:cNvSpPr/>
          <p:nvPr/>
        </p:nvSpPr>
        <p:spPr>
          <a:xfrm>
            <a:off x="548640" y="4050791"/>
            <a:ext cx="5120640" cy="713232"/>
          </a:xfrm>
          <a:prstGeom prst="roundRect">
            <a:avLst>
              <a:gd name="adj" fmla="val 12000"/>
            </a:avLst>
          </a:prstGeom>
          <a:solidFill>
            <a:srgbClr val="E8EEF7"/>
          </a:solidFill>
          <a:ln w="12700">
            <a:solidFill>
              <a:srgbClr val="2F52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300" b="1" i="0">
                <a:solidFill>
                  <a:srgbClr val="000000"/>
                </a:solidFill>
                <a:latin typeface="Cambria"/>
              </a:rPr>
              <a:t>Spoof probability &lt; 0.30?</a:t>
            </a:r>
          </a:p>
        </p:txBody>
      </p:sp>
      <p:sp>
        <p:nvSpPr>
          <p:cNvPr id="26" name="Rounded Rectangle 25"/>
          <p:cNvSpPr/>
          <p:nvPr/>
        </p:nvSpPr>
        <p:spPr>
          <a:xfrm>
            <a:off x="6492240" y="4123944"/>
            <a:ext cx="4023360" cy="566928"/>
          </a:xfrm>
          <a:prstGeom prst="roundRect">
            <a:avLst>
              <a:gd name="adj" fmla="val 12000"/>
            </a:avLst>
          </a:prstGeom>
          <a:solidFill>
            <a:srgbClr val="FFFFFF"/>
          </a:solidFill>
          <a:ln w="22225">
            <a:solidFill>
              <a:srgbClr val="0E7A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atinLnBrk="0" algn="ctr"/>
            <a:r>
              <a:rPr lang="en-US" sz="1300" b="1" i="0">
                <a:solidFill>
                  <a:srgbClr val="0E7A4F"/>
                </a:solidFill>
                <a:latin typeface="Cambria"/>
              </a:rPr>
              <a:t>Pass (automatic clearance)</a:t>
            </a:r>
          </a:p>
        </p:txBody>
      </p:sp>
      <p:cxnSp>
        <p:nvCxnSpPr>
          <p:cNvPr id="27" name="Connector 26"/>
          <p:cNvCxnSpPr/>
          <p:nvPr/>
        </p:nvCxnSpPr>
        <p:spPr>
          <a:xfrm>
            <a:off x="5669280" y="4407407"/>
            <a:ext cx="822960"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806440" y="4114799"/>
            <a:ext cx="548640" cy="274320"/>
          </a:xfrm>
          <a:prstGeom prst="rect">
            <a:avLst/>
          </a:prstGeom>
          <a:noFill/>
        </p:spPr>
        <p:txBody>
          <a:bodyPr wrap="square" anchor="t" lIns="36576" rIns="36576" tIns="36576" bIns="36576">
            <a:spAutoFit/>
          </a:bodyPr>
          <a:lstStyle/>
          <a:p>
            <a:pPr algn="l" latinLnBrk="0">
              <a:spcAft>
                <a:spcPts val="400"/>
              </a:spcAft>
            </a:pPr>
            <a:r>
              <a:rPr lang="en-US" sz="1000" b="0" i="0">
                <a:solidFill>
                  <a:srgbClr val="595959"/>
                </a:solidFill>
                <a:latin typeface="Cambria"/>
              </a:rPr>
              <a:t>yes</a:t>
            </a:r>
          </a:p>
        </p:txBody>
      </p:sp>
      <p:cxnSp>
        <p:nvCxnSpPr>
          <p:cNvPr id="29" name="Connector 28"/>
          <p:cNvCxnSpPr/>
          <p:nvPr/>
        </p:nvCxnSpPr>
        <p:spPr>
          <a:xfrm>
            <a:off x="3108960" y="4764024"/>
            <a:ext cx="0" cy="301752"/>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200400" y="4764024"/>
            <a:ext cx="457200" cy="274320"/>
          </a:xfrm>
          <a:prstGeom prst="rect">
            <a:avLst/>
          </a:prstGeom>
          <a:noFill/>
        </p:spPr>
        <p:txBody>
          <a:bodyPr wrap="square" anchor="t" lIns="36576" rIns="36576" tIns="36576" bIns="36576">
            <a:spAutoFit/>
          </a:bodyPr>
          <a:lstStyle/>
          <a:p>
            <a:pPr algn="l" latinLnBrk="0">
              <a:spcAft>
                <a:spcPts val="400"/>
              </a:spcAft>
            </a:pPr>
            <a:r>
              <a:rPr lang="en-US" sz="1000" b="0" i="0">
                <a:solidFill>
                  <a:srgbClr val="595959"/>
                </a:solidFill>
                <a:latin typeface="Cambria"/>
              </a:rPr>
              <a:t>no</a:t>
            </a:r>
          </a:p>
        </p:txBody>
      </p:sp>
      <p:sp>
        <p:nvSpPr>
          <p:cNvPr id="31" name="Rounded Rectangle 30"/>
          <p:cNvSpPr/>
          <p:nvPr/>
        </p:nvSpPr>
        <p:spPr>
          <a:xfrm>
            <a:off x="548640" y="5065776"/>
            <a:ext cx="5120640" cy="713232"/>
          </a:xfrm>
          <a:prstGeom prst="roundRect">
            <a:avLst>
              <a:gd name="adj" fmla="val 12000"/>
            </a:avLst>
          </a:prstGeom>
          <a:solidFill>
            <a:srgbClr val="E8EEF7"/>
          </a:solidFill>
          <a:ln w="12700">
            <a:solidFill>
              <a:srgbClr val="2F528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latinLnBrk="0"/>
            <a:r>
              <a:rPr lang="en-US" sz="1300" b="1" i="0">
                <a:solidFill>
                  <a:srgbClr val="000000"/>
                </a:solidFill>
                <a:latin typeface="Cambria"/>
              </a:rPr>
              <a:t>Spoof probability &gt; 0.70?</a:t>
            </a:r>
          </a:p>
        </p:txBody>
      </p:sp>
      <p:sp>
        <p:nvSpPr>
          <p:cNvPr id="32" name="Rounded Rectangle 31"/>
          <p:cNvSpPr/>
          <p:nvPr/>
        </p:nvSpPr>
        <p:spPr>
          <a:xfrm>
            <a:off x="6492240" y="5138928"/>
            <a:ext cx="4023360" cy="566928"/>
          </a:xfrm>
          <a:prstGeom prst="roundRect">
            <a:avLst>
              <a:gd name="adj" fmla="val 12000"/>
            </a:avLst>
          </a:prstGeom>
          <a:solidFill>
            <a:srgbClr val="FFFFFF"/>
          </a:solidFill>
          <a:ln w="222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atinLnBrk="0" algn="ctr"/>
            <a:r>
              <a:rPr lang="en-US" sz="1300" b="1" i="0">
                <a:solidFill>
                  <a:srgbClr val="C00000"/>
                </a:solidFill>
                <a:latin typeface="Cambria"/>
              </a:rPr>
              <a:t>Block (automatic termination)</a:t>
            </a:r>
          </a:p>
        </p:txBody>
      </p:sp>
      <p:cxnSp>
        <p:nvCxnSpPr>
          <p:cNvPr id="33" name="Connector 32"/>
          <p:cNvCxnSpPr/>
          <p:nvPr/>
        </p:nvCxnSpPr>
        <p:spPr>
          <a:xfrm>
            <a:off x="5669280" y="5422392"/>
            <a:ext cx="822960" cy="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806440" y="5129784"/>
            <a:ext cx="548640" cy="274320"/>
          </a:xfrm>
          <a:prstGeom prst="rect">
            <a:avLst/>
          </a:prstGeom>
          <a:noFill/>
        </p:spPr>
        <p:txBody>
          <a:bodyPr wrap="square" anchor="t" lIns="36576" rIns="36576" tIns="36576" bIns="36576">
            <a:spAutoFit/>
          </a:bodyPr>
          <a:lstStyle/>
          <a:p>
            <a:pPr algn="l" latinLnBrk="0">
              <a:spcAft>
                <a:spcPts val="400"/>
              </a:spcAft>
            </a:pPr>
            <a:r>
              <a:rPr lang="en-US" sz="1000" b="0" i="0">
                <a:solidFill>
                  <a:srgbClr val="595959"/>
                </a:solidFill>
                <a:latin typeface="Cambria"/>
              </a:rPr>
              <a:t>yes</a:t>
            </a:r>
          </a:p>
        </p:txBody>
      </p:sp>
      <p:cxnSp>
        <p:nvCxnSpPr>
          <p:cNvPr id="35" name="Connector 34"/>
          <p:cNvCxnSpPr/>
          <p:nvPr/>
        </p:nvCxnSpPr>
        <p:spPr>
          <a:xfrm>
            <a:off x="3108960" y="5779008"/>
            <a:ext cx="0" cy="274320"/>
          </a:xfrm>
          <a:prstGeom prst="line">
            <a:avLst/>
          </a:prstGeom>
          <a:ln w="15875">
            <a:solidFill>
              <a:srgbClr val="595959"/>
            </a:solidFill>
            <a:tailEnd type="triangle"/>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548640" y="6053328"/>
            <a:ext cx="5120640" cy="457200"/>
          </a:xfrm>
          <a:prstGeom prst="roundRect">
            <a:avLst>
              <a:gd name="adj" fmla="val 12000"/>
            </a:avLst>
          </a:prstGeom>
          <a:solidFill>
            <a:srgbClr val="FFFFFF"/>
          </a:solidFill>
          <a:ln w="22225">
            <a:solidFill>
              <a:srgbClr val="B26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latinLnBrk="0" algn="ctr"/>
            <a:r>
              <a:rPr lang="en-US" sz="1300" b="1" i="0">
                <a:solidFill>
                  <a:srgbClr val="B26B00"/>
                </a:solidFill>
                <a:latin typeface="Cambria"/>
              </a:rPr>
              <a:t>Otherwise (0.30–0.70): quality-control review</a:t>
            </a:r>
          </a:p>
        </p:txBody>
      </p:sp>
      <p:sp>
        <p:nvSpPr>
          <p:cNvPr id="37" name="TextBox 36"/>
          <p:cNvSpPr txBox="1"/>
          <p:nvPr/>
        </p:nvSpPr>
        <p:spPr>
          <a:xfrm>
            <a:off x="10698480" y="1051560"/>
            <a:ext cx="1325880" cy="5120640"/>
          </a:xfrm>
          <a:prstGeom prst="rect">
            <a:avLst/>
          </a:prstGeom>
          <a:noFill/>
        </p:spPr>
        <p:txBody>
          <a:bodyPr wrap="square" anchor="t" lIns="36576" rIns="36576" tIns="36576" bIns="36576">
            <a:spAutoFit/>
          </a:bodyPr>
          <a:lstStyle/>
          <a:p>
            <a:pPr algn="l" latinLnBrk="0">
              <a:spcAft>
                <a:spcPts val="400"/>
              </a:spcAft>
            </a:pPr>
            <a:r>
              <a:rPr lang="en-US" sz="1000" b="0" i="0">
                <a:solidFill>
                  <a:srgbClr val="595959"/>
                </a:solidFill>
                <a:latin typeface="Cambria"/>
              </a:rPr>
              <a:t>Thresholds as deployed in the demo (round-2 model). The uncertainty threshold was set on validation data for ≤15% genuine review.</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6. Each Module Description: Supporting Front End (Stages 1–5)</a:t>
            </a:r>
          </a:p>
        </p:txBody>
      </p:sp>
      <p:graphicFrame>
        <p:nvGraphicFramePr>
          <p:cNvPr id="3" name="Table 2"/>
          <p:cNvGraphicFramePr>
            <a:graphicFrameLocks noGrp="1"/>
          </p:cNvGraphicFramePr>
          <p:nvPr/>
        </p:nvGraphicFramePr>
        <p:xfrm>
          <a:off x="274320" y="868680"/>
          <a:ext cx="11612880" cy="4800600"/>
        </p:xfrm>
        <a:graphic>
          <a:graphicData uri="http://schemas.openxmlformats.org/drawingml/2006/table">
            <a:tbl>
              <a:tblPr firstRow="0" bandRow="0">
                <a:tableStyleId>{5940675A-B579-460E-94D1-54222C63F5DA}</a:tableStyleId>
              </a:tblPr>
              <a:tblGrid>
                <a:gridCol w="2377440"/>
                <a:gridCol w="5760720"/>
                <a:gridCol w="3474720"/>
              </a:tblGrid>
              <a:tr h="457200">
                <a:tc>
                  <a:txBody>
                    <a:bodyPr wrap="square"/>
                    <a:lstStyle/>
                    <a:p>
                      <a:pPr latinLnBrk="0"/>
                      <a:r>
                        <a:rPr lang="en-US" sz="1200" b="1" i="0">
                          <a:solidFill>
                            <a:srgbClr val="000000"/>
                          </a:solidFill>
                          <a:latin typeface="Cambria"/>
                        </a:rPr>
                        <a:t>Stage</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1" i="0">
                          <a:solidFill>
                            <a:srgbClr val="000000"/>
                          </a:solidFill>
                          <a:latin typeface="Cambria"/>
                        </a:rPr>
                        <a:t>Implementation</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1" i="0">
                          <a:solidFill>
                            <a:srgbClr val="000000"/>
                          </a:solidFill>
                          <a:latin typeface="Cambria"/>
                        </a:rPr>
                        <a:t>Purpose</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868680">
                <a:tc>
                  <a:txBody>
                    <a:bodyPr wrap="square"/>
                    <a:lstStyle/>
                    <a:p>
                      <a:pPr latinLnBrk="0"/>
                      <a:r>
                        <a:rPr lang="en-US" sz="1200" b="0" i="0">
                          <a:solidFill>
                            <a:srgbClr val="000000"/>
                          </a:solidFill>
                          <a:latin typeface="Cambria"/>
                        </a:rPr>
                        <a:t>1 Audio input &amp; windowing</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Decode any format to mono 16 kHz; 3-s windows (zero-padded if shorter); long clips scanned in up to 12 windows over the first 60 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One standard input; long recordings fully covered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868680">
                <a:tc>
                  <a:txBody>
                    <a:bodyPr wrap="square"/>
                    <a:lstStyle/>
                    <a:p>
                      <a:pPr latinLnBrk="0"/>
                      <a:r>
                        <a:rPr lang="en-US" sz="1200" b="0" i="0">
                          <a:solidFill>
                            <a:srgbClr val="000000"/>
                          </a:solidFill>
                          <a:latin typeface="Cambria"/>
                        </a:rPr>
                        <a:t>2 Robustness augmentation</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Training only: random MP3 (32/64/128 kbps), Gaussian noise at 0/10/20 dB SNR, synthetic room response, 8 kHz band-limiting, or none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Survive compression, noise, reverberation and telephone audio</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868680">
                <a:tc>
                  <a:txBody>
                    <a:bodyPr wrap="square"/>
                    <a:lstStyle/>
                    <a:p>
                      <a:pPr latinLnBrk="0"/>
                      <a:r>
                        <a:rPr lang="en-US" sz="1200" b="0" i="0">
                          <a:solidFill>
                            <a:srgbClr val="000000"/>
                          </a:solidFill>
                          <a:latin typeface="Cambria"/>
                        </a:rPr>
                        <a:t>3 Dual-channel features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Log-power Mel spectrogram (64 bands, n_fft 1024, hop 512) and 64 MFCCs stacked → 2 × 64 × 94</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Artefact view + vocal-tract view in one input</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868680">
                <a:tc>
                  <a:txBody>
                    <a:bodyPr wrap="square"/>
                    <a:lstStyle/>
                    <a:p>
                      <a:pPr latinLnBrk="0"/>
                      <a:r>
                        <a:rPr lang="en-US" sz="1200" b="0" i="0">
                          <a:solidFill>
                            <a:srgbClr val="000000"/>
                          </a:solidFill>
                          <a:latin typeface="Cambria"/>
                        </a:rPr>
                        <a:t>4 Backbone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Conv 2→32; residual blocks 32→32, 32→64 (stride 2) + SE attention, 64→128 (stride 2); 341,254 parameters in total</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Proven, compact feature learner; CPU real-time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868680">
                <a:tc>
                  <a:txBody>
                    <a:bodyPr wrap="square"/>
                    <a:lstStyle/>
                    <a:p>
                      <a:pPr latinLnBrk="0"/>
                      <a:r>
                        <a:rPr lang="en-US" sz="1200" b="0" i="0">
                          <a:solidFill>
                            <a:srgbClr val="000000"/>
                          </a:solidFill>
                          <a:latin typeface="Cambria"/>
                        </a:rPr>
                        <a:t>5 Shared embedding</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Global average pool → 128-d vector feeding all heads and the novelty scorer</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One representation, consistent heads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bl>
          </a:graphicData>
        </a:graphic>
      </p:graphicFrame>
      <p:sp>
        <p:nvSpPr>
          <p:cNvPr id="4" name="TextBox 3"/>
          <p:cNvSpPr txBox="1"/>
          <p:nvPr/>
        </p:nvSpPr>
        <p:spPr>
          <a:xfrm>
            <a:off x="320040" y="5989320"/>
            <a:ext cx="11521440" cy="640080"/>
          </a:xfrm>
          <a:prstGeom prst="rect">
            <a:avLst/>
          </a:prstGeom>
          <a:noFill/>
        </p:spPr>
        <p:txBody>
          <a:bodyPr wrap="square" anchor="t" lIns="36576" rIns="36576" tIns="36576" bIns="36576">
            <a:spAutoFit/>
          </a:bodyPr>
          <a:lstStyle/>
          <a:p>
            <a:pPr algn="l" latinLnBrk="0">
              <a:spcAft>
                <a:spcPts val="400"/>
              </a:spcAft>
            </a:pPr>
            <a:r>
              <a:rPr lang="en-US" sz="1200" b="0" i="0">
                <a:solidFill>
                  <a:srgbClr val="595959"/>
                </a:solidFill>
                <a:latin typeface="Cambria"/>
              </a:rPr>
              <a:t>These stages use established techniques (slide 13). They are the foundation the novel stages operate 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6. Each Module Description: Novel Stages (6–9)</a:t>
            </a:r>
          </a:p>
        </p:txBody>
      </p:sp>
      <p:sp>
        <p:nvSpPr>
          <p:cNvPr id="3" name="Oval 2"/>
          <p:cNvSpPr/>
          <p:nvPr/>
        </p:nvSpPr>
        <p:spPr>
          <a:xfrm>
            <a:off x="9326880" y="310896"/>
            <a:ext cx="201168" cy="201168"/>
          </a:xfrm>
          <a:prstGeom prst="ellipse">
            <a:avLst/>
          </a:prstGeom>
          <a:solidFill>
            <a:srgbClr val="FDECEC"/>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0" y="256031"/>
            <a:ext cx="914400" cy="320040"/>
          </a:xfrm>
          <a:prstGeom prst="rect">
            <a:avLst/>
          </a:prstGeom>
          <a:noFill/>
        </p:spPr>
        <p:txBody>
          <a:bodyPr wrap="square" anchor="t" lIns="36576" rIns="36576" tIns="36576" bIns="36576">
            <a:spAutoFit/>
          </a:bodyPr>
          <a:lstStyle/>
          <a:p>
            <a:pPr algn="l" latinLnBrk="0">
              <a:spcAft>
                <a:spcPts val="400"/>
              </a:spcAft>
            </a:pPr>
            <a:r>
              <a:rPr lang="en-US" sz="1200" b="0" i="0">
                <a:solidFill>
                  <a:srgbClr val="C00000"/>
                </a:solidFill>
                <a:latin typeface="Cambria"/>
              </a:rPr>
              <a:t>Novel block</a:t>
            </a:r>
          </a:p>
        </p:txBody>
      </p:sp>
      <p:sp>
        <p:nvSpPr>
          <p:cNvPr id="5" name="Oval 4"/>
          <p:cNvSpPr/>
          <p:nvPr/>
        </p:nvSpPr>
        <p:spPr>
          <a:xfrm>
            <a:off x="10652759" y="310896"/>
            <a:ext cx="201168" cy="201168"/>
          </a:xfrm>
          <a:prstGeom prst="ellipse">
            <a:avLst/>
          </a:prstGeom>
          <a:solidFill>
            <a:srgbClr val="E8EEF7"/>
          </a:solidFill>
          <a:ln w="12700">
            <a:solidFill>
              <a:srgbClr val="2F528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927080" y="256031"/>
            <a:ext cx="1097280" cy="320040"/>
          </a:xfrm>
          <a:prstGeom prst="rect">
            <a:avLst/>
          </a:prstGeom>
          <a:noFill/>
        </p:spPr>
        <p:txBody>
          <a:bodyPr wrap="square" anchor="t" lIns="36576" rIns="36576" tIns="36576" bIns="36576">
            <a:spAutoFit/>
          </a:bodyPr>
          <a:lstStyle/>
          <a:p>
            <a:pPr algn="l" latinLnBrk="0">
              <a:spcAft>
                <a:spcPts val="400"/>
              </a:spcAft>
            </a:pPr>
            <a:r>
              <a:rPr lang="en-US" sz="1200" b="0" i="0">
                <a:solidFill>
                  <a:srgbClr val="000000"/>
                </a:solidFill>
                <a:latin typeface="Cambria"/>
              </a:rPr>
              <a:t>Established</a:t>
            </a:r>
          </a:p>
        </p:txBody>
      </p:sp>
      <p:graphicFrame>
        <p:nvGraphicFramePr>
          <p:cNvPr id="7" name="Table 6"/>
          <p:cNvGraphicFramePr>
            <a:graphicFrameLocks noGrp="1"/>
          </p:cNvGraphicFramePr>
          <p:nvPr/>
        </p:nvGraphicFramePr>
        <p:xfrm>
          <a:off x="274320" y="868680"/>
          <a:ext cx="11612880" cy="4663440"/>
        </p:xfrm>
        <a:graphic>
          <a:graphicData uri="http://schemas.openxmlformats.org/drawingml/2006/table">
            <a:tbl>
              <a:tblPr firstRow="0" bandRow="0">
                <a:tableStyleId>{5940675A-B579-460E-94D1-54222C63F5DA}</a:tableStyleId>
              </a:tblPr>
              <a:tblGrid>
                <a:gridCol w="2377440"/>
                <a:gridCol w="5760720"/>
                <a:gridCol w="3474720"/>
              </a:tblGrid>
              <a:tr h="457200">
                <a:tc>
                  <a:txBody>
                    <a:bodyPr wrap="square"/>
                    <a:lstStyle/>
                    <a:p>
                      <a:pPr latinLnBrk="0"/>
                      <a:r>
                        <a:rPr lang="en-US" sz="1200" b="1" i="0">
                          <a:solidFill>
                            <a:srgbClr val="000000"/>
                          </a:solidFill>
                          <a:latin typeface="Cambria"/>
                        </a:rPr>
                        <a:t>Stage</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1" i="0">
                          <a:solidFill>
                            <a:srgbClr val="000000"/>
                          </a:solidFill>
                          <a:latin typeface="Cambria"/>
                        </a:rPr>
                        <a:t>Implementation</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1" i="0">
                          <a:solidFill>
                            <a:srgbClr val="000000"/>
                          </a:solidFill>
                          <a:latin typeface="Cambria"/>
                        </a:rPr>
                        <a:t>Why it matters</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1051560">
                <a:tc>
                  <a:txBody>
                    <a:bodyPr wrap="square"/>
                    <a:lstStyle/>
                    <a:p>
                      <a:pPr latinLnBrk="0"/>
                      <a:r>
                        <a:rPr lang="en-US" sz="1200" b="0" i="0">
                          <a:solidFill>
                            <a:srgbClr val="C00000"/>
                          </a:solidFill>
                          <a:latin typeface="Cambria"/>
                        </a:rPr>
                        <a:t>6 Four parallel heads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Spoof head (MLP, BCE loss); attack-type head (5 classes, cross-entropy, weight 0.4, trained jointly); uncertainty = std of P(fake) over N passes with dropout p = 0.35 on the embedding (N = 20 in evaluation, 10 in the demo); novelty = Mahalanobis distance to a Gaussian of genuine training embeddings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Several independent views of the same evidence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1051560">
                <a:tc>
                  <a:txBody>
                    <a:bodyPr wrap="square"/>
                    <a:lstStyle/>
                    <a:p>
                      <a:pPr latinLnBrk="0"/>
                      <a:r>
                        <a:rPr lang="en-US" sz="1200" b="0" i="0">
                          <a:solidFill>
                            <a:srgbClr val="C00000"/>
                          </a:solidFill>
                          <a:latin typeface="Cambria"/>
                        </a:rPr>
                        <a:t>7 Risk-aware gateway</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Order: minimum duration → novelty → uncertainty → probability bands (0.30 / 0.70). Uncertainty threshold calibrated on validation for ≤15% genuine review (0.445 for the round-2 model)</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Doubtful cases go to people; workload is a parameter</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1051560">
                <a:tc>
                  <a:txBody>
                    <a:bodyPr wrap="square"/>
                    <a:lstStyle/>
                    <a:p>
                      <a:pPr latinLnBrk="0"/>
                      <a:r>
                        <a:rPr lang="en-US" sz="1200" b="0" i="0">
                          <a:solidFill>
                            <a:srgbClr val="C00000"/>
                          </a:solidFill>
                          <a:latin typeface="Cambria"/>
                        </a:rPr>
                        <a:t>8 Explanation layer</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Deterministic sentence from the head outputs (live). Per-channel Grad-CAM disagreement map (code only)</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Defensible, reproducible reasons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1051560">
                <a:tc>
                  <a:txBody>
                    <a:bodyPr wrap="square"/>
                    <a:lstStyle/>
                    <a:p>
                      <a:pPr latinLnBrk="0"/>
                      <a:r>
                        <a:rPr lang="en-US" sz="1200" b="0" i="0">
                          <a:solidFill>
                            <a:srgbClr val="000000"/>
                          </a:solidFill>
                          <a:latin typeface="Cambria"/>
                        </a:rPr>
                        <a:t>9 Continual learning</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Reviewer-confirmed and high-novelty samples queued for periodic fine-tuning (not built)</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Keeps pace with new generators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Evaluation Protocol</a:t>
            </a:r>
          </a:p>
        </p:txBody>
      </p:sp>
      <p:graphicFrame>
        <p:nvGraphicFramePr>
          <p:cNvPr id="3" name="Table 2"/>
          <p:cNvGraphicFramePr>
            <a:graphicFrameLocks noGrp="1"/>
          </p:cNvGraphicFramePr>
          <p:nvPr/>
        </p:nvGraphicFramePr>
        <p:xfrm>
          <a:off x="274320" y="868680"/>
          <a:ext cx="6675120" cy="4224528"/>
        </p:xfrm>
        <a:graphic>
          <a:graphicData uri="http://schemas.openxmlformats.org/drawingml/2006/table">
            <a:tbl>
              <a:tblPr firstRow="0" bandRow="0">
                <a:tableStyleId>{5940675A-B579-460E-94D1-54222C63F5DA}</a:tableStyleId>
              </a:tblPr>
              <a:tblGrid>
                <a:gridCol w="2103120"/>
                <a:gridCol w="4572000"/>
              </a:tblGrid>
              <a:tr h="384048">
                <a:tc>
                  <a:txBody>
                    <a:bodyPr wrap="square"/>
                    <a:lstStyle/>
                    <a:p>
                      <a:pPr latinLnBrk="0"/>
                      <a:r>
                        <a:rPr lang="en-US" sz="1200" b="1" i="0">
                          <a:solidFill>
                            <a:srgbClr val="000000"/>
                          </a:solidFill>
                          <a:latin typeface="Cambria"/>
                        </a:rPr>
                        <a:t>Item</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1" i="0">
                          <a:solidFill>
                            <a:srgbClr val="000000"/>
                          </a:solidFill>
                          <a:latin typeface="Cambria"/>
                        </a:rPr>
                        <a:t>Detail</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48640">
                <a:tc>
                  <a:txBody>
                    <a:bodyPr wrap="square"/>
                    <a:lstStyle/>
                    <a:p>
                      <a:pPr latinLnBrk="0"/>
                      <a:r>
                        <a:rPr lang="en-US" sz="1200" b="0" i="0">
                          <a:solidFill>
                            <a:srgbClr val="000000"/>
                          </a:solidFill>
                          <a:latin typeface="Cambria"/>
                        </a:rPr>
                        <a:t>Data</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11 public datasets; 40,000-clip pool (20,000 genuine / 20,000 fake) + 4,000 external clips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48640">
                <a:tc>
                  <a:txBody>
                    <a:bodyPr wrap="square"/>
                    <a:lstStyle/>
                    <a:p>
                      <a:pPr latinLnBrk="0"/>
                      <a:r>
                        <a:rPr lang="en-US" sz="1200" b="0" i="0">
                          <a:solidFill>
                            <a:srgbClr val="000000"/>
                          </a:solidFill>
                          <a:latin typeface="Cambria"/>
                        </a:rPr>
                        <a:t>Generators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40+ systems: WaveFake vocoders, Fake-or-Real TTS, 8 modern TTS (OpenAI, XTTS, VALL-E…), MLAAD, 2025–26 commercial (ElevenLabs, Gemini, Cartesia…)</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48640">
                <a:tc>
                  <a:txBody>
                    <a:bodyPr wrap="square"/>
                    <a:lstStyle/>
                    <a:p>
                      <a:pPr latinLnBrk="0"/>
                      <a:r>
                        <a:rPr lang="en-US" sz="1200" b="0" i="0">
                          <a:solidFill>
                            <a:srgbClr val="000000"/>
                          </a:solidFill>
                          <a:latin typeface="Cambria"/>
                        </a:rPr>
                        <a:t>Genuine speech</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Fake-or-Real, LJ Speech, LibriTTS, VCTK (110 speakers), AccentDB (Indian-accent English), Common Voice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48640">
                <a:tc>
                  <a:txBody>
                    <a:bodyPr wrap="square"/>
                    <a:lstStyle/>
                    <a:p>
                      <a:pPr latinLnBrk="0"/>
                      <a:r>
                        <a:rPr lang="en-US" sz="1200" b="0" i="0">
                          <a:solidFill>
                            <a:srgbClr val="000000"/>
                          </a:solidFill>
                          <a:latin typeface="Cambria"/>
                        </a:rPr>
                        <a:t>Split</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Grouped: no recording, sentence or speaker in two splits; 27,363 train / 5,989 val / 6,648 test</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48640">
                <a:tc>
                  <a:txBody>
                    <a:bodyPr wrap="square"/>
                    <a:lstStyle/>
                    <a:p>
                      <a:pPr latinLnBrk="0"/>
                      <a:r>
                        <a:rPr lang="en-US" sz="1200" b="0" i="0">
                          <a:solidFill>
                            <a:srgbClr val="000000"/>
                          </a:solidFill>
                          <a:latin typeface="Cambria"/>
                        </a:rPr>
                        <a:t>Unseen generators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Leave-one-family-out: 9 families held out of training and validation entirely</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48640">
                <a:tc>
                  <a:txBody>
                    <a:bodyPr wrap="square"/>
                    <a:lstStyle/>
                    <a:p>
                      <a:pPr latinLnBrk="0"/>
                      <a:r>
                        <a:rPr lang="en-US" sz="1200" b="0" i="0">
                          <a:solidFill>
                            <a:srgbClr val="000000"/>
                          </a:solidFill>
                          <a:latin typeface="Cambria"/>
                        </a:rPr>
                        <a:t>External test</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In-the-Wild: 2,000 genuine + 2,000 deepfakes of public figures, never trained on</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548640">
                <a:tc>
                  <a:txBody>
                    <a:bodyPr wrap="square"/>
                    <a:lstStyle/>
                    <a:p>
                      <a:pPr latinLnBrk="0"/>
                      <a:r>
                        <a:rPr lang="en-US" sz="1200" b="0" i="0">
                          <a:solidFill>
                            <a:srgbClr val="000000"/>
                          </a:solidFill>
                          <a:latin typeface="Cambria"/>
                        </a:rPr>
                        <a:t>Robustness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200" b="0" i="0">
                          <a:solidFill>
                            <a:srgbClr val="000000"/>
                          </a:solidFill>
                          <a:latin typeface="Cambria"/>
                        </a:rPr>
                        <a:t>1,000 test clips re-tested under 8 degradations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bl>
          </a:graphicData>
        </a:graphic>
      </p:graphicFrame>
      <p:sp>
        <p:nvSpPr>
          <p:cNvPr id="4" name="TextBox 3"/>
          <p:cNvSpPr txBox="1"/>
          <p:nvPr/>
        </p:nvSpPr>
        <p:spPr>
          <a:xfrm>
            <a:off x="7178040" y="868680"/>
            <a:ext cx="4754880" cy="5669280"/>
          </a:xfrm>
          <a:prstGeom prst="rect">
            <a:avLst/>
          </a:prstGeom>
          <a:noFill/>
        </p:spPr>
        <p:txBody>
          <a:bodyPr wrap="square" anchor="t" lIns="36576" rIns="36576" tIns="36576" bIns="36576">
            <a:spAutoFit/>
          </a:bodyPr>
          <a:lstStyle/>
          <a:p>
            <a:pPr algn="l" latinLnBrk="0">
              <a:spcAft>
                <a:spcPts val="600"/>
              </a:spcAft>
            </a:pPr>
            <a:r>
              <a:rPr lang="en-US" sz="1400" b="1" i="0">
                <a:solidFill>
                  <a:srgbClr val="000000"/>
                </a:solidFill>
                <a:latin typeface="Cambria"/>
              </a:rPr>
              <a:t>Why this protocol</a:t>
            </a:r>
          </a:p>
          <a:p>
            <a:pPr algn="l" latinLnBrk="0">
              <a:spcAft>
                <a:spcPts val="600"/>
              </a:spcAft>
            </a:pPr>
            <a:r>
              <a:rPr lang="en-US" sz="1300" b="0" i="0">
                <a:solidFill>
                  <a:srgbClr val="000000"/>
                </a:solidFill>
                <a:latin typeface="Cambria"/>
              </a:rPr>
              <a:t>The students’ original 97.73% came from a random split in which </a:t>
            </a:r>
            <a:r>
              <a:rPr lang="en-US" sz="1300" b="1" i="0">
                <a:solidFill>
                  <a:srgbClr val="000000"/>
                </a:solidFill>
                <a:latin typeface="Cambria"/>
              </a:rPr>
              <a:t>28%</a:t>
            </a:r>
            <a:r>
              <a:rPr lang="en-US" sz="1300" b="0" i="0">
                <a:solidFill>
                  <a:srgbClr val="000000"/>
                </a:solidFill>
                <a:latin typeface="Cambria"/>
              </a:rPr>
              <a:t> of validation clips had a copy of the same recording or sentence in training. Under the grouped split the same model design scores </a:t>
            </a:r>
            <a:r>
              <a:rPr lang="en-US" sz="1300" b="1" i="0">
                <a:solidFill>
                  <a:srgbClr val="000000"/>
                </a:solidFill>
                <a:latin typeface="Cambria"/>
              </a:rPr>
              <a:t>93.2%</a:t>
            </a:r>
            <a:r>
              <a:rPr lang="en-US" sz="1300" b="0" i="0">
                <a:solidFill>
                  <a:srgbClr val="000000"/>
                </a:solidFill>
                <a:latin typeface="Cambria"/>
              </a:rPr>
              <a:t>.</a:t>
            </a:r>
          </a:p>
          <a:p>
            <a:pPr algn="l" latinLnBrk="0">
              <a:spcAft>
                <a:spcPts val="600"/>
              </a:spcAft>
            </a:pPr>
            <a:r>
              <a:rPr lang="en-US" sz="1300" b="0" i="0">
                <a:solidFill>
                  <a:srgbClr val="000000"/>
                </a:solidFill>
                <a:latin typeface="Cambria"/>
              </a:rPr>
              <a:t>Leave-one-family-out simulates a generator released after training, the threat the gateway is designed for.</a:t>
            </a:r>
          </a:p>
          <a:p>
            <a:pPr algn="l" latinLnBrk="0">
              <a:spcAft>
                <a:spcPts val="600"/>
              </a:spcAft>
            </a:pPr>
            <a:r>
              <a:rPr lang="en-US" sz="1300" b="0" i="0">
                <a:solidFill>
                  <a:srgbClr val="000000"/>
                </a:solidFill>
                <a:latin typeface="Cambria"/>
              </a:rPr>
              <a:t>In-the-Wild measures performance on real internet audio from a different source than any training data.</a:t>
            </a:r>
          </a:p>
          <a:p>
            <a:pPr algn="l" latinLnBrk="0">
              <a:spcAft>
                <a:spcPts val="600"/>
              </a:spcAft>
            </a:pPr>
            <a:r>
              <a:rPr lang="en-US" sz="1400" b="1" i="0">
                <a:solidFill>
                  <a:srgbClr val="000000"/>
                </a:solidFill>
                <a:latin typeface="Cambria"/>
              </a:rPr>
              <a:t>Compute</a:t>
            </a:r>
          </a:p>
          <a:p>
            <a:pPr algn="l" latinLnBrk="0">
              <a:spcAft>
                <a:spcPts val="600"/>
              </a:spcAft>
            </a:pPr>
            <a:r>
              <a:rPr lang="en-US" sz="1300" b="0" i="0">
                <a:solidFill>
                  <a:srgbClr val="000000"/>
                </a:solidFill>
                <a:latin typeface="Cambria"/>
              </a:rPr>
              <a:t>Kaggle GPU (T4); full run about 1.8 h. Notebooks and results are in the deliverables folder.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Technical Effect: Gateway vs Detector Alone vs Simple Review Rule</a:t>
            </a:r>
          </a:p>
        </p:txBody>
      </p:sp>
      <p:graphicFrame>
        <p:nvGraphicFramePr>
          <p:cNvPr id="3" name="Chart 2"/>
          <p:cNvGraphicFramePr>
            <a:graphicFrameLocks noGrp="1"/>
          </p:cNvGraphicFramePr>
          <p:nvPr/>
        </p:nvGraphicFramePr>
        <p:xfrm>
          <a:off x="274320" y="868680"/>
          <a:ext cx="5715000" cy="402336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172200" y="868680"/>
          <a:ext cx="5715000" cy="4023360"/>
        </p:xfrm>
        <a:graphic>
          <a:graphicData uri="http://schemas.openxmlformats.org/drawingml/2006/chart">
            <c:chart xmlns:c="http://schemas.openxmlformats.org/drawingml/2006/chart" r:id="rId3"/>
          </a:graphicData>
        </a:graphic>
      </p:graphicFrame>
      <p:sp>
        <p:nvSpPr>
          <p:cNvPr id="5" name="TextBox 4"/>
          <p:cNvSpPr txBox="1"/>
          <p:nvPr/>
        </p:nvSpPr>
        <p:spPr>
          <a:xfrm>
            <a:off x="320040" y="5029200"/>
            <a:ext cx="11521440" cy="1645920"/>
          </a:xfrm>
          <a:prstGeom prst="rect">
            <a:avLst/>
          </a:prstGeom>
          <a:noFill/>
        </p:spPr>
        <p:txBody>
          <a:bodyPr wrap="square" anchor="t" lIns="36576" rIns="36576" tIns="36576" bIns="36576">
            <a:spAutoFit/>
          </a:bodyPr>
          <a:lstStyle/>
          <a:p>
            <a:pPr algn="l" latinLnBrk="0">
              <a:spcAft>
                <a:spcPts val="600"/>
              </a:spcAft>
            </a:pPr>
            <a:r>
              <a:rPr lang="en-US" sz="1300" b="1" i="0">
                <a:solidFill>
                  <a:srgbClr val="000000"/>
                </a:solidFill>
                <a:latin typeface="Cambria"/>
              </a:rPr>
              <a:t>Reading: </a:t>
            </a:r>
            <a:r>
              <a:rPr lang="en-US" sz="1300" b="0" i="0">
                <a:solidFill>
                  <a:srgbClr val="000000"/>
                </a:solidFill>
                <a:latin typeface="Cambria"/>
              </a:rPr>
              <a:t>adding a review lane at ~14% genuine workload (27.5% on In-the-Wild) roughly halves both error types versus the detector alone. </a:t>
            </a:r>
            <a:r>
              <a:rPr lang="en-US" sz="1300" b="0" i="0">
                <a:solidFill>
                  <a:srgbClr val="C00000"/>
                </a:solidFill>
                <a:latin typeface="Cambria"/>
              </a:rPr>
              <a:t>But a simple rule that reviews the clips whose spoof score is closest to 0.5, at the same workload, does as well or slightly better than the current gateway rules. </a:t>
            </a:r>
            <a:r>
              <a:rPr lang="en-US" sz="1300" b="0" i="0">
                <a:solidFill>
                  <a:srgbClr val="000000"/>
                </a:solidFill>
                <a:latin typeface="Cambria"/>
              </a:rPr>
              <a:t>The measured benefit therefore comes mainly from the review lane itself, not yet from the extra heads.</a:t>
            </a:r>
          </a:p>
          <a:p>
            <a:pPr algn="l" latinLnBrk="0">
              <a:spcAft>
                <a:spcPts val="600"/>
              </a:spcAft>
            </a:pPr>
            <a:r>
              <a:rPr lang="en-US" sz="1300" b="0" i="0">
                <a:solidFill>
                  <a:srgbClr val="595959"/>
                </a:solidFill>
                <a:latin typeface="Cambria"/>
              </a:rPr>
              <a:t>Simple review rule = review the clips with the smallest |logit P(fake)| until the genuine review rate matches the gateway’s.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Technical Effect: Do the Extra Heads Add Information?</a:t>
            </a:r>
          </a:p>
        </p:txBody>
      </p:sp>
      <p:graphicFrame>
        <p:nvGraphicFramePr>
          <p:cNvPr id="3" name="Table 2"/>
          <p:cNvGraphicFramePr>
            <a:graphicFrameLocks noGrp="1"/>
          </p:cNvGraphicFramePr>
          <p:nvPr/>
        </p:nvGraphicFramePr>
        <p:xfrm>
          <a:off x="274320" y="868680"/>
          <a:ext cx="7498080" cy="4133088"/>
        </p:xfrm>
        <a:graphic>
          <a:graphicData uri="http://schemas.openxmlformats.org/drawingml/2006/table">
            <a:tbl>
              <a:tblPr firstRow="0" bandRow="0">
                <a:tableStyleId>{5940675A-B579-460E-94D1-54222C63F5DA}</a:tableStyleId>
              </a:tblPr>
              <a:tblGrid>
                <a:gridCol w="2651760"/>
                <a:gridCol w="1463040"/>
                <a:gridCol w="1737360"/>
                <a:gridCol w="1645920"/>
              </a:tblGrid>
              <a:tr h="292608">
                <a:tc>
                  <a:txBody>
                    <a:bodyPr wrap="square"/>
                    <a:lstStyle/>
                    <a:p>
                      <a:pPr latinLnBrk="0"/>
                      <a:r>
                        <a:rPr lang="en-US" sz="1100" b="1" i="0">
                          <a:solidFill>
                            <a:srgbClr val="000000"/>
                          </a:solidFill>
                          <a:latin typeface="Cambria"/>
                        </a:rPr>
                        <a:t>Held-out (never-seen) family</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Score margin only</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Score + uncertainty + novelty</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Genuine auto-blocked: margin → combined</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Conformer-FastSpeech2</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0.846</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0.868</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3.1% → 2.7%</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Fake-or-Real TTS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0.571</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0.609</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7.2% → 6.0%</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HiFi-GAN</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0.794</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0.830</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4.8% → 4.4%</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MelGAN family</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0.813</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0.819</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3.8% → 3.5%</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MLAAD open TTS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0.779</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0.793</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1.1% → 0.7%</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Modern TTS (OpenAI, XTTS…)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0.812</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0.822</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2.3% → 1.6%</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Parallel WaveGAN</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0.820</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0.835</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4.9% → 4.8%</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2025–26 commercial TTS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0.855</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0.893</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2.3% → 1.9%</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WaveGlow</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0.846</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0.848</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4.5% → 4.6%</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1" i="0">
                          <a:solidFill>
                            <a:srgbClr val="000000"/>
                          </a:solidFill>
                          <a:latin typeface="Cambria"/>
                        </a:rPr>
                        <a:t>Mean</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0.790</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C00000"/>
                          </a:solidFill>
                          <a:latin typeface="Cambria"/>
                        </a:rPr>
                        <a:t>0.810</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3.8% → 3.4%</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bl>
          </a:graphicData>
        </a:graphic>
      </p:graphicFrame>
      <p:sp>
        <p:nvSpPr>
          <p:cNvPr id="4" name="TextBox 3"/>
          <p:cNvSpPr txBox="1"/>
          <p:nvPr/>
        </p:nvSpPr>
        <p:spPr>
          <a:xfrm>
            <a:off x="8001000" y="868680"/>
            <a:ext cx="3931920" cy="5760720"/>
          </a:xfrm>
          <a:prstGeom prst="rect">
            <a:avLst/>
          </a:prstGeom>
          <a:noFill/>
        </p:spPr>
        <p:txBody>
          <a:bodyPr wrap="square" anchor="t" lIns="36576" rIns="36576" tIns="36576" bIns="36576">
            <a:spAutoFit/>
          </a:bodyPr>
          <a:lstStyle/>
          <a:p>
            <a:pPr algn="l" latinLnBrk="0">
              <a:spcAft>
                <a:spcPts val="600"/>
              </a:spcAft>
            </a:pPr>
            <a:r>
              <a:rPr lang="en-US" sz="1300" b="1" i="0">
                <a:solidFill>
                  <a:srgbClr val="000000"/>
                </a:solidFill>
                <a:latin typeface="Cambria"/>
              </a:rPr>
              <a:t>What we measured</a:t>
            </a:r>
          </a:p>
          <a:p>
            <a:pPr algn="l" latinLnBrk="0">
              <a:spcAft>
                <a:spcPts val="600"/>
              </a:spcAft>
            </a:pPr>
            <a:r>
              <a:rPr lang="en-US" sz="1200" b="0" i="0">
                <a:solidFill>
                  <a:srgbClr val="000000"/>
                </a:solidFill>
                <a:latin typeface="Cambria"/>
              </a:rPr>
              <a:t>How well each signal spots the detector’s wrong verdicts (AUC; 0.5 = chance, 1.0 = perfect).</a:t>
            </a:r>
          </a:p>
          <a:p>
            <a:pPr algn="l" latinLnBrk="0">
              <a:spcAft>
                <a:spcPts val="600"/>
              </a:spcAft>
            </a:pPr>
            <a:r>
              <a:rPr lang="en-US" sz="1200" b="0" i="0">
                <a:solidFill>
                  <a:srgbClr val="000000"/>
                </a:solidFill>
                <a:latin typeface="Cambria"/>
              </a:rPr>
              <a:t>The combination’s weights were fitted only on the familiar-generator test set, then applied unchanged to each never-seen family. No unseen data was used to fit it.</a:t>
            </a:r>
          </a:p>
          <a:p>
            <a:pPr algn="l" latinLnBrk="0">
              <a:spcAft>
                <a:spcPts val="600"/>
              </a:spcAft>
            </a:pPr>
            <a:r>
              <a:rPr lang="en-US" sz="1300" b="1" i="0">
                <a:solidFill>
                  <a:srgbClr val="000000"/>
                </a:solidFill>
                <a:latin typeface="Cambria"/>
              </a:rPr>
              <a:t>Finding</a:t>
            </a:r>
          </a:p>
          <a:p>
            <a:pPr algn="l" latinLnBrk="0">
              <a:spcAft>
                <a:spcPts val="600"/>
              </a:spcAft>
            </a:pPr>
            <a:r>
              <a:rPr lang="en-US" sz="1200" b="0" i="0">
                <a:solidFill>
                  <a:srgbClr val="000000"/>
                </a:solidFill>
                <a:latin typeface="Cambria"/>
              </a:rPr>
              <a:t>The heads </a:t>
            </a:r>
            <a:r>
              <a:rPr lang="en-US" sz="1200" b="1" i="0">
                <a:solidFill>
                  <a:srgbClr val="000000"/>
                </a:solidFill>
                <a:latin typeface="Cambria"/>
              </a:rPr>
              <a:t>do</a:t>
            </a:r>
            <a:r>
              <a:rPr lang="en-US" sz="1200" b="0" i="0">
                <a:solidFill>
                  <a:srgbClr val="000000"/>
                </a:solidFill>
                <a:latin typeface="Cambria"/>
              </a:rPr>
              <a:t> carry extra information on never-seen generators: better in </a:t>
            </a:r>
            <a:r>
              <a:rPr lang="en-US" sz="1200" b="1" i="0">
                <a:solidFill>
                  <a:srgbClr val="C00000"/>
                </a:solidFill>
                <a:latin typeface="Cambria"/>
              </a:rPr>
              <a:t>9 of 9</a:t>
            </a:r>
            <a:r>
              <a:rPr lang="en-US" sz="1200" b="0" i="0">
                <a:solidFill>
                  <a:srgbClr val="000000"/>
                </a:solidFill>
                <a:latin typeface="Cambria"/>
              </a:rPr>
              <a:t> families, but the gain is small (mean 0.79 → 0.81). Fakes passed at equal workload: 17.0% → 17.4% (no gain); genuine auto-blocked 3.8% → 3.4%.</a:t>
            </a:r>
          </a:p>
          <a:p>
            <a:pPr algn="l" latinLnBrk="0">
              <a:spcAft>
                <a:spcPts val="600"/>
              </a:spcAft>
            </a:pPr>
            <a:r>
              <a:rPr lang="en-US" sz="1200" b="0" i="0">
                <a:solidFill>
                  <a:srgbClr val="000000"/>
                </a:solidFill>
                <a:latin typeface="Cambria"/>
              </a:rPr>
              <a:t>On familiar generators the heads add nothing over the score margin (0.853 vs 0.850).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Sample Results: Live Inference (round-2 model, laptop CPU)</a:t>
            </a:r>
          </a:p>
        </p:txBody>
      </p:sp>
      <p:pic>
        <p:nvPicPr>
          <p:cNvPr id="3" name="Picture 2" descr="result_genuine_pass_card.png"/>
          <p:cNvPicPr>
            <a:picLocks noChangeAspect="1"/>
          </p:cNvPicPr>
          <p:nvPr/>
        </p:nvPicPr>
        <p:blipFill>
          <a:blip r:embed="rId2"/>
          <a:stretch>
            <a:fillRect/>
          </a:stretch>
        </p:blipFill>
        <p:spPr>
          <a:xfrm>
            <a:off x="548640" y="868680"/>
            <a:ext cx="3888367" cy="4434840"/>
          </a:xfrm>
          <a:prstGeom prst="rect">
            <a:avLst/>
          </a:prstGeom>
        </p:spPr>
      </p:pic>
      <p:sp>
        <p:nvSpPr>
          <p:cNvPr id="4" name="TextBox 3"/>
          <p:cNvSpPr txBox="1"/>
          <p:nvPr/>
        </p:nvSpPr>
        <p:spPr>
          <a:xfrm>
            <a:off x="320040" y="5394960"/>
            <a:ext cx="3657600" cy="640080"/>
          </a:xfrm>
          <a:prstGeom prst="rect">
            <a:avLst/>
          </a:prstGeom>
          <a:noFill/>
        </p:spPr>
        <p:txBody>
          <a:bodyPr wrap="square" anchor="t" lIns="36576" rIns="36576" tIns="36576" bIns="36576">
            <a:spAutoFit/>
          </a:bodyPr>
          <a:lstStyle/>
          <a:p>
            <a:pPr algn="ctr" latinLnBrk="0">
              <a:spcAft>
                <a:spcPts val="400"/>
              </a:spcAft>
            </a:pPr>
            <a:r>
              <a:rPr lang="en-US" sz="1200" b="1" i="0">
                <a:solidFill>
                  <a:srgbClr val="0E7A4F"/>
                </a:solidFill>
                <a:latin typeface="Cambria"/>
              </a:rPr>
              <a:t>Genuine (Mark Zuckerberg interview) → Stage 1 Pass</a:t>
            </a:r>
          </a:p>
        </p:txBody>
      </p:sp>
      <p:pic>
        <p:nvPicPr>
          <p:cNvPr id="5" name="Picture 4" descr="result_deepfake_block_card.png"/>
          <p:cNvPicPr>
            <a:picLocks noChangeAspect="1"/>
          </p:cNvPicPr>
          <p:nvPr/>
        </p:nvPicPr>
        <p:blipFill>
          <a:blip r:embed="rId3"/>
          <a:stretch>
            <a:fillRect/>
          </a:stretch>
        </p:blipFill>
        <p:spPr>
          <a:xfrm>
            <a:off x="4434840" y="868680"/>
            <a:ext cx="3888367" cy="4434840"/>
          </a:xfrm>
          <a:prstGeom prst="rect">
            <a:avLst/>
          </a:prstGeom>
        </p:spPr>
      </p:pic>
      <p:sp>
        <p:nvSpPr>
          <p:cNvPr id="6" name="TextBox 5"/>
          <p:cNvSpPr txBox="1"/>
          <p:nvPr/>
        </p:nvSpPr>
        <p:spPr>
          <a:xfrm>
            <a:off x="4206240" y="5394960"/>
            <a:ext cx="3657600" cy="640080"/>
          </a:xfrm>
          <a:prstGeom prst="rect">
            <a:avLst/>
          </a:prstGeom>
          <a:noFill/>
        </p:spPr>
        <p:txBody>
          <a:bodyPr wrap="square" anchor="t" lIns="36576" rIns="36576" tIns="36576" bIns="36576">
            <a:spAutoFit/>
          </a:bodyPr>
          <a:lstStyle/>
          <a:p>
            <a:pPr algn="ctr" latinLnBrk="0">
              <a:spcAft>
                <a:spcPts val="400"/>
              </a:spcAft>
            </a:pPr>
            <a:r>
              <a:rPr lang="en-US" sz="1200" b="1" i="0">
                <a:solidFill>
                  <a:srgbClr val="C00000"/>
                </a:solidFill>
                <a:latin typeface="Cambria"/>
              </a:rPr>
              <a:t>AI-generated (Barack Obama) → Stage 2 Block</a:t>
            </a:r>
          </a:p>
        </p:txBody>
      </p:sp>
      <p:pic>
        <p:nvPicPr>
          <p:cNvPr id="7" name="Picture 6" descr="result_review_uncertain_card.png"/>
          <p:cNvPicPr>
            <a:picLocks noChangeAspect="1"/>
          </p:cNvPicPr>
          <p:nvPr/>
        </p:nvPicPr>
        <p:blipFill>
          <a:blip r:embed="rId4"/>
          <a:stretch>
            <a:fillRect/>
          </a:stretch>
        </p:blipFill>
        <p:spPr>
          <a:xfrm>
            <a:off x="8321040" y="868680"/>
            <a:ext cx="3785215" cy="4434840"/>
          </a:xfrm>
          <a:prstGeom prst="rect">
            <a:avLst/>
          </a:prstGeom>
        </p:spPr>
      </p:pic>
      <p:sp>
        <p:nvSpPr>
          <p:cNvPr id="8" name="TextBox 7"/>
          <p:cNvSpPr txBox="1"/>
          <p:nvPr/>
        </p:nvSpPr>
        <p:spPr>
          <a:xfrm>
            <a:off x="8092440" y="5394960"/>
            <a:ext cx="3657600" cy="640080"/>
          </a:xfrm>
          <a:prstGeom prst="rect">
            <a:avLst/>
          </a:prstGeom>
          <a:noFill/>
        </p:spPr>
        <p:txBody>
          <a:bodyPr wrap="square" anchor="t" lIns="36576" rIns="36576" tIns="36576" bIns="36576">
            <a:spAutoFit/>
          </a:bodyPr>
          <a:lstStyle/>
          <a:p>
            <a:pPr algn="ctr" latinLnBrk="0">
              <a:spcAft>
                <a:spcPts val="400"/>
              </a:spcAft>
            </a:pPr>
            <a:r>
              <a:rPr lang="en-US" sz="1200" b="1" i="0">
                <a:solidFill>
                  <a:srgbClr val="B26B00"/>
                </a:solidFill>
                <a:latin typeface="Cambria"/>
              </a:rPr>
              <a:t>AI-generated (Zuckerberg) → Stage 3 review, high uncertainty</a:t>
            </a:r>
          </a:p>
        </p:txBody>
      </p:sp>
      <p:sp>
        <p:nvSpPr>
          <p:cNvPr id="9" name="TextBox 8"/>
          <p:cNvSpPr txBox="1"/>
          <p:nvPr/>
        </p:nvSpPr>
        <p:spPr>
          <a:xfrm>
            <a:off x="320040" y="6080760"/>
            <a:ext cx="11521440" cy="640080"/>
          </a:xfrm>
          <a:prstGeom prst="rect">
            <a:avLst/>
          </a:prstGeom>
          <a:noFill/>
        </p:spPr>
        <p:txBody>
          <a:bodyPr wrap="square" anchor="t" lIns="36576" rIns="36576" tIns="36576" bIns="36576">
            <a:spAutoFit/>
          </a:bodyPr>
          <a:lstStyle/>
          <a:p>
            <a:pPr algn="l" latinLnBrk="0">
              <a:spcAft>
                <a:spcPts val="400"/>
              </a:spcAft>
            </a:pPr>
            <a:r>
              <a:rPr lang="en-US" sz="1100" b="0" i="0">
                <a:solidFill>
                  <a:srgbClr val="595959"/>
                </a:solidFill>
                <a:latin typeface="Cambria"/>
              </a:rPr>
              <a:t>Clips from the In-the-Wild dataset (never used in training). Each card shows the verdict, risk level, P(fake), uncertainty, attack-type distribution, novelty vs threshold, gateway route and the rationale.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Results Summary (round-2 model)</a:t>
            </a:r>
          </a:p>
        </p:txBody>
      </p:sp>
      <p:graphicFrame>
        <p:nvGraphicFramePr>
          <p:cNvPr id="3" name="Table 2"/>
          <p:cNvGraphicFramePr>
            <a:graphicFrameLocks noGrp="1"/>
          </p:cNvGraphicFramePr>
          <p:nvPr/>
        </p:nvGraphicFramePr>
        <p:xfrm>
          <a:off x="274320" y="868680"/>
          <a:ext cx="6949440" cy="3749040"/>
        </p:xfrm>
        <a:graphic>
          <a:graphicData uri="http://schemas.openxmlformats.org/drawingml/2006/table">
            <a:tbl>
              <a:tblPr firstRow="0" bandRow="0">
                <a:tableStyleId>{5940675A-B579-460E-94D1-54222C63F5DA}</a:tableStyleId>
              </a:tblPr>
              <a:tblGrid>
                <a:gridCol w="2651760"/>
                <a:gridCol w="1005840"/>
                <a:gridCol w="1097280"/>
                <a:gridCol w="1188720"/>
                <a:gridCol w="1005840"/>
              </a:tblGrid>
              <a:tr h="292608">
                <a:tc>
                  <a:txBody>
                    <a:bodyPr wrap="square"/>
                    <a:lstStyle/>
                    <a:p>
                      <a:pPr latinLnBrk="0"/>
                      <a:r>
                        <a:rPr lang="en-US" sz="1100" b="1" i="0">
                          <a:solidFill>
                            <a:srgbClr val="000000"/>
                          </a:solidFill>
                          <a:latin typeface="Cambria"/>
                        </a:rPr>
                        <a:t>Held-out family</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Seen EER</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Unseen EER</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Unseen fakes passed</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Flagged novel</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2025–26 commercial TTS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6.9%</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11.4%</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20.1%</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30.8%</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Modern TTS (OpenAI, XTTS…)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10.1%</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25.8%</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65.2%</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9.4%</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MLAAD open TTS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7.5%</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18.4%</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41.3%</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12.9%</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Fake-or-Real TTS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11.1%</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40.5%</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66.5%</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14.3%</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Conformer-FastSpeech2</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7.1%</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10.4%</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19.8%</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0.4%</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MelGAN family</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7.9%</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14.7%</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34.7%</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7.7%</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HiFi-GAN</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7.1%</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10.5%</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13.8%</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0.0%</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WaveGlow</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11.9%</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9.4%</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5.3%</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0.0%</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Parallel WaveGAN</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7.0%</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8.2%</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7.4%</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23.8%</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bl>
          </a:graphicData>
        </a:graphic>
      </p:graphicFrame>
      <p:graphicFrame>
        <p:nvGraphicFramePr>
          <p:cNvPr id="4" name="Table 3"/>
          <p:cNvGraphicFramePr>
            <a:graphicFrameLocks noGrp="1"/>
          </p:cNvGraphicFramePr>
          <p:nvPr/>
        </p:nvGraphicFramePr>
        <p:xfrm>
          <a:off x="7452360" y="868680"/>
          <a:ext cx="4434840" cy="2980944"/>
        </p:xfrm>
        <a:graphic>
          <a:graphicData uri="http://schemas.openxmlformats.org/drawingml/2006/table">
            <a:tbl>
              <a:tblPr firstRow="0" bandRow="0">
                <a:tableStyleId>{5940675A-B579-460E-94D1-54222C63F5DA}</a:tableStyleId>
              </a:tblPr>
              <a:tblGrid>
                <a:gridCol w="2651760"/>
                <a:gridCol w="1783080"/>
              </a:tblGrid>
              <a:tr h="292608">
                <a:tc>
                  <a:txBody>
                    <a:bodyPr wrap="square"/>
                    <a:lstStyle/>
                    <a:p>
                      <a:pPr latinLnBrk="0"/>
                      <a:r>
                        <a:rPr lang="en-US" sz="1100" b="1" i="0">
                          <a:solidFill>
                            <a:srgbClr val="000000"/>
                          </a:solidFill>
                          <a:latin typeface="Cambria"/>
                        </a:rPr>
                        <a:t>Headline metric</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1" i="0">
                          <a:solidFill>
                            <a:srgbClr val="000000"/>
                          </a:solidFill>
                          <a:latin typeface="Cambria"/>
                        </a:rPr>
                        <a:t>Value</a:t>
                      </a:r>
                    </a:p>
                  </a:txBody>
                  <a:tcPr marL="54864" marR="54864" marT="27432" marB="27432" anchor="ctr">
                    <a:solidFill>
                      <a:srgbClr val="F2F2F2"/>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Clean test accuracy (6,648 clips)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93.2%</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Clean test ROC-AUC / EER</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0.978 / 6.8%</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Genuine flagged fake / fakes passed</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7.0% / 6.5%</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In-the-Wild accuracy / EER</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73.4% / 25.8%</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Attack-type accuracy (test fakes)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91.0%</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Uncertainty AUC for spotting errors</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0.81</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r h="384048">
                <a:tc>
                  <a:txBody>
                    <a:bodyPr wrap="square"/>
                    <a:lstStyle/>
                    <a:p>
                      <a:pPr latinLnBrk="0"/>
                      <a:r>
                        <a:rPr lang="en-US" sz="1100" b="0" i="0">
                          <a:solidFill>
                            <a:srgbClr val="000000"/>
                          </a:solidFill>
                          <a:latin typeface="Cambria"/>
                        </a:rPr>
                        <a:t>Random-split accuracy (for comparison)</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c>
                  <a:txBody>
                    <a:bodyPr wrap="square"/>
                    <a:lstStyle/>
                    <a:p>
                      <a:pPr latinLnBrk="0"/>
                      <a:r>
                        <a:rPr lang="en-US" sz="1100" b="0" i="0">
                          <a:solidFill>
                            <a:srgbClr val="000000"/>
                          </a:solidFill>
                          <a:latin typeface="Cambria"/>
                        </a:rPr>
                        <a:t>95.8% (28% leakage)</a:t>
                      </a:r>
                    </a:p>
                  </a:txBody>
                  <a:tcPr marL="54864" marR="54864" marT="27432" marB="27432" anchor="ctr">
                    <a:solidFill>
                      <a:srgbClr val="FFFFFF"/>
                    </a:solidFill>
                    <a:lnL w="9525" cap="flat" cmpd="sng" algn="ctr">
                      <a:solidFill>
                        <a:srgbClr val="000000"/>
                      </a:solidFill>
                      <a:prstDash val="solid"/>
                    </a:lnL>
                    <a:lnR w="9525" cap="flat" cmpd="sng" algn="ctr">
                      <a:solidFill>
                        <a:srgbClr val="000000"/>
                      </a:solidFill>
                      <a:prstDash val="solid"/>
                    </a:lnR>
                    <a:lnT w="9525" cap="flat" cmpd="sng" algn="ctr">
                      <a:solidFill>
                        <a:srgbClr val="000000"/>
                      </a:solidFill>
                      <a:prstDash val="solid"/>
                    </a:lnT>
                    <a:lnB w="9525" cap="flat" cmpd="sng" algn="ctr">
                      <a:solidFill>
                        <a:srgbClr val="000000"/>
                      </a:solidFill>
                      <a:prstDash val="solid"/>
                    </a:lnB>
                  </a:tcPr>
                </a:tc>
              </a:tr>
            </a:tbl>
          </a:graphicData>
        </a:graphic>
      </p:graphicFrame>
      <p:sp>
        <p:nvSpPr>
          <p:cNvPr id="5" name="TextBox 4"/>
          <p:cNvSpPr txBox="1"/>
          <p:nvPr/>
        </p:nvSpPr>
        <p:spPr>
          <a:xfrm>
            <a:off x="7452360" y="4206240"/>
            <a:ext cx="4434840" cy="2194560"/>
          </a:xfrm>
          <a:prstGeom prst="rect">
            <a:avLst/>
          </a:prstGeom>
          <a:noFill/>
        </p:spPr>
        <p:txBody>
          <a:bodyPr wrap="square" anchor="t" lIns="36576" rIns="36576" tIns="36576" bIns="36576">
            <a:spAutoFit/>
          </a:bodyPr>
          <a:lstStyle/>
          <a:p>
            <a:pPr algn="l" latinLnBrk="0">
              <a:spcAft>
                <a:spcPts val="400"/>
              </a:spcAft>
            </a:pPr>
            <a:r>
              <a:rPr lang="en-US" sz="1300" b="1" i="0">
                <a:solidFill>
                  <a:srgbClr val="000000"/>
                </a:solidFill>
                <a:latin typeface="Cambria"/>
              </a:rPr>
              <a:t>Robustness (EER, 1,000 test clips)</a:t>
            </a:r>
          </a:p>
          <a:p>
            <a:pPr algn="l" latinLnBrk="0">
              <a:spcAft>
                <a:spcPts val="400"/>
              </a:spcAft>
            </a:pPr>
            <a:r>
              <a:rPr lang="en-US" sz="1200" b="0" i="0">
                <a:solidFill>
                  <a:srgbClr val="000000"/>
                </a:solidFill>
                <a:latin typeface="Cambria"/>
              </a:rPr>
              <a:t>Clean 7.4% · MP3 32 kbps 9.0% · MP3 128 kbps 7.5% · Telephone 8 kHz 10.6% · Reverb 11.8% · Noise 20 dB 13.6% · 10 dB 19.1% · 0 dB 21.2%</a:t>
            </a:r>
          </a:p>
        </p:txBody>
      </p:sp>
      <p:sp>
        <p:nvSpPr>
          <p:cNvPr id="6" name="TextBox 5"/>
          <p:cNvSpPr txBox="1"/>
          <p:nvPr/>
        </p:nvSpPr>
        <p:spPr>
          <a:xfrm>
            <a:off x="320040" y="4892040"/>
            <a:ext cx="6949440" cy="1737360"/>
          </a:xfrm>
          <a:prstGeom prst="rect">
            <a:avLst/>
          </a:prstGeom>
          <a:noFill/>
        </p:spPr>
        <p:txBody>
          <a:bodyPr wrap="square" anchor="t" lIns="36576" rIns="36576" tIns="36576" bIns="36576">
            <a:spAutoFit/>
          </a:bodyPr>
          <a:lstStyle/>
          <a:p>
            <a:pPr algn="l" latinLnBrk="0">
              <a:spcAft>
                <a:spcPts val="400"/>
              </a:spcAft>
            </a:pPr>
            <a:r>
              <a:rPr lang="en-US" sz="1100" b="0" i="0">
                <a:solidFill>
                  <a:srgbClr val="595959"/>
                </a:solidFill>
                <a:latin typeface="Cambria"/>
              </a:rPr>
              <a:t>EER = equal error rate (lower is better). </a:t>
            </a:r>
            <a:r>
              <a:rPr lang="en-US" sz="1100" b="0" i="0">
                <a:solidFill>
                  <a:srgbClr val="595959"/>
                </a:solidFill>
                <a:latin typeface="Cambria"/>
              </a:rPr>
              <a:t>Seen</a:t>
            </a:r>
            <a:r>
              <a:rPr lang="en-US" sz="1100" b="0" i="0">
                <a:solidFill>
                  <a:srgbClr val="595959"/>
                </a:solidFill>
                <a:latin typeface="Cambria"/>
              </a:rPr>
              <a:t> = the other families on the same genuine test audio. Strong generalisation to unseen vocoders; </a:t>
            </a:r>
            <a:r>
              <a:rPr lang="en-US" sz="1100" b="0" i="0">
                <a:solidFill>
                  <a:srgbClr val="C00000"/>
                </a:solidFill>
                <a:latin typeface="Cambria"/>
              </a:rPr>
              <a:t>unseen modern and Fake-or-Real TTS remain the weakest cases</a:t>
            </a:r>
            <a:r>
              <a:rPr lang="en-US" sz="1100" b="0" i="0">
                <a:solidFill>
                  <a:srgbClr val="595959"/>
                </a:solidFill>
                <a:latin typeface="Cambria"/>
              </a:rPr>
              <a:t> (most of their fakes pass when the family is never seen).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274320" y="73152"/>
            <a:ext cx="11612880" cy="685800"/>
          </a:xfrm>
          <a:prstGeom prst="rect">
            <a:avLst/>
          </a:prstGeom>
          <a:noFill/>
        </p:spPr>
        <p:txBody>
          <a:bodyPr wrap="square" anchor="ctr">
            <a:spAutoFit/>
          </a:bodyPr>
          <a:lstStyle/>
          <a:p>
            <a:pPr algn="l" latinLnBrk="0"/>
            <a:r>
              <a:rPr lang="en-US" sz="2800" b="1">
                <a:solidFill>
                  <a:srgbClr val="000000"/>
                </a:solidFill>
                <a:latin typeface="Cambria"/>
              </a:rPr>
              <a:t>Limitations, Not Yet Reduced to Practice, and Next Experiments</a:t>
            </a:r>
          </a:p>
        </p:txBody>
      </p:sp>
      <p:sp>
        <p:nvSpPr>
          <p:cNvPr id="3" name="TextBox 2"/>
          <p:cNvSpPr txBox="1"/>
          <p:nvPr/>
        </p:nvSpPr>
        <p:spPr>
          <a:xfrm>
            <a:off x="320040" y="868680"/>
            <a:ext cx="5760720" cy="5760720"/>
          </a:xfrm>
          <a:prstGeom prst="rect">
            <a:avLst/>
          </a:prstGeom>
          <a:noFill/>
        </p:spPr>
        <p:txBody>
          <a:bodyPr wrap="square" anchor="t" lIns="36576" rIns="36576" tIns="36576" bIns="36576">
            <a:spAutoFit/>
          </a:bodyPr>
          <a:lstStyle/>
          <a:p>
            <a:pPr algn="l" latinLnBrk="0">
              <a:spcAft>
                <a:spcPts val="500"/>
              </a:spcAft>
            </a:pPr>
            <a:r>
              <a:rPr lang="en-US" sz="1400" b="1" i="0">
                <a:solidFill>
                  <a:srgbClr val="000000"/>
                </a:solidFill>
                <a:latin typeface="Cambria"/>
              </a:rPr>
              <a:t>Limitations (measured)</a:t>
            </a:r>
          </a:p>
          <a:p>
            <a:pPr algn="l" marL="201168" indent="-182880" latinLnBrk="0">
              <a:spcAft>
                <a:spcPts val="500"/>
              </a:spcAft>
              <a:buChar char="•"/>
            </a:pPr>
            <a:r>
              <a:rPr lang="en-US" sz="1300" b="0" i="0">
                <a:solidFill>
                  <a:srgbClr val="000000"/>
                </a:solidFill>
                <a:latin typeface="Cambria"/>
              </a:rPr>
              <a:t>Never-seen modern TTS: about 2 in 3 fakes pass when the family was never seen</a:t>
            </a:r>
          </a:p>
          <a:p>
            <a:pPr algn="l" marL="201168" indent="-182880" latinLnBrk="0">
              <a:spcAft>
                <a:spcPts val="500"/>
              </a:spcAft>
              <a:buChar char="•"/>
            </a:pPr>
            <a:r>
              <a:rPr lang="en-US" sz="1300" b="0" i="0">
                <a:solidFill>
                  <a:srgbClr val="000000"/>
                </a:solidFill>
                <a:latin typeface="Cambria"/>
              </a:rPr>
              <a:t>Heavy noise: EER rises from 7% (clean) to 21% at 0 dB SNR</a:t>
            </a:r>
          </a:p>
          <a:p>
            <a:pPr algn="l" marL="201168" indent="-182880" latinLnBrk="0">
              <a:spcAft>
                <a:spcPts val="500"/>
              </a:spcAft>
              <a:buChar char="•"/>
            </a:pPr>
            <a:r>
              <a:rPr lang="en-US" sz="1300" b="0" i="0">
                <a:solidFill>
                  <a:srgbClr val="000000"/>
                </a:solidFill>
                <a:latin typeface="Cambria"/>
              </a:rPr>
              <a:t>Clips under 2 s are unreliable; routed to review by design</a:t>
            </a:r>
          </a:p>
          <a:p>
            <a:pPr algn="l" marL="201168" indent="-182880" latinLnBrk="0">
              <a:spcAft>
                <a:spcPts val="500"/>
              </a:spcAft>
              <a:buChar char="•"/>
            </a:pPr>
            <a:r>
              <a:rPr lang="en-US" sz="1300" b="0" i="0">
                <a:solidFill>
                  <a:srgbClr val="000000"/>
                </a:solidFill>
                <a:latin typeface="Cambria"/>
              </a:rPr>
              <a:t>LibriTTS genuine speech: 26% false alarms (other genuine sources 0.4–8%)</a:t>
            </a:r>
          </a:p>
          <a:p>
            <a:pPr algn="l" marL="201168" indent="-182880" latinLnBrk="0">
              <a:spcAft>
                <a:spcPts val="500"/>
              </a:spcAft>
              <a:buChar char="•"/>
            </a:pPr>
            <a:r>
              <a:rPr lang="en-US" sz="1300" b="0" i="0">
                <a:solidFill>
                  <a:srgbClr val="000000"/>
                </a:solidFill>
                <a:latin typeface="Cambria"/>
              </a:rPr>
              <a:t>Manipulated genuine audio (splicing, voice conversion) not tested; the splice/edit class has no training data</a:t>
            </a:r>
          </a:p>
          <a:p>
            <a:pPr algn="l" latinLnBrk="0">
              <a:spcAft>
                <a:spcPts val="500"/>
              </a:spcAft>
            </a:pPr>
            <a:r>
              <a:rPr lang="en-US" sz="1400" b="1" i="0">
                <a:solidFill>
                  <a:srgbClr val="000000"/>
                </a:solidFill>
                <a:latin typeface="Cambria"/>
              </a:rPr>
              <a:t>Not yet reduced to practice</a:t>
            </a:r>
          </a:p>
          <a:p>
            <a:pPr algn="l" marL="201168" indent="-182880" latinLnBrk="0">
              <a:spcAft>
                <a:spcPts val="500"/>
              </a:spcAft>
              <a:buChar char="•"/>
            </a:pPr>
            <a:r>
              <a:rPr lang="en-US" sz="1300" b="0" i="0">
                <a:solidFill>
                  <a:srgbClr val="000000"/>
                </a:solidFill>
                <a:latin typeface="Cambria"/>
              </a:rPr>
              <a:t>Continual-learning loop (claim 13)</a:t>
            </a:r>
          </a:p>
          <a:p>
            <a:pPr algn="l" marL="201168" indent="-182880" latinLnBrk="0">
              <a:spcAft>
                <a:spcPts val="500"/>
              </a:spcAft>
              <a:buChar char="•"/>
            </a:pPr>
            <a:r>
              <a:rPr lang="en-US" sz="1300" b="0" i="0">
                <a:solidFill>
                  <a:srgbClr val="000000"/>
                </a:solidFill>
                <a:latin typeface="Cambria"/>
              </a:rPr>
              <a:t>Per-channel disagreement explanation (claim 11): code only</a:t>
            </a:r>
          </a:p>
          <a:p>
            <a:pPr algn="l" marL="201168" indent="-182880" latinLnBrk="0">
              <a:spcAft>
                <a:spcPts val="500"/>
              </a:spcAft>
              <a:buChar char="•"/>
            </a:pPr>
            <a:r>
              <a:rPr lang="en-US" sz="1300" b="0" i="0">
                <a:solidFill>
                  <a:srgbClr val="000000"/>
                </a:solidFill>
                <a:latin typeface="Cambria"/>
              </a:rPr>
              <a:t>Combined risk-score routing (claim 6): offline analysis only</a:t>
            </a:r>
          </a:p>
        </p:txBody>
      </p:sp>
      <p:sp>
        <p:nvSpPr>
          <p:cNvPr id="4" name="TextBox 3"/>
          <p:cNvSpPr txBox="1"/>
          <p:nvPr/>
        </p:nvSpPr>
        <p:spPr>
          <a:xfrm>
            <a:off x="6263640" y="868680"/>
            <a:ext cx="5669280" cy="5760720"/>
          </a:xfrm>
          <a:prstGeom prst="rect">
            <a:avLst/>
          </a:prstGeom>
          <a:noFill/>
        </p:spPr>
        <p:txBody>
          <a:bodyPr wrap="square" anchor="t" lIns="36576" rIns="36576" tIns="36576" bIns="36576">
            <a:spAutoFit/>
          </a:bodyPr>
          <a:lstStyle/>
          <a:p>
            <a:pPr algn="l" latinLnBrk="0">
              <a:spcAft>
                <a:spcPts val="500"/>
              </a:spcAft>
            </a:pPr>
            <a:r>
              <a:rPr lang="en-US" sz="1400" b="1" i="0">
                <a:solidFill>
                  <a:srgbClr val="000000"/>
                </a:solidFill>
                <a:latin typeface="Cambria"/>
              </a:rPr>
              <a:t>Experiments that would strengthen the filing</a:t>
            </a:r>
          </a:p>
          <a:p>
            <a:pPr algn="l" marL="201168" indent="-182880" latinLnBrk="0">
              <a:spcAft>
                <a:spcPts val="500"/>
              </a:spcAft>
              <a:buChar char="•"/>
            </a:pPr>
            <a:r>
              <a:rPr lang="en-US" sz="1300" b="0" i="0">
                <a:solidFill>
                  <a:srgbClr val="000000"/>
                </a:solidFill>
                <a:latin typeface="Cambria"/>
              </a:rPr>
              <a:t>Replace the hand-written rules with the fitted combined risk score (claim 6), calibrated on validation; re-run leave-one-family-out. </a:t>
            </a:r>
            <a:r>
              <a:rPr lang="en-US" sz="1300" b="1" i="0">
                <a:solidFill>
                  <a:srgbClr val="000000"/>
                </a:solidFill>
                <a:latin typeface="Cambria"/>
              </a:rPr>
              <a:t>No retraining, no architecture change.</a:t>
            </a:r>
          </a:p>
          <a:p>
            <a:pPr algn="l" marL="201168" indent="-182880" latinLnBrk="0">
              <a:spcAft>
                <a:spcPts val="500"/>
              </a:spcAft>
              <a:buChar char="•"/>
            </a:pPr>
            <a:r>
              <a:rPr lang="en-US" sz="1300" b="0" i="0">
                <a:solidFill>
                  <a:srgbClr val="000000"/>
                </a:solidFill>
                <a:latin typeface="Cambria"/>
              </a:rPr>
              <a:t>Report error rates at equal review workload against the score-only rule as the standard baseline</a:t>
            </a:r>
          </a:p>
          <a:p>
            <a:pPr algn="l" marL="201168" indent="-182880" latinLnBrk="0">
              <a:spcAft>
                <a:spcPts val="500"/>
              </a:spcAft>
              <a:buChar char="•"/>
            </a:pPr>
            <a:r>
              <a:rPr lang="en-US" sz="1300" b="0" i="0">
                <a:solidFill>
                  <a:srgbClr val="000000"/>
                </a:solidFill>
                <a:latin typeface="Cambria"/>
              </a:rPr>
              <a:t>Evaluate the per-channel disagreement map with reviewers, or drop claim 11</a:t>
            </a:r>
          </a:p>
          <a:p>
            <a:pPr algn="l" marL="201168" indent="-182880" latinLnBrk="0">
              <a:spcAft>
                <a:spcPts val="500"/>
              </a:spcAft>
              <a:buChar char="•"/>
            </a:pPr>
            <a:r>
              <a:rPr lang="en-US" sz="1300" b="0" i="0">
                <a:solidFill>
                  <a:srgbClr val="000000"/>
                </a:solidFill>
                <a:latin typeface="Cambria"/>
              </a:rPr>
              <a:t>Add a voice-conversion / splicing test set to support the attack-type claim</a:t>
            </a:r>
          </a:p>
          <a:p>
            <a:pPr algn="l" marL="201168" indent="-182880" latinLnBrk="0">
              <a:spcAft>
                <a:spcPts val="500"/>
              </a:spcAft>
              <a:buChar char="•"/>
            </a:pPr>
            <a:r>
              <a:rPr lang="en-US" sz="1300" b="0" i="0">
                <a:solidFill>
                  <a:srgbClr val="000000"/>
                </a:solidFill>
                <a:latin typeface="Cambria"/>
              </a:rPr>
              <a:t>Formal prior-art search, especially selective classification combined with OOD detection for anti-spoofing</a:t>
            </a:r>
          </a:p>
          <a:p>
            <a:pPr algn="l" latinLnBrk="0">
              <a:spcAft>
                <a:spcPts val="500"/>
              </a:spcAft>
            </a:pPr>
            <a:r>
              <a:rPr lang="en-US" sz="1400" b="1" i="0">
                <a:solidFill>
                  <a:srgbClr val="000000"/>
                </a:solidFill>
                <a:latin typeface="Cambria"/>
              </a:rPr>
              <a:t>Bottom line for the patent team</a:t>
            </a:r>
          </a:p>
          <a:p>
            <a:pPr algn="l" latinLnBrk="0">
              <a:spcAft>
                <a:spcPts val="500"/>
              </a:spcAft>
            </a:pPr>
            <a:r>
              <a:rPr lang="en-US" sz="1300" b="0" i="0">
                <a:solidFill>
                  <a:srgbClr val="000000"/>
                </a:solidFill>
                <a:latin typeface="Cambria"/>
              </a:rPr>
              <a:t>The integrated system is built and works; </a:t>
            </a:r>
            <a:r>
              <a:rPr lang="en-US" sz="1300" b="0" i="0">
                <a:solidFill>
                  <a:srgbClr val="C00000"/>
                </a:solidFill>
                <a:latin typeface="Cambria"/>
              </a:rPr>
              <a:t>the inventive step currently rests on a modest measured effect</a:t>
            </a:r>
            <a:r>
              <a:rPr lang="en-US" sz="1300" b="0" i="0">
                <a:solidFill>
                  <a:srgbClr val="000000"/>
                </a:solidFill>
                <a:latin typeface="Cambria"/>
              </a:rPr>
              <a:t>. Filing is defensible as a combination claim, but the experiments above should come first if time allows.</a:t>
            </a:r>
          </a:p>
        </p:txBody>
      </p:sp>
    </p:spTree>
  </p:cSld>
  <p:clrMapOvr>
    <a:masterClrMapping/>
  </p:clrMapOvr>
</p:sld>
</file>

<file path=ppt/slides/slide9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292814" y="2103178"/>
            <a:ext cx="11519877" cy="797169"/>
          </a:xfrm>
          <a:prstGeom prst="rect">
            <a:avLst/>
          </a:prstGeom>
        </p:spPr>
        <p:txBody>
          <a:bodyPr/>
          <a:lstStyle/>
          <a:p>
            <a:pPr algn="l" eaLnBrk="1" hangingPunct="1"/>
            <a:r>
              <a:rPr lang="en-IN" altLang="ko-KR" sz="3200" dirty="0">
                <a:solidFill>
                  <a:schemeClr val="tx1"/>
                </a:solidFill>
                <a:latin typeface="Cambria" panose="02040503050406030204" pitchFamily="18" charset="0"/>
              </a:rPr>
              <a:t>DeepShield: A Multi-Head, Explainable Audio Deepfake Detection and Risk-Aware Trust Gateway System</a:t>
            </a:r>
            <a:endParaRPr lang="ko-KR" altLang="en-US" sz="3200" dirty="0">
              <a:solidFill>
                <a:schemeClr val="tx1"/>
              </a:solidFill>
              <a:latin typeface="Cambria" panose="02040503050406030204" pitchFamily="18" charset="0"/>
            </a:endParaRPr>
          </a:p>
        </p:txBody>
      </p:sp>
      <p:sp>
        <p:nvSpPr>
          <p:cNvPr id="6147" name="Rectangle 5"/>
          <p:cNvSpPr>
            <a:spLocks noChangeArrowheads="1"/>
          </p:cNvSpPr>
          <p:nvPr/>
        </p:nvSpPr>
        <p:spPr bwMode="auto">
          <a:xfrm>
            <a:off x="1828800" y="4365104"/>
            <a:ext cx="8534400" cy="2157046"/>
          </a:xfrm>
          <a:prstGeom prst="rect">
            <a:avLst/>
          </a:prstGeom>
          <a:noFill/>
          <a:ln w="9525">
            <a:noFill/>
            <a:miter lim="800000"/>
            <a:headEnd/>
            <a:tailEnd/>
          </a:ln>
        </p:spPr>
        <p:txBody>
          <a:bodyPr/>
          <a:lstStyle/>
          <a:p>
            <a:pPr marL="228606" indent="-228606">
              <a:spcBef>
                <a:spcPct val="20000"/>
              </a:spcBef>
              <a:buClr>
                <a:srgbClr val="FF9900"/>
              </a:buClr>
              <a:buSzPct val="80000"/>
            </a:pPr>
            <a:r>
              <a:rPr lang="en-US" altLang="ko-KR" sz="2000" dirty="0">
                <a:latin typeface="Cambria" panose="02040503050406030204" pitchFamily="18" charset="0"/>
                <a:ea typeface="Cambria" panose="02040503050406030204" pitchFamily="18" charset="0"/>
              </a:rPr>
              <a:t>Name of Inventor(s) </a:t>
            </a:r>
          </a:p>
          <a:p>
            <a:pPr marL="228606" indent="-228606">
              <a:spcBef>
                <a:spcPct val="20000"/>
              </a:spcBef>
              <a:buClr>
                <a:srgbClr val="FF9900"/>
              </a:buClr>
              <a:buSzPct val="80000"/>
            </a:pPr>
            <a:r>
              <a:rPr sz="2000">
                <a:latin typeface="Cambria"/>
              </a:rPr>
              <a:t>Laksh Baweja</a:t>
            </a:r>
            <a:endParaRPr lang="ko-KR" altLang="en-US" sz="2708" dirty="0">
              <a:latin typeface="Cambria" panose="02040503050406030204" pitchFamily="18" charset="0"/>
            </a:endParaRPr>
          </a:p>
          <a:p>
            <a:pPr marL="228606" indent="-228606">
              <a:spcBef>
                <a:spcPct val="20000"/>
              </a:spcBef>
              <a:buClr>
                <a:srgbClr val="FF9900"/>
              </a:buClr>
              <a:buSzPct val="80000"/>
            </a:pPr>
            <a:r>
              <a:rPr sz="2000">
                <a:latin typeface="Cambria"/>
              </a:rPr>
              <a:t>Hamsini Goel</a:t>
            </a:r>
          </a:p>
          <a:p>
            <a:pPr marL="228606" indent="-228606">
              <a:spcBef>
                <a:spcPct val="20000"/>
              </a:spcBef>
              <a:buClr>
                <a:srgbClr val="FF9900"/>
              </a:buClr>
              <a:buSzPct val="80000"/>
            </a:pPr>
            <a:r>
              <a:rPr sz="2000">
                <a:latin typeface="Cambria"/>
              </a:rPr>
              <a:t>Mohith</a:t>
            </a:r>
          </a:p>
          <a:p>
            <a:pPr marL="228606" indent="-228606">
              <a:spcBef>
                <a:spcPct val="20000"/>
              </a:spcBef>
              <a:buClr>
                <a:srgbClr val="FF9900"/>
              </a:buClr>
              <a:buSzPct val="80000"/>
            </a:pPr>
            <a:r>
              <a:rPr sz="2000">
                <a:latin typeface="Cambria"/>
              </a:rPr>
              <a:t>Dinesh Kumar</a:t>
            </a:r>
          </a:p>
        </p:txBody>
      </p:sp>
    </p:spTree>
  </p:cSld>
  <p:clrMapOvr>
    <a:masterClrMapping/>
  </p:clrMapOvr>
</p:sld>
</file>

<file path=ppt/slides/slide9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E033B962-FAC8-46D2-A129-898ACA75B2D0}"/>
              </a:ext>
            </a:extLst>
          </p:cNvPr>
          <p:cNvGraphicFramePr>
            <a:graphicFrameLocks noGrp="1"/>
          </p:cNvGraphicFramePr>
          <p:nvPr>
            <p:extLst>
              <p:ext uri="{D42A27DB-BD31-4B8C-83A1-F6EECF244321}">
                <p14:modId xmlns:p14="http://schemas.microsoft.com/office/powerpoint/2010/main" val="3804127781"/>
              </p:ext>
            </p:extLst>
          </p:nvPr>
        </p:nvGraphicFramePr>
        <p:xfrm>
          <a:off x="407368" y="719666"/>
          <a:ext cx="11377264" cy="2966720"/>
        </p:xfrm>
        <a:graphic>
          <a:graphicData uri="http://schemas.openxmlformats.org/drawingml/2006/table">
            <a:tbl>
              <a:tblPr firstRow="1" bandRow="1">
                <a:tableStyleId>{5C22544A-7EE6-4342-B048-85BDC9FD1C3A}</a:tableStyleId>
              </a:tblPr>
              <a:tblGrid>
                <a:gridCol w="1656184">
                  <a:extLst>
                    <a:ext uri="{9D8B030D-6E8A-4147-A177-3AD203B41FA5}">
                      <a16:colId xmlns:a16="http://schemas.microsoft.com/office/drawing/2014/main" val="4216631956"/>
                    </a:ext>
                  </a:extLst>
                </a:gridCol>
                <a:gridCol w="1728192">
                  <a:extLst>
                    <a:ext uri="{9D8B030D-6E8A-4147-A177-3AD203B41FA5}">
                      <a16:colId xmlns:a16="http://schemas.microsoft.com/office/drawing/2014/main" val="3896819769"/>
                    </a:ext>
                  </a:extLst>
                </a:gridCol>
                <a:gridCol w="2016224">
                  <a:extLst>
                    <a:ext uri="{9D8B030D-6E8A-4147-A177-3AD203B41FA5}">
                      <a16:colId xmlns:a16="http://schemas.microsoft.com/office/drawing/2014/main" val="1576352955"/>
                    </a:ext>
                  </a:extLst>
                </a:gridCol>
                <a:gridCol w="2160240">
                  <a:extLst>
                    <a:ext uri="{9D8B030D-6E8A-4147-A177-3AD203B41FA5}">
                      <a16:colId xmlns:a16="http://schemas.microsoft.com/office/drawing/2014/main" val="1445708547"/>
                    </a:ext>
                  </a:extLst>
                </a:gridCol>
                <a:gridCol w="3816424">
                  <a:extLst>
                    <a:ext uri="{9D8B030D-6E8A-4147-A177-3AD203B41FA5}">
                      <a16:colId xmlns:a16="http://schemas.microsoft.com/office/drawing/2014/main" val="451034467"/>
                    </a:ext>
                  </a:extLst>
                </a:gridCol>
              </a:tblGrid>
              <a:tr h="370840">
                <a:tc gridSpan="2">
                  <a:txBody>
                    <a:bodyPr/>
                    <a:lstStyle/>
                    <a:p>
                      <a:pPr algn="ctr"/>
                      <a:r>
                        <a:rPr lang="en-IN" sz="1200" dirty="0">
                          <a:solidFill>
                            <a:schemeClr val="tx1"/>
                          </a:solidFill>
                          <a:latin typeface="Cambria" panose="02040503050406030204" pitchFamily="18" charset="0"/>
                          <a:ea typeface="Cambria" panose="02040503050406030204" pitchFamily="18" charset="0"/>
                        </a:rPr>
                        <a:t>Inventor Name </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hMerge="1">
                  <a:txBody>
                    <a:bodyPr/>
                    <a:lstStyle/>
                    <a:p>
                      <a:endParaRPr lang="en-IN"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rowSpan="2">
                  <a:txBody>
                    <a:bodyPr/>
                    <a:lstStyle/>
                    <a:p>
                      <a:pPr algn="ctr"/>
                      <a:r>
                        <a:rPr lang="en-IN" sz="1200" dirty="0">
                          <a:solidFill>
                            <a:schemeClr val="tx1"/>
                          </a:solidFill>
                          <a:latin typeface="Cambria" panose="02040503050406030204" pitchFamily="18" charset="0"/>
                          <a:ea typeface="Cambria" panose="02040503050406030204" pitchFamily="18" charset="0"/>
                        </a:rPr>
                        <a:t>Email ID</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rowSpan="2">
                  <a:txBody>
                    <a:bodyPr/>
                    <a:lstStyle/>
                    <a:p>
                      <a:pPr algn="ctr"/>
                      <a:r>
                        <a:rPr lang="en-IN" sz="1200" dirty="0">
                          <a:solidFill>
                            <a:schemeClr val="tx1"/>
                          </a:solidFill>
                          <a:latin typeface="Cambria" panose="02040503050406030204" pitchFamily="18" charset="0"/>
                          <a:ea typeface="Cambria" panose="02040503050406030204" pitchFamily="18" charset="0"/>
                        </a:rPr>
                        <a:t>Mobile Number</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rowSpan="2">
                  <a:txBody>
                    <a:bodyPr/>
                    <a:lstStyle/>
                    <a:p>
                      <a:pPr algn="ctr"/>
                      <a:r>
                        <a:rPr lang="en-IN" sz="1200" dirty="0">
                          <a:solidFill>
                            <a:schemeClr val="tx1"/>
                          </a:solidFill>
                          <a:latin typeface="Cambria" panose="02040503050406030204" pitchFamily="18" charset="0"/>
                          <a:ea typeface="Cambria" panose="02040503050406030204" pitchFamily="18" charset="0"/>
                        </a:rPr>
                        <a:t>College Address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854033"/>
                  </a:ext>
                </a:extLst>
              </a:tr>
              <a:tr h="370840">
                <a:tc>
                  <a:txBody>
                    <a:bodyPr/>
                    <a:lstStyle/>
                    <a:p>
                      <a:r>
                        <a:rPr lang="en-IN" sz="1200" dirty="0">
                          <a:solidFill>
                            <a:schemeClr val="tx1"/>
                          </a:solidFill>
                          <a:latin typeface="Cambria" panose="02040503050406030204" pitchFamily="18" charset="0"/>
                          <a:ea typeface="Cambria" panose="02040503050406030204" pitchFamily="18" charset="0"/>
                        </a:rPr>
                        <a:t>First Name</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IN" sz="1200" dirty="0">
                          <a:solidFill>
                            <a:schemeClr val="tx1"/>
                          </a:solidFill>
                          <a:latin typeface="Cambria" panose="02040503050406030204" pitchFamily="18" charset="0"/>
                          <a:ea typeface="Cambria" panose="02040503050406030204" pitchFamily="18" charset="0"/>
                        </a:rPr>
                        <a:t>Second Name </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vMerge="1">
                  <a:txBody>
                    <a:bodyPr/>
                    <a:lstStyle/>
                    <a:p>
                      <a:endParaRPr lang="en-IN"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vMerge="1">
                  <a:txBody>
                    <a:bodyPr/>
                    <a:lstStyle/>
                    <a:p>
                      <a:endParaRPr lang="en-IN"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vMerge="1">
                  <a:txBody>
                    <a:bodyPr/>
                    <a:lstStyle/>
                    <a:p>
                      <a:endParaRPr lang="en-IN"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43178324"/>
                  </a:ext>
                </a:extLst>
              </a:tr>
              <a:tr h="370840">
                <a:tc>
                  <a:txBody>
                    <a:bodyPr/>
                    <a:lstStyle/>
                    <a:p>
                      <a:r>
                        <a:rPr lang="en-US" sz="1200" dirty="0">
                          <a:solidFill>
                            <a:schemeClr val="tx1"/>
                          </a:solidFill>
                          <a:latin typeface="Cambria" panose="02040503050406030204" pitchFamily="18" charset="0"/>
                          <a:ea typeface="Cambria" panose="02040503050406030204" pitchFamily="18" charset="0"/>
                        </a:rPr>
                        <a:t>Laksh </a:t>
                      </a:r>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US" sz="1200" dirty="0">
                          <a:solidFill>
                            <a:schemeClr val="tx1"/>
                          </a:solidFill>
                          <a:latin typeface="Cambria" panose="02040503050406030204" pitchFamily="18" charset="0"/>
                          <a:ea typeface="Cambria" panose="02040503050406030204" pitchFamily="18" charset="0"/>
                        </a:rPr>
                        <a:t>Baweja</a:t>
                      </a:r>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IN" sz="1200" dirty="0">
                          <a:solidFill>
                            <a:schemeClr val="tx1"/>
                          </a:solidFill>
                          <a:latin typeface="Cambria" panose="02040503050406030204" pitchFamily="18" charset="0"/>
                          <a:ea typeface="Cambria" panose="02040503050406030204" pitchFamily="18" charset="0"/>
                        </a:rPr>
                        <a:t>lb4397@srmist.edu.in</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IN" sz="1200" dirty="0">
                          <a:solidFill>
                            <a:schemeClr val="tx1"/>
                          </a:solidFill>
                          <a:latin typeface="Cambria" panose="02040503050406030204" pitchFamily="18" charset="0"/>
                          <a:ea typeface="Cambria" panose="02040503050406030204" pitchFamily="18" charset="0"/>
                        </a:rPr>
                        <a:t>8700390109</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rowSpan="6">
                  <a:txBody>
                    <a:bodyPr/>
                    <a:lstStyle/>
                    <a:p>
                      <a:r>
                        <a:rPr lang="en-US" sz="1200" dirty="0">
                          <a:solidFill>
                            <a:schemeClr val="tx1"/>
                          </a:solidFill>
                          <a:latin typeface="Cambria" panose="02040503050406030204" pitchFamily="18" charset="0"/>
                          <a:ea typeface="Cambria" panose="02040503050406030204" pitchFamily="18" charset="0"/>
                        </a:rPr>
                        <a:t>SRM Institute of Science and Engineering, KTR</a:t>
                      </a:r>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422247117"/>
                  </a:ext>
                </a:extLst>
              </a:tr>
              <a:tr h="370840">
                <a:tc>
                  <a:txBody>
                    <a:bodyPr/>
                    <a:lstStyle/>
                    <a:p>
                      <a:r>
                        <a:rPr lang="en-US" sz="1200" dirty="0">
                          <a:solidFill>
                            <a:schemeClr val="tx1"/>
                          </a:solidFill>
                          <a:latin typeface="Cambria" panose="02040503050406030204" pitchFamily="18" charset="0"/>
                          <a:ea typeface="Cambria" panose="02040503050406030204" pitchFamily="18" charset="0"/>
                        </a:rPr>
                        <a:t>Hamsini</a:t>
                      </a:r>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US" sz="1200" dirty="0">
                          <a:solidFill>
                            <a:schemeClr val="tx1"/>
                          </a:solidFill>
                          <a:latin typeface="Cambria" panose="02040503050406030204" pitchFamily="18" charset="0"/>
                          <a:ea typeface="Cambria" panose="02040503050406030204" pitchFamily="18" charset="0"/>
                        </a:rPr>
                        <a:t>Goel</a:t>
                      </a:r>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US" sz="1200" dirty="0">
                          <a:solidFill>
                            <a:schemeClr val="tx1"/>
                          </a:solidFill>
                          <a:latin typeface="Cambria" panose="02040503050406030204" pitchFamily="18" charset="0"/>
                          <a:ea typeface="Cambria" panose="02040503050406030204" pitchFamily="18" charset="0"/>
                        </a:rPr>
                        <a:t>hg7964@srmist.edu.in</a:t>
                      </a:r>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US" sz="1200" dirty="0">
                          <a:solidFill>
                            <a:schemeClr val="tx1"/>
                          </a:solidFill>
                          <a:latin typeface="Cambria" panose="02040503050406030204" pitchFamily="18" charset="0"/>
                          <a:ea typeface="Cambria" panose="02040503050406030204" pitchFamily="18" charset="0"/>
                        </a:rPr>
                        <a:t>9599752976</a:t>
                      </a:r>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vMerge="1">
                  <a:txBody>
                    <a:bodyPr/>
                    <a:lstStyle/>
                    <a:p>
                      <a:endParaRPr lang="en-IN" sz="1200">
                        <a:solidFill>
                          <a:schemeClr val="tx1"/>
                        </a:solidFill>
                        <a:latin typeface="Cambria" panose="02040503050406030204" pitchFamily="18" charset="0"/>
                        <a:ea typeface="Cambria" panose="02040503050406030204" pitchFamily="18" charset="0"/>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70619628"/>
                  </a:ext>
                </a:extLst>
              </a:tr>
              <a:tr h="370840">
                <a:tc>
                  <a:txBody>
                    <a:bodyPr/>
                    <a:lstStyle/>
                    <a:p>
                      <a:r>
                        <a:rPr lang="en-US" sz="1200" dirty="0">
                          <a:solidFill>
                            <a:schemeClr val="tx1"/>
                          </a:solidFill>
                          <a:latin typeface="Cambria" panose="02040503050406030204" pitchFamily="18" charset="0"/>
                          <a:ea typeface="Cambria" panose="02040503050406030204" pitchFamily="18" charset="0"/>
                        </a:rPr>
                        <a:t>Mohith</a:t>
                      </a:r>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IN" sz="1200" dirty="0">
                          <a:solidFill>
                            <a:schemeClr val="tx1"/>
                          </a:solidFill>
                          <a:latin typeface="Cambria" panose="02040503050406030204" pitchFamily="18" charset="0"/>
                          <a:ea typeface="Cambria" panose="02040503050406030204" pitchFamily="18" charset="0"/>
                        </a:rPr>
                        <a:t>mb5231@srmist.edu.in</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IN" sz="1200" dirty="0">
                          <a:solidFill>
                            <a:schemeClr val="tx1"/>
                          </a:solidFill>
                          <a:latin typeface="Cambria" panose="02040503050406030204" pitchFamily="18" charset="0"/>
                          <a:ea typeface="Cambria" panose="02040503050406030204" pitchFamily="18" charset="0"/>
                        </a:rPr>
                        <a:t>8328293949</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vMerge="1">
                  <a:txBody>
                    <a:bodyPr/>
                    <a:lstStyle/>
                    <a:p>
                      <a:endParaRPr lang="en-IN" sz="12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96152153"/>
                  </a:ext>
                </a:extLst>
              </a:tr>
              <a:tr h="370840">
                <a:tc>
                  <a:txBody>
                    <a:bodyPr/>
                    <a:lstStyle/>
                    <a:p>
                      <a:r>
                        <a:rPr lang="en-US" sz="1200" dirty="0">
                          <a:solidFill>
                            <a:schemeClr val="tx1"/>
                          </a:solidFill>
                          <a:latin typeface="Cambria" panose="02040503050406030204" pitchFamily="18" charset="0"/>
                          <a:ea typeface="Cambria" panose="02040503050406030204" pitchFamily="18" charset="0"/>
                        </a:rPr>
                        <a:t>Dinesh</a:t>
                      </a:r>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US" sz="1200" dirty="0">
                          <a:solidFill>
                            <a:schemeClr val="tx1"/>
                          </a:solidFill>
                          <a:latin typeface="Cambria" panose="02040503050406030204" pitchFamily="18" charset="0"/>
                          <a:ea typeface="Cambria" panose="02040503050406030204" pitchFamily="18" charset="0"/>
                        </a:rPr>
                        <a:t>Kumar</a:t>
                      </a:r>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IN" sz="1200" dirty="0">
                          <a:solidFill>
                            <a:schemeClr val="tx1"/>
                          </a:solidFill>
                          <a:latin typeface="Cambria" panose="02040503050406030204" pitchFamily="18" charset="0"/>
                          <a:ea typeface="Cambria" panose="02040503050406030204" pitchFamily="18" charset="0"/>
                        </a:rPr>
                        <a:t>dk4672@srmist.edu.in </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r>
                        <a:rPr lang="en-IN" sz="1200" dirty="0">
                          <a:solidFill>
                            <a:schemeClr val="tx1"/>
                          </a:solidFill>
                          <a:latin typeface="Cambria" panose="02040503050406030204" pitchFamily="18" charset="0"/>
                          <a:ea typeface="Cambria" panose="02040503050406030204" pitchFamily="18" charset="0"/>
                        </a:rPr>
                        <a:t>6369181238</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vMerge="1">
                  <a:txBody>
                    <a:bodyPr/>
                    <a:lstStyle/>
                    <a:p>
                      <a:endParaRPr lang="en-IN" sz="12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65581811"/>
                  </a:ext>
                </a:extLst>
              </a:tr>
              <a:tr h="370840">
                <a:tc>
                  <a:txBody>
                    <a:bodyPr/>
                    <a:lstStyle/>
                    <a:p>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IN" sz="120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IN" sz="120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vMerge="1">
                  <a:txBody>
                    <a:bodyPr/>
                    <a:lstStyle/>
                    <a:p>
                      <a:endParaRPr lang="en-IN" sz="12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25352481"/>
                  </a:ext>
                </a:extLst>
              </a:tr>
              <a:tr h="370840">
                <a:tc>
                  <a:txBody>
                    <a:bodyPr/>
                    <a:lstStyle/>
                    <a:p>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IN" sz="120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IN" sz="120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lang="en-IN" sz="1200" dirty="0">
                        <a:solidFill>
                          <a:schemeClr val="tx1"/>
                        </a:solidFill>
                        <a:latin typeface="Cambria" panose="02040503050406030204" pitchFamily="18" charset="0"/>
                        <a:ea typeface="Cambria" panose="02040503050406030204" pitchFamily="18" charset="0"/>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vMerge="1">
                  <a:txBody>
                    <a:bodyPr/>
                    <a:lstStyle/>
                    <a:p>
                      <a:endParaRPr lang="en-IN" sz="1200" dirty="0">
                        <a:solidFill>
                          <a:schemeClr val="tx1"/>
                        </a:solidFill>
                        <a:latin typeface="Cambria" panose="02040503050406030204" pitchFamily="18" charset="0"/>
                        <a:ea typeface="Cambria" panose="02040503050406030204" pitchFamily="18" charset="0"/>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60072376"/>
                  </a:ext>
                </a:extLst>
              </a:tr>
            </a:tbl>
          </a:graphicData>
        </a:graphic>
      </p:graphicFrame>
    </p:spTree>
    <p:extLst>
      <p:ext uri="{BB962C8B-B14F-4D97-AF65-F5344CB8AC3E}">
        <p14:creationId xmlns:p14="http://schemas.microsoft.com/office/powerpoint/2010/main" val="1377209602"/>
      </p:ext>
    </p:extLst>
  </p:cSld>
  <p:clrMapOvr>
    <a:masterClrMapping/>
  </p:clrMapOvr>
</p:sld>
</file>

<file path=ppt/slides/slide9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제목 1"/>
          <p:cNvSpPr>
            <a:spLocks noGrp="1"/>
          </p:cNvSpPr>
          <p:nvPr>
            <p:ph type="title" idx="4294967295"/>
          </p:nvPr>
        </p:nvSpPr>
        <p:spPr>
          <a:xfrm>
            <a:off x="3359697" y="2852936"/>
            <a:ext cx="4248471" cy="797169"/>
          </a:xfrm>
          <a:prstGeom prst="rect">
            <a:avLst/>
          </a:prstGeom>
        </p:spPr>
        <p:txBody>
          <a:bodyPr/>
          <a:lstStyle/>
          <a:p>
            <a:r>
              <a:rPr lang="en-US" altLang="ko-KR" sz="4400" dirty="0">
                <a:solidFill>
                  <a:schemeClr val="tx1"/>
                </a:solidFill>
                <a:latin typeface="Cambria" panose="02040503050406030204" pitchFamily="18" charset="0"/>
                <a:ea typeface="Cambria" panose="02040503050406030204" pitchFamily="18" charset="0"/>
              </a:rPr>
              <a:t>THANK YOU</a:t>
            </a:r>
            <a:endParaRPr lang="ko-KR" altLang="en-US" sz="4400" dirty="0">
              <a:solidFill>
                <a:schemeClr val="tx1"/>
              </a:solidFill>
              <a:latin typeface="Cambria" panose="02040503050406030204" pitchFamily="18" charset="0"/>
            </a:endParaRPr>
          </a:p>
        </p:txBody>
      </p:sp>
    </p:spTree>
    <p:extLst>
      <p:ext uri="{BB962C8B-B14F-4D97-AF65-F5344CB8AC3E}">
        <p14:creationId xmlns:p14="http://schemas.microsoft.com/office/powerpoint/2010/main" val="2456836922"/>
      </p:ext>
    </p:extLst>
  </p:cSld>
  <p:clrMapOvr>
    <a:masterClrMapping/>
  </p:clrMapOvr>
</p:sld>
</file>

<file path=ppt/theme/theme1.xml><?xml version="1.0" encoding="utf-8"?>
<a:theme xmlns:a="http://schemas.openxmlformats.org/drawingml/2006/main" name="1_Master Slide Rev1.0">
  <a:themeElements>
    <a:clrScheme name="1_Master Slide Rev1.0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Master Slide Rev1.0">
      <a:majorFont>
        <a:latin typeface="Arial"/>
        <a:ea typeface="굴림"/>
        <a:cs typeface=""/>
      </a:majorFont>
      <a:minorFont>
        <a:latin typeface="Arial"/>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1" hangingPunct="1">
          <a:lnSpc>
            <a:spcPct val="100000"/>
          </a:lnSpc>
          <a:spcBef>
            <a:spcPct val="0"/>
          </a:spcBef>
          <a:spcAft>
            <a:spcPct val="0"/>
          </a:spcAft>
          <a:buClrTx/>
          <a:buSzTx/>
          <a:buFontTx/>
          <a:buNone/>
          <a:tabLst/>
          <a:defRPr kumimoji="1" lang="ko-KR" altLang="en-US" sz="1800" b="0" i="0" u="none" strike="noStrike" cap="none" normalizeH="0" baseline="0" smtClean="0">
            <a:ln>
              <a:noFill/>
            </a:ln>
            <a:solidFill>
              <a:schemeClr val="tx1"/>
            </a:solidFill>
            <a:effectLst/>
            <a:latin typeface="굴림" pitchFamily="50" charset="-127"/>
            <a:ea typeface="굴림" pitchFamily="50" charset="-127"/>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1" hangingPunct="1">
          <a:lnSpc>
            <a:spcPct val="100000"/>
          </a:lnSpc>
          <a:spcBef>
            <a:spcPct val="0"/>
          </a:spcBef>
          <a:spcAft>
            <a:spcPct val="0"/>
          </a:spcAft>
          <a:buClrTx/>
          <a:buSzTx/>
          <a:buFontTx/>
          <a:buNone/>
          <a:tabLst/>
          <a:defRPr kumimoji="1" lang="ko-KR" altLang="en-US" sz="1800" b="0" i="0" u="none" strike="noStrike" cap="none" normalizeH="0" baseline="0" smtClean="0">
            <a:ln>
              <a:noFill/>
            </a:ln>
            <a:solidFill>
              <a:schemeClr val="tx1"/>
            </a:solidFill>
            <a:effectLst/>
            <a:latin typeface="굴림" pitchFamily="50" charset="-127"/>
            <a:ea typeface="굴림" pitchFamily="50" charset="-127"/>
          </a:defRPr>
        </a:defPPr>
      </a:lstStyle>
    </a:lnDef>
  </a:objectDefaults>
  <a:extraClrSchemeLst>
    <a:extraClrScheme>
      <a:clrScheme name="1_Master Slide Rev1.0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Master Slide Rev1.0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Master Slide Rev1.0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Master Slide Rev1.0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Master Slide Rev1.0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Master Slide Rev1.0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Master Slide Rev1.0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Master Slide Rev1.0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Master Slide Rev1.0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Master Slide Rev1.0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Master Slide Rev1.0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Master Slide Rev1.0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디자인 사용자 지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테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Master Slide Rev2.0(Internal)</Template>
  <TotalTime>57625</TotalTime>
  <Words>2204</Words>
  <Application>Microsoft Office PowerPoint</Application>
  <PresentationFormat>Widescreen</PresentationFormat>
  <Paragraphs>231</Paragraphs>
  <Slides>22</Slides>
  <Notes>21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22</vt:i4>
      </vt:variant>
    </vt:vector>
  </HeadingPairs>
  <TitlesOfParts>
    <vt:vector size="32" baseType="lpstr">
      <vt:lpstr>Gulim</vt:lpstr>
      <vt:lpstr>Malgun Gothic</vt:lpstr>
      <vt:lpstr>Arial</vt:lpstr>
      <vt:lpstr>Calibri</vt:lpstr>
      <vt:lpstr>Cambria</vt:lpstr>
      <vt:lpstr>Segoe UI</vt:lpstr>
      <vt:lpstr>SinMyungJo Symbol</vt:lpstr>
      <vt:lpstr>Wingdings</vt:lpstr>
      <vt:lpstr>1_Master Slide Rev1.0</vt:lpstr>
      <vt:lpstr>디자인 사용자 지정</vt:lpstr>
      <vt:lpstr>TITLE of Invention..</vt:lpstr>
      <vt:lpstr>PowerPoint Presentation</vt:lpstr>
      <vt:lpstr>PowerPoint Presentation</vt:lpstr>
      <vt:lpstr>Recommendation Summary</vt:lpstr>
      <vt:lpstr>Opportunity Review: Significance</vt:lpstr>
      <vt:lpstr>Opportunity Review: Current Solution</vt:lpstr>
      <vt:lpstr>Opportunity Review: Current Solution</vt:lpstr>
      <vt:lpstr>Opportunity Review: Proposed</vt:lpstr>
      <vt:lpstr>Opportunity Review: Why the new engine works?</vt:lpstr>
      <vt:lpstr>Recommendation</vt:lpstr>
      <vt:lpstr>Independent Claims </vt:lpstr>
      <vt:lpstr>Dependent Claims </vt:lpstr>
      <vt:lpstr>Main Patentable Points</vt:lpstr>
      <vt:lpstr>Prior Arts Comparision</vt:lpstr>
      <vt:lpstr>Difference from Closest Prior Art</vt:lpstr>
      <vt:lpstr>System Architecture  &amp; Module Description</vt:lpstr>
      <vt:lpstr>6. Systems and Methods … </vt:lpstr>
      <vt:lpstr>PowerPoint Presentation</vt:lpstr>
      <vt:lpstr>6. Each Module Description &amp; Novelty Block Explanation</vt:lpstr>
      <vt:lpstr>PowerPoint Presentation</vt:lpstr>
      <vt:lpstr>Sample Results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DeepShield IP Pre-DOI v1.0</dc:title>
  <dc:creator>sundar</dc:creator>
  <cp:lastModifiedBy>Hamsini Goel</cp:lastModifiedBy>
  <cp:revision>1351</cp:revision>
  <dcterms:created xsi:type="dcterms:W3CDTF">2003-11-18T02:54:31Z</dcterms:created>
  <dcterms:modified xsi:type="dcterms:W3CDTF">2026-10-06T11:42:20Z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